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257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eg.jpg"/>
          <p:cNvPicPr>
            <a:picLocks noChangeAspect="1"/>
          </p:cNvPicPr>
          <p:nvPr/>
        </p:nvPicPr>
        <p:blipFill>
          <a:blip r:embed="rId3"/>
          <a:srcRect/>
          <a:stretch/>
        </p:blipFill>
        <p:spPr>
          <a:xfrm rot="5400000">
            <a:off x="3017799" y="-3017800"/>
            <a:ext cx="6156401" cy="12192000"/>
          </a:xfrm>
          <a:prstGeom prst="rect">
            <a:avLst/>
          </a:prstGeom>
        </p:spPr>
      </p:pic>
      <p:sp>
        <p:nvSpPr>
          <p:cNvPr id="3" name="Shape 0"/>
          <p:cNvSpPr/>
          <p:nvPr/>
        </p:nvSpPr>
        <p:spPr>
          <a:xfrm>
            <a:off x="0" y="4609578"/>
            <a:ext cx="12192000" cy="2357278"/>
          </a:xfrm>
          <a:prstGeom prst="rect">
            <a:avLst/>
          </a:prstGeom>
          <a:solidFill>
            <a:srgbClr val="161616"/>
          </a:solidFill>
          <a:ln w="12700">
            <a:solidFill>
              <a:srgbClr val="09111E"/>
            </a:solidFill>
            <a:prstDash val="solid"/>
          </a:ln>
        </p:spPr>
      </p:sp>
      <p:sp>
        <p:nvSpPr>
          <p:cNvPr id="4" name="Text 1"/>
          <p:cNvSpPr/>
          <p:nvPr/>
        </p:nvSpPr>
        <p:spPr>
          <a:xfrm>
            <a:off x="0" y="4609578"/>
            <a:ext cx="12192000" cy="2357278"/>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930466" y="5184885"/>
            <a:ext cx="6077403" cy="1409700"/>
          </a:xfrm>
          <a:prstGeom prst="rect">
            <a:avLst/>
          </a:prstGeom>
          <a:noFill/>
          <a:ln/>
        </p:spPr>
        <p:txBody>
          <a:bodyPr wrap="square" lIns="91440" tIns="45720" rIns="91440" bIns="45720" rtlCol="0" anchor="t">
            <a:spAutoFit/>
          </a:bodyPr>
          <a:lstStyle/>
          <a:p>
            <a:pP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HTML Crash Course – 1 Day</a:t>
            </a:r>
            <a:endParaRPr lang="en-US" sz="1600" dirty="0"/>
          </a:p>
        </p:txBody>
      </p:sp>
      <p:sp>
        <p:nvSpPr>
          <p:cNvPr id="6" name="Text 3"/>
          <p:cNvSpPr/>
          <p:nvPr/>
        </p:nvSpPr>
        <p:spPr>
          <a:xfrm>
            <a:off x="7959231" y="5662019"/>
            <a:ext cx="2254685"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7" name="Text 4"/>
          <p:cNvSpPr/>
          <p:nvPr/>
        </p:nvSpPr>
        <p:spPr>
          <a:xfrm>
            <a:off x="7983268" y="6038379"/>
            <a:ext cx="4208732"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pic>
        <p:nvPicPr>
          <p:cNvPr id="8" name="Image 1" descr="https://kimi-img.moonshot.cn/pub/slides/slides_tmpl/image/25-08-27-20:09:02-d2nfanh8bjvh7rlj0hvg.png"/>
          <p:cNvPicPr>
            <a:picLocks noChangeAspect="1"/>
          </p:cNvPicPr>
          <p:nvPr/>
        </p:nvPicPr>
        <p:blipFill>
          <a:blip r:embed="rId4"/>
          <a:stretch>
            <a:fillRect/>
          </a:stretch>
        </p:blipFill>
        <p:spPr>
          <a:xfrm>
            <a:off x="10528741" y="5110209"/>
            <a:ext cx="1323439" cy="1323439"/>
          </a:xfrm>
          <a:prstGeom prst="rect">
            <a:avLst/>
          </a:prstGeom>
        </p:spPr>
      </p:pic>
      <p:pic>
        <p:nvPicPr>
          <p:cNvPr id="9" name="Image 2" descr="https://kimi-img.moonshot.cn/pub/slides/slides_tmpl/image/25-08-27-20:09:02-d2nfanh8bjvh7rlj0hu0.png"/>
          <p:cNvPicPr>
            <a:picLocks noChangeAspect="1"/>
          </p:cNvPicPr>
          <p:nvPr/>
        </p:nvPicPr>
        <p:blipFill>
          <a:blip r:embed="rId5"/>
          <a:stretch>
            <a:fillRect/>
          </a:stretch>
        </p:blipFill>
        <p:spPr>
          <a:xfrm>
            <a:off x="411387" y="5136798"/>
            <a:ext cx="463139" cy="463139"/>
          </a:xfrm>
          <a:prstGeom prst="rect">
            <a:avLst/>
          </a:prstGeom>
        </p:spPr>
      </p:pic>
      <p:pic>
        <p:nvPicPr>
          <p:cNvPr id="10" name="Image 3" descr="https://kimi-img.moonshot.cn/pub/slides/slides_tmpl/image/25-08-27-20:09:02-d2nfanh8bjvh7rlj0hug.png"/>
          <p:cNvPicPr>
            <a:picLocks noChangeAspect="1"/>
          </p:cNvPicPr>
          <p:nvPr/>
        </p:nvPicPr>
        <p:blipFill>
          <a:blip r:embed="rId6"/>
          <a:stretch>
            <a:fillRect/>
          </a:stretch>
        </p:blipFill>
        <p:spPr>
          <a:xfrm>
            <a:off x="47770" y="3069032"/>
            <a:ext cx="2420888" cy="2420888"/>
          </a:xfrm>
          <a:prstGeom prst="rect">
            <a:avLst/>
          </a:prstGeom>
        </p:spPr>
      </p:pic>
      <p:pic>
        <p:nvPicPr>
          <p:cNvPr id="11" name="Image 4" descr="https://kimi-img.moonshot.cn/pub/slides/slides_tmpl/image/25-08-27-20:09:02-d2nfanh8bjvh7rlj0hv0.png"/>
          <p:cNvPicPr>
            <a:picLocks noChangeAspect="1"/>
          </p:cNvPicPr>
          <p:nvPr/>
        </p:nvPicPr>
        <p:blipFill>
          <a:blip r:embed="rId7"/>
          <a:stretch>
            <a:fillRect/>
          </a:stretch>
        </p:blipFill>
        <p:spPr>
          <a:xfrm>
            <a:off x="8040216" y="5231637"/>
            <a:ext cx="635000" cy="3683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01764" y="0"/>
            <a:ext cx="2916401" cy="6858000"/>
          </a:xfrm>
          <a:custGeom>
            <a:avLst/>
            <a:gdLst/>
            <a:ahLst/>
            <a:cxnLst/>
            <a:rect l="l" t="t" r="r" b="b"/>
            <a:pathLst>
              <a:path w="2916401" h="6858000">
                <a:moveTo>
                  <a:pt x="0" y="0"/>
                </a:moveTo>
                <a:lnTo>
                  <a:pt x="1310838" y="0"/>
                </a:lnTo>
                <a:lnTo>
                  <a:pt x="1453357" y="123454"/>
                </a:lnTo>
                <a:cubicBezTo>
                  <a:pt x="2352136" y="940343"/>
                  <a:pt x="2916401" y="2118776"/>
                  <a:pt x="2916401" y="3429000"/>
                </a:cubicBezTo>
                <a:cubicBezTo>
                  <a:pt x="2916401" y="4739224"/>
                  <a:pt x="2352136" y="5917657"/>
                  <a:pt x="1453357" y="6734546"/>
                </a:cubicBezTo>
                <a:lnTo>
                  <a:pt x="1310838" y="6858000"/>
                </a:lnTo>
                <a:lnTo>
                  <a:pt x="220806" y="6858000"/>
                </a:lnTo>
                <a:lnTo>
                  <a:pt x="224168" y="6856279"/>
                </a:lnTo>
                <a:cubicBezTo>
                  <a:pt x="1419763" y="6206792"/>
                  <a:pt x="2231395" y="4940069"/>
                  <a:pt x="2231395" y="3483779"/>
                </a:cubicBezTo>
                <a:cubicBezTo>
                  <a:pt x="2231395" y="1961294"/>
                  <a:pt x="1344301" y="646001"/>
                  <a:pt x="58792" y="26579"/>
                </a:cubicBezTo>
                <a:close/>
              </a:path>
            </a:pathLst>
          </a:custGeom>
          <a:solidFill>
            <a:srgbClr val="F3F3F7"/>
          </a:solidFill>
          <a:ln/>
        </p:spPr>
      </p:sp>
      <p:sp>
        <p:nvSpPr>
          <p:cNvPr id="3" name="Text 1"/>
          <p:cNvSpPr/>
          <p:nvPr/>
        </p:nvSpPr>
        <p:spPr>
          <a:xfrm>
            <a:off x="2101764" y="0"/>
            <a:ext cx="2916401"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958283" y="4784098"/>
            <a:ext cx="231418" cy="231418"/>
          </a:xfrm>
          <a:prstGeom prst="rect">
            <a:avLst/>
          </a:prstGeom>
          <a:solidFill>
            <a:srgbClr val="D2F9E9"/>
          </a:solidFill>
          <a:ln/>
        </p:spPr>
      </p:sp>
      <p:sp>
        <p:nvSpPr>
          <p:cNvPr id="5" name="Text 3"/>
          <p:cNvSpPr/>
          <p:nvPr/>
        </p:nvSpPr>
        <p:spPr>
          <a:xfrm>
            <a:off x="958283" y="478409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958283" y="3070930"/>
            <a:ext cx="231418" cy="231418"/>
          </a:xfrm>
          <a:prstGeom prst="rect">
            <a:avLst/>
          </a:prstGeom>
          <a:solidFill>
            <a:srgbClr val="8FABDB"/>
          </a:solidFill>
          <a:ln/>
        </p:spPr>
      </p:sp>
      <p:sp>
        <p:nvSpPr>
          <p:cNvPr id="7" name="Text 5"/>
          <p:cNvSpPr/>
          <p:nvPr/>
        </p:nvSpPr>
        <p:spPr>
          <a:xfrm>
            <a:off x="958283" y="3070930"/>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58283" y="3508088"/>
            <a:ext cx="231418" cy="231418"/>
          </a:xfrm>
          <a:prstGeom prst="rect">
            <a:avLst/>
          </a:prstGeom>
          <a:solidFill>
            <a:srgbClr val="B3C5E6"/>
          </a:solidFill>
          <a:ln/>
        </p:spPr>
      </p:sp>
      <p:sp>
        <p:nvSpPr>
          <p:cNvPr id="9" name="Text 7"/>
          <p:cNvSpPr/>
          <p:nvPr/>
        </p:nvSpPr>
        <p:spPr>
          <a:xfrm>
            <a:off x="958283" y="35080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958283" y="3736938"/>
            <a:ext cx="231418" cy="231418"/>
          </a:xfrm>
          <a:prstGeom prst="rect">
            <a:avLst/>
          </a:prstGeom>
          <a:solidFill>
            <a:srgbClr val="B2D0E3"/>
          </a:solidFill>
          <a:ln/>
        </p:spPr>
      </p:sp>
      <p:sp>
        <p:nvSpPr>
          <p:cNvPr id="11" name="Text 9"/>
          <p:cNvSpPr/>
          <p:nvPr/>
        </p:nvSpPr>
        <p:spPr>
          <a:xfrm>
            <a:off x="958283" y="373693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958283" y="3944784"/>
            <a:ext cx="231418" cy="231418"/>
          </a:xfrm>
          <a:prstGeom prst="rect">
            <a:avLst/>
          </a:prstGeom>
          <a:solidFill>
            <a:srgbClr val="B7DBE3"/>
          </a:solidFill>
          <a:ln/>
        </p:spPr>
      </p:sp>
      <p:sp>
        <p:nvSpPr>
          <p:cNvPr id="13" name="Text 11"/>
          <p:cNvSpPr/>
          <p:nvPr/>
        </p:nvSpPr>
        <p:spPr>
          <a:xfrm>
            <a:off x="958283" y="39447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958283" y="4173384"/>
            <a:ext cx="231418" cy="231418"/>
          </a:xfrm>
          <a:prstGeom prst="rect">
            <a:avLst/>
          </a:prstGeom>
          <a:solidFill>
            <a:srgbClr val="BAE3E1"/>
          </a:solidFill>
          <a:ln/>
        </p:spPr>
      </p:sp>
      <p:sp>
        <p:nvSpPr>
          <p:cNvPr id="15" name="Text 13"/>
          <p:cNvSpPr/>
          <p:nvPr/>
        </p:nvSpPr>
        <p:spPr>
          <a:xfrm>
            <a:off x="958283" y="41733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958283" y="4372618"/>
            <a:ext cx="231418" cy="231418"/>
          </a:xfrm>
          <a:prstGeom prst="rect">
            <a:avLst/>
          </a:prstGeom>
          <a:solidFill>
            <a:srgbClr val="BEEDE1"/>
          </a:solidFill>
          <a:ln/>
        </p:spPr>
      </p:sp>
      <p:sp>
        <p:nvSpPr>
          <p:cNvPr id="17" name="Text 15"/>
          <p:cNvSpPr/>
          <p:nvPr/>
        </p:nvSpPr>
        <p:spPr>
          <a:xfrm>
            <a:off x="958283" y="43726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958283" y="4589788"/>
            <a:ext cx="231418" cy="231418"/>
          </a:xfrm>
          <a:prstGeom prst="rect">
            <a:avLst/>
          </a:prstGeom>
          <a:solidFill>
            <a:srgbClr val="C9F7E4"/>
          </a:solidFill>
          <a:ln/>
        </p:spPr>
      </p:sp>
      <p:sp>
        <p:nvSpPr>
          <p:cNvPr id="19" name="Text 17"/>
          <p:cNvSpPr/>
          <p:nvPr/>
        </p:nvSpPr>
        <p:spPr>
          <a:xfrm>
            <a:off x="958283" y="45897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958283" y="5001268"/>
            <a:ext cx="231418" cy="231418"/>
          </a:xfrm>
          <a:prstGeom prst="rect">
            <a:avLst/>
          </a:prstGeom>
          <a:solidFill>
            <a:srgbClr val="DEFAEF"/>
          </a:solidFill>
          <a:ln/>
        </p:spPr>
      </p:sp>
      <p:sp>
        <p:nvSpPr>
          <p:cNvPr id="21" name="Text 19"/>
          <p:cNvSpPr/>
          <p:nvPr/>
        </p:nvSpPr>
        <p:spPr>
          <a:xfrm>
            <a:off x="958283" y="500126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958283" y="5195578"/>
            <a:ext cx="231418" cy="231418"/>
          </a:xfrm>
          <a:prstGeom prst="rect">
            <a:avLst/>
          </a:prstGeom>
          <a:solidFill>
            <a:srgbClr val="E2FAF1"/>
          </a:solidFill>
          <a:ln/>
        </p:spPr>
      </p:sp>
      <p:sp>
        <p:nvSpPr>
          <p:cNvPr id="23" name="Text 21"/>
          <p:cNvSpPr/>
          <p:nvPr/>
        </p:nvSpPr>
        <p:spPr>
          <a:xfrm>
            <a:off x="958283" y="51955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958283" y="5424178"/>
            <a:ext cx="231418" cy="231418"/>
          </a:xfrm>
          <a:prstGeom prst="rect">
            <a:avLst/>
          </a:prstGeom>
          <a:solidFill>
            <a:srgbClr val="EBFDF5"/>
          </a:solidFill>
          <a:ln/>
        </p:spPr>
      </p:sp>
      <p:sp>
        <p:nvSpPr>
          <p:cNvPr id="25" name="Text 23"/>
          <p:cNvSpPr/>
          <p:nvPr/>
        </p:nvSpPr>
        <p:spPr>
          <a:xfrm>
            <a:off x="958283" y="54241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4"/>
          <p:cNvSpPr/>
          <p:nvPr/>
        </p:nvSpPr>
        <p:spPr>
          <a:xfrm>
            <a:off x="958283" y="5641348"/>
            <a:ext cx="231418" cy="231418"/>
          </a:xfrm>
          <a:prstGeom prst="rect">
            <a:avLst/>
          </a:prstGeom>
          <a:solidFill>
            <a:srgbClr val="F1FEF8"/>
          </a:solidFill>
          <a:ln/>
        </p:spPr>
      </p:sp>
      <p:sp>
        <p:nvSpPr>
          <p:cNvPr id="27" name="Text 25"/>
          <p:cNvSpPr/>
          <p:nvPr/>
        </p:nvSpPr>
        <p:spPr>
          <a:xfrm>
            <a:off x="958283" y="564134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8" name="Shape 26"/>
          <p:cNvSpPr/>
          <p:nvPr/>
        </p:nvSpPr>
        <p:spPr>
          <a:xfrm>
            <a:off x="958283" y="5858518"/>
            <a:ext cx="231418" cy="231418"/>
          </a:xfrm>
          <a:prstGeom prst="rect">
            <a:avLst/>
          </a:prstGeom>
          <a:solidFill>
            <a:srgbClr val="F7FFFB"/>
          </a:solidFill>
          <a:ln/>
        </p:spPr>
      </p:sp>
      <p:sp>
        <p:nvSpPr>
          <p:cNvPr id="29" name="Text 27"/>
          <p:cNvSpPr/>
          <p:nvPr/>
        </p:nvSpPr>
        <p:spPr>
          <a:xfrm>
            <a:off x="958283" y="58585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p:cNvSpPr/>
          <p:nvPr/>
        </p:nvSpPr>
        <p:spPr>
          <a:xfrm>
            <a:off x="958283" y="3299530"/>
            <a:ext cx="231418" cy="231418"/>
          </a:xfrm>
          <a:prstGeom prst="rect">
            <a:avLst/>
          </a:prstGeom>
          <a:solidFill>
            <a:srgbClr val="9DB4E0"/>
          </a:solidFill>
          <a:ln/>
        </p:spPr>
      </p:sp>
      <p:sp>
        <p:nvSpPr>
          <p:cNvPr id="31" name="Text 29"/>
          <p:cNvSpPr/>
          <p:nvPr/>
        </p:nvSpPr>
        <p:spPr>
          <a:xfrm>
            <a:off x="958283" y="3299530"/>
            <a:ext cx="231418" cy="231418"/>
          </a:xfrm>
          <a:prstGeom prst="rect">
            <a:avLst/>
          </a:prstGeom>
          <a:noFill/>
          <a:ln/>
        </p:spPr>
        <p:txBody>
          <a:bodyPr wrap="square" lIns="45720" tIns="91440" rIns="91440" bIns="45720" rtlCol="0" anchor="ctr"/>
          <a:lstStyle/>
          <a:p>
            <a:pPr>
              <a:lnSpc>
                <a:spcPct val="100000"/>
              </a:lnSpc>
            </a:pPr>
            <a:endParaRPr lang="en-US" sz="1600" dirty="0"/>
          </a:p>
        </p:txBody>
      </p:sp>
      <p:pic>
        <p:nvPicPr>
          <p:cNvPr id="32" name="Image 0" descr="https://kimi-img.moonshot.cn/pub/slides/slides_tmpl/image/25-08-27-20:09:03-d2nfanp8bjvh7rlj0i1g.png"/>
          <p:cNvPicPr>
            <a:picLocks noChangeAspect="1"/>
          </p:cNvPicPr>
          <p:nvPr/>
        </p:nvPicPr>
        <p:blipFill>
          <a:blip r:embed="rId3"/>
          <a:stretch>
            <a:fillRect/>
          </a:stretch>
        </p:blipFill>
        <p:spPr>
          <a:xfrm>
            <a:off x="5047547" y="904096"/>
            <a:ext cx="6311900" cy="5511800"/>
          </a:xfrm>
          <a:prstGeom prst="rect">
            <a:avLst/>
          </a:prstGeom>
        </p:spPr>
      </p:pic>
      <p:pic>
        <p:nvPicPr>
          <p:cNvPr id="33" name="Image 1" descr="https://kimi-img.moonshot.cn/pub/slides/slides_tmpl/image/25-08-27-20:09:03-d2nfanp8bjvh7rlj0i00.png"/>
          <p:cNvPicPr>
            <a:picLocks noChangeAspect="1"/>
          </p:cNvPicPr>
          <p:nvPr/>
        </p:nvPicPr>
        <p:blipFill>
          <a:blip r:embed="rId4"/>
          <a:srcRect b="95767"/>
          <a:stretch/>
        </p:blipFill>
        <p:spPr>
          <a:xfrm>
            <a:off x="263525" y="741045"/>
            <a:ext cx="3962400" cy="95696"/>
          </a:xfrm>
          <a:prstGeom prst="rect">
            <a:avLst/>
          </a:prstGeom>
        </p:spPr>
      </p:pic>
      <p:sp>
        <p:nvSpPr>
          <p:cNvPr id="34" name="Text 30"/>
          <p:cNvSpPr/>
          <p:nvPr/>
        </p:nvSpPr>
        <p:spPr>
          <a:xfrm>
            <a:off x="1055370" y="1233805"/>
            <a:ext cx="4064000" cy="829945"/>
          </a:xfrm>
          <a:prstGeom prst="rect">
            <a:avLst/>
          </a:prstGeom>
          <a:noFill/>
          <a:ln/>
        </p:spPr>
        <p:txBody>
          <a:bodyPr wrap="square" lIns="91440" tIns="45720" rIns="91440" bIns="45720" rtlCol="0" anchor="t">
            <a:spAutoFit/>
          </a:bodyPr>
          <a:lstStyle/>
          <a:p>
            <a:pPr>
              <a:lnSpc>
                <a:spcPct val="100000"/>
              </a:lnSpc>
            </a:pPr>
            <a:r>
              <a:rPr lang="en-US" sz="4800" b="1" dirty="0">
                <a:solidFill>
                  <a:srgbClr val="000000"/>
                </a:solidFill>
                <a:latin typeface="Source Han Sans SC" pitchFamily="34" charset="0"/>
                <a:ea typeface="Source Han Sans SC" pitchFamily="34" charset="-122"/>
                <a:cs typeface="Source Han Sans SC" pitchFamily="34" charset="-120"/>
              </a:rPr>
              <a:t>CONTENTS</a:t>
            </a:r>
            <a:endParaRPr lang="en-US" sz="1600" dirty="0"/>
          </a:p>
        </p:txBody>
      </p:sp>
      <p:sp>
        <p:nvSpPr>
          <p:cNvPr id="35" name="Text 31"/>
          <p:cNvSpPr/>
          <p:nvPr/>
        </p:nvSpPr>
        <p:spPr>
          <a:xfrm>
            <a:off x="5693789" y="2809287"/>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Quick Start</a:t>
            </a:r>
            <a:endParaRPr lang="en-US" sz="1600" dirty="0"/>
          </a:p>
        </p:txBody>
      </p:sp>
      <p:sp>
        <p:nvSpPr>
          <p:cNvPr id="36" name="Text 32"/>
          <p:cNvSpPr/>
          <p:nvPr/>
        </p:nvSpPr>
        <p:spPr>
          <a:xfrm>
            <a:off x="9017954" y="2809287"/>
            <a:ext cx="2910694" cy="584775"/>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Core Tags</a:t>
            </a:r>
            <a:endParaRPr lang="en-US" sz="1600" dirty="0"/>
          </a:p>
        </p:txBody>
      </p:sp>
      <p:sp>
        <p:nvSpPr>
          <p:cNvPr id="37" name="Text 33"/>
          <p:cNvSpPr/>
          <p:nvPr/>
        </p:nvSpPr>
        <p:spPr>
          <a:xfrm>
            <a:off x="5693789" y="5752134"/>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Structured Data</a:t>
            </a:r>
            <a:endParaRPr lang="en-US" sz="1600" dirty="0"/>
          </a:p>
        </p:txBody>
      </p:sp>
      <p:sp>
        <p:nvSpPr>
          <p:cNvPr id="38" name="Text 34"/>
          <p:cNvSpPr/>
          <p:nvPr/>
        </p:nvSpPr>
        <p:spPr>
          <a:xfrm>
            <a:off x="9008488" y="5752134"/>
            <a:ext cx="2910694" cy="615553"/>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Practice &amp; Resources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Quick Start</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1-d2nfapp8bjvh7rlj0ik0.jpg"/>
          <p:cNvPicPr>
            <a:picLocks noChangeAspect="1"/>
          </p:cNvPicPr>
          <p:nvPr/>
        </p:nvPicPr>
        <p:blipFill>
          <a:blip r:embed="rId3"/>
          <a:stretch>
            <a:fillRect/>
          </a:stretch>
        </p:blipFill>
        <p:spPr>
          <a:xfrm>
            <a:off x="320668" y="3158118"/>
            <a:ext cx="7772400" cy="3184438"/>
          </a:xfrm>
          <a:prstGeom prst="rect">
            <a:avLst/>
          </a:prstGeom>
        </p:spPr>
      </p:pic>
      <p:sp>
        <p:nvSpPr>
          <p:cNvPr id="3" name="Text 0"/>
          <p:cNvSpPr/>
          <p:nvPr/>
        </p:nvSpPr>
        <p:spPr>
          <a:xfrm>
            <a:off x="587375" y="548640"/>
            <a:ext cx="7248525" cy="92202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Source Han Sans SC Bold" pitchFamily="34" charset="0"/>
                <a:ea typeface="Source Han Sans SC Bold" pitchFamily="34" charset="-122"/>
                <a:cs typeface="Source Han Sans SC Bold" pitchFamily="34" charset="-120"/>
              </a:rPr>
              <a:t>HTML Crash Course – 1 Day</a:t>
            </a:r>
            <a:endParaRPr lang="en-US" sz="1600" dirty="0"/>
          </a:p>
        </p:txBody>
      </p:sp>
      <p:sp>
        <p:nvSpPr>
          <p:cNvPr id="4" name="Text 1"/>
          <p:cNvSpPr/>
          <p:nvPr/>
        </p:nvSpPr>
        <p:spPr>
          <a:xfrm>
            <a:off x="587195" y="2276872"/>
            <a:ext cx="6588925" cy="400110"/>
          </a:xfrm>
          <a:prstGeom prst="rect">
            <a:avLst/>
          </a:prstGeom>
          <a:noFill/>
          <a:ln/>
        </p:spPr>
        <p:txBody>
          <a:bodyPr wrap="square" lIns="91440" tIns="45720" rIns="91440" bIns="45720" rtlCol="0" anchor="b">
            <a:spAutoFit/>
          </a:bodyPr>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Course Overview</a:t>
            </a:r>
            <a:endParaRPr lang="en-US" sz="1600" dirty="0"/>
          </a:p>
        </p:txBody>
      </p:sp>
      <p:sp>
        <p:nvSpPr>
          <p:cNvPr id="5" name="Text 2"/>
          <p:cNvSpPr/>
          <p:nvPr/>
        </p:nvSpPr>
        <p:spPr>
          <a:xfrm>
            <a:off x="587375" y="2681605"/>
            <a:ext cx="542798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Welcome to the HTML Crash Course! In just one day, you'll learn the essentials of HTML and build your first webpage. This course is designed for beginners with no prior coding experience.</a:t>
            </a:r>
            <a:endParaRPr lang="en-US" sz="1600" dirty="0"/>
          </a:p>
        </p:txBody>
      </p:sp>
      <p:sp>
        <p:nvSpPr>
          <p:cNvPr id="6" name="Text 3"/>
          <p:cNvSpPr/>
          <p:nvPr/>
        </p:nvSpPr>
        <p:spPr>
          <a:xfrm>
            <a:off x="8305165" y="842010"/>
            <a:ext cx="3493135" cy="377190"/>
          </a:xfrm>
          <a:prstGeom prst="rect">
            <a:avLst/>
          </a:prstGeom>
          <a:noFill/>
          <a:ln/>
        </p:spPr>
        <p:txBody>
          <a:bodyPr wrap="square" lIns="91440" tIns="45720" rIns="91440" bIns="45720" rtlCol="0" anchor="b"/>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Learning Goals</a:t>
            </a:r>
            <a:endParaRPr lang="en-US" sz="1600" dirty="0"/>
          </a:p>
        </p:txBody>
      </p:sp>
      <p:sp>
        <p:nvSpPr>
          <p:cNvPr id="7" name="Text 4"/>
          <p:cNvSpPr/>
          <p:nvPr/>
        </p:nvSpPr>
        <p:spPr>
          <a:xfrm>
            <a:off x="8305387" y="1246654"/>
            <a:ext cx="3430797"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By the end of this course, you will be able to create a basic webpage structure, add text and images, and understand the importance of semantic HTML. Let's dive in!</a:t>
            </a:r>
            <a:endParaRPr lang="en-US" sz="1600" dirty="0"/>
          </a:p>
        </p:txBody>
      </p:sp>
      <p:sp>
        <p:nvSpPr>
          <p:cNvPr id="8" name="Text 5"/>
          <p:cNvSpPr/>
          <p:nvPr/>
        </p:nvSpPr>
        <p:spPr>
          <a:xfrm>
            <a:off x="8328025" y="3933190"/>
            <a:ext cx="3500755" cy="286385"/>
          </a:xfrm>
          <a:prstGeom prst="rect">
            <a:avLst/>
          </a:prstGeom>
          <a:noFill/>
          <a:ln/>
        </p:spPr>
        <p:txBody>
          <a:bodyPr wrap="square" lIns="91440" tIns="45720" rIns="91440" bIns="45720" rtlCol="0" anchor="b"/>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Your Instructor</a:t>
            </a:r>
            <a:endParaRPr lang="en-US" sz="1600" dirty="0"/>
          </a:p>
        </p:txBody>
      </p:sp>
      <p:sp>
        <p:nvSpPr>
          <p:cNvPr id="9" name="Text 6"/>
          <p:cNvSpPr/>
          <p:nvPr/>
        </p:nvSpPr>
        <p:spPr>
          <a:xfrm>
            <a:off x="8305387" y="4365154"/>
            <a:ext cx="3430797"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I'm [Your Name], your instructor for today. I have years of experience in web development and am excited to guide you through this crash course. Let's get started!</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79000">
                <a:srgbClr val="7095BC"/>
              </a:gs>
              <a:gs pos="96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592455" y="964565"/>
            <a:ext cx="8507730" cy="583565"/>
          </a:xfrm>
          <a:prstGeom prst="rect">
            <a:avLst/>
          </a:prstGeom>
          <a:noFill/>
          <a:ln/>
        </p:spPr>
        <p:txBody>
          <a:bodyPr wrap="square" lIns="91440" tIns="45720" rIns="91440" bIns="45720" rtlCol="0" anchor="t">
            <a:spAutoFit/>
          </a:bodyPr>
          <a:lstStyle/>
          <a:p>
            <a:pPr>
              <a:lnSpc>
                <a:spcPct val="100000"/>
              </a:lnSpc>
            </a:pPr>
            <a:r>
              <a:rPr lang="en-US" sz="3200" b="1" dirty="0">
                <a:solidFill>
                  <a:srgbClr val="FFFFFF"/>
                </a:solidFill>
                <a:latin typeface="Source Han Sans SC" pitchFamily="34" charset="0"/>
                <a:ea typeface="Source Han Sans SC" pitchFamily="34" charset="-122"/>
                <a:cs typeface="Source Han Sans SC" pitchFamily="34" charset="-120"/>
              </a:rPr>
              <a:t>What is HTML?</a:t>
            </a:r>
            <a:endParaRPr lang="en-US" sz="1600" dirty="0"/>
          </a:p>
        </p:txBody>
      </p:sp>
      <p:pic>
        <p:nvPicPr>
          <p:cNvPr id="5" name="Image 0" descr="https://kimi-img.moonshot.cn/pub/slides/slides_tmpl/image/25-08-27-20:09:13-d2nfaq98bjvh7rlj0itg.png"/>
          <p:cNvPicPr>
            <a:picLocks noChangeAspect="1"/>
          </p:cNvPicPr>
          <p:nvPr/>
        </p:nvPicPr>
        <p:blipFill>
          <a:blip r:embed="rId3"/>
          <a:stretch>
            <a:fillRect/>
          </a:stretch>
        </p:blipFill>
        <p:spPr>
          <a:xfrm>
            <a:off x="-6920" y="2115819"/>
            <a:ext cx="6348430" cy="4814878"/>
          </a:xfrm>
          <a:prstGeom prst="rect">
            <a:avLst/>
          </a:prstGeom>
        </p:spPr>
      </p:pic>
      <p:sp>
        <p:nvSpPr>
          <p:cNvPr id="6" name="Text 3"/>
          <p:cNvSpPr/>
          <p:nvPr/>
        </p:nvSpPr>
        <p:spPr>
          <a:xfrm>
            <a:off x="5963285" y="174942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Definition</a:t>
            </a:r>
            <a:endParaRPr lang="en-US" sz="1600" dirty="0"/>
          </a:p>
        </p:txBody>
      </p:sp>
      <p:sp>
        <p:nvSpPr>
          <p:cNvPr id="7" name="Text 4"/>
          <p:cNvSpPr/>
          <p:nvPr/>
        </p:nvSpPr>
        <p:spPr>
          <a:xfrm>
            <a:off x="5979160" y="220281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HTML stands for HyperText Markup Language. It is the standard language used to create the structure and content of webpages. Every website you visit is built using HTML.</a:t>
            </a:r>
            <a:endParaRPr lang="en-US" sz="1600" dirty="0"/>
          </a:p>
        </p:txBody>
      </p:sp>
      <p:sp>
        <p:nvSpPr>
          <p:cNvPr id="8" name="Text 5"/>
          <p:cNvSpPr/>
          <p:nvPr/>
        </p:nvSpPr>
        <p:spPr>
          <a:xfrm>
            <a:off x="5963285" y="4090035"/>
            <a:ext cx="5843905"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Role in Web Development</a:t>
            </a:r>
            <a:endParaRPr lang="en-US" sz="1600" dirty="0"/>
          </a:p>
        </p:txBody>
      </p:sp>
      <p:sp>
        <p:nvSpPr>
          <p:cNvPr id="9" name="Text 6"/>
          <p:cNvSpPr/>
          <p:nvPr/>
        </p:nvSpPr>
        <p:spPr>
          <a:xfrm>
            <a:off x="5979160" y="4543425"/>
            <a:ext cx="5843905"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Normal" pitchFamily="34" charset="0"/>
                <a:ea typeface="Source Han Sans SC Normal" pitchFamily="34" charset="-122"/>
                <a:cs typeface="Source Han Sans SC Normal" pitchFamily="34" charset="-120"/>
              </a:rPr>
              <a:t>HTML works hand-in-hand with CSS for styling and JavaScript for interactivity. Together, these technologies form the foundation of modern web development.</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7-d2nfar98bjvh7rlj0iug.jpg"/>
          <p:cNvPicPr>
            <a:picLocks noChangeAspect="1"/>
          </p:cNvPicPr>
          <p:nvPr/>
        </p:nvPicPr>
        <p:blipFill>
          <a:blip r:embed="rId3">
            <a:alphaModFix amt="52000"/>
          </a:blip>
          <a:srcRect/>
          <a:stretch/>
        </p:blipFill>
        <p:spPr>
          <a:xfrm flipH="1">
            <a:off x="0" y="0"/>
            <a:ext cx="12192000" cy="6858001"/>
          </a:xfrm>
          <a:prstGeom prst="rect">
            <a:avLst/>
          </a:prstGeom>
        </p:spPr>
      </p:pic>
      <p:sp>
        <p:nvSpPr>
          <p:cNvPr id="3" name="Shape 0"/>
          <p:cNvSpPr/>
          <p:nvPr/>
        </p:nvSpPr>
        <p:spPr>
          <a:xfrm>
            <a:off x="-24680" y="3733171"/>
            <a:ext cx="12232332" cy="2837808"/>
          </a:xfrm>
          <a:prstGeom prst="rect">
            <a:avLst/>
          </a:prstGeom>
          <a:solidFill>
            <a:srgbClr val="404040">
              <a:alpha val="80000"/>
            </a:srgbClr>
          </a:solidFill>
          <a:ln/>
        </p:spPr>
      </p:sp>
      <p:sp>
        <p:nvSpPr>
          <p:cNvPr id="4" name="Text 1"/>
          <p:cNvSpPr/>
          <p:nvPr/>
        </p:nvSpPr>
        <p:spPr>
          <a:xfrm>
            <a:off x="-24680" y="3733171"/>
            <a:ext cx="12232332" cy="2837808"/>
          </a:xfrm>
          <a:prstGeom prst="rect">
            <a:avLst/>
          </a:prstGeom>
          <a:noFill/>
          <a:ln/>
        </p:spPr>
        <p:txBody>
          <a:bodyPr wrap="square" lIns="45720" tIns="91440" rIns="91440" bIns="45720" rtlCol="0" anchor="ctr"/>
          <a:lstStyle/>
          <a:p>
            <a:pPr>
              <a:lnSpc>
                <a:spcPct val="100000"/>
              </a:lnSpc>
            </a:pPr>
            <a:endParaRPr lang="en-US" sz="1600" dirty="0"/>
          </a:p>
        </p:txBody>
      </p:sp>
      <p:sp>
        <p:nvSpPr>
          <p:cNvPr id="5" name="Shape 2"/>
          <p:cNvSpPr/>
          <p:nvPr/>
        </p:nvSpPr>
        <p:spPr>
          <a:xfrm>
            <a:off x="675293" y="1486555"/>
            <a:ext cx="236131" cy="236144"/>
          </a:xfrm>
          <a:prstGeom prst="ellipse">
            <a:avLst/>
          </a:prstGeom>
          <a:solidFill>
            <a:srgbClr val="000000">
              <a:alpha val="0"/>
            </a:srgbClr>
          </a:solidFill>
          <a:ln w="76200">
            <a:solidFill>
              <a:srgbClr val="B5C7E7"/>
            </a:solidFill>
            <a:prstDash val="solid"/>
          </a:ln>
        </p:spPr>
      </p:sp>
      <p:sp>
        <p:nvSpPr>
          <p:cNvPr id="6" name="Text 3"/>
          <p:cNvSpPr/>
          <p:nvPr/>
        </p:nvSpPr>
        <p:spPr>
          <a:xfrm>
            <a:off x="675293" y="1486555"/>
            <a:ext cx="236131" cy="236144"/>
          </a:xfrm>
          <a:prstGeom prst="rect">
            <a:avLst/>
          </a:prstGeom>
          <a:noFill/>
          <a:ln/>
        </p:spPr>
        <p:txBody>
          <a:bodyPr wrap="square" lIns="0" tIns="0" rIns="0" bIns="0" rtlCol="0" anchor="ctr"/>
          <a:lstStyle/>
          <a:p>
            <a:pPr>
              <a:lnSpc>
                <a:spcPct val="100000"/>
              </a:lnSpc>
            </a:pPr>
            <a:endParaRPr lang="en-US" sz="1600" dirty="0"/>
          </a:p>
        </p:txBody>
      </p:sp>
      <p:sp>
        <p:nvSpPr>
          <p:cNvPr id="7" name="Text 4"/>
          <p:cNvSpPr/>
          <p:nvPr/>
        </p:nvSpPr>
        <p:spPr>
          <a:xfrm>
            <a:off x="662305" y="485140"/>
            <a:ext cx="10487025" cy="885825"/>
          </a:xfrm>
          <a:prstGeom prst="rect">
            <a:avLst/>
          </a:prstGeom>
          <a:noFill/>
          <a:ln/>
        </p:spPr>
        <p:txBody>
          <a:bodyPr wrap="square" lIns="91440" tIns="45720" rIns="91440" bIns="45720" rtlCol="0" anchor="t"/>
          <a:lstStyle/>
          <a:p>
            <a:pPr>
              <a:lnSpc>
                <a:spcPct val="100000"/>
              </a:lnSpc>
            </a:pPr>
            <a:r>
              <a:rPr lang="en-US" sz="3600" dirty="0">
                <a:solidFill>
                  <a:srgbClr val="000000"/>
                </a:solidFill>
                <a:latin typeface="Source Han Sans SC Medium" pitchFamily="34" charset="0"/>
                <a:ea typeface="Source Han Sans SC Medium" pitchFamily="34" charset="-122"/>
                <a:cs typeface="Source Han Sans SC Medium" pitchFamily="34" charset="-120"/>
              </a:rPr>
              <a:t>Setting Up Your Workspace</a:t>
            </a:r>
            <a:endParaRPr lang="en-US" sz="1600" dirty="0"/>
          </a:p>
        </p:txBody>
      </p:sp>
      <p:sp>
        <p:nvSpPr>
          <p:cNvPr id="8" name="Shape 5"/>
          <p:cNvSpPr/>
          <p:nvPr/>
        </p:nvSpPr>
        <p:spPr>
          <a:xfrm>
            <a:off x="0" y="1270532"/>
            <a:ext cx="12232331" cy="2247372"/>
          </a:xfrm>
          <a:prstGeom prst="rect">
            <a:avLst/>
          </a:prstGeom>
          <a:solidFill>
            <a:srgbClr val="FFFFFF">
              <a:alpha val="47843"/>
            </a:srgbClr>
          </a:solidFill>
          <a:ln/>
        </p:spPr>
      </p:sp>
      <p:sp>
        <p:nvSpPr>
          <p:cNvPr id="9" name="Text 6"/>
          <p:cNvSpPr/>
          <p:nvPr/>
        </p:nvSpPr>
        <p:spPr>
          <a:xfrm>
            <a:off x="0" y="1270532"/>
            <a:ext cx="12232331" cy="2247372"/>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6651957" y="1486555"/>
            <a:ext cx="236131" cy="236144"/>
          </a:xfrm>
          <a:prstGeom prst="ellipse">
            <a:avLst/>
          </a:prstGeom>
          <a:solidFill>
            <a:srgbClr val="000000">
              <a:alpha val="0"/>
            </a:srgbClr>
          </a:solidFill>
          <a:ln w="76200">
            <a:solidFill>
              <a:srgbClr val="B5C7E7"/>
            </a:solidFill>
            <a:prstDash val="solid"/>
          </a:ln>
        </p:spPr>
      </p:sp>
      <p:sp>
        <p:nvSpPr>
          <p:cNvPr id="11" name="Text 8"/>
          <p:cNvSpPr/>
          <p:nvPr/>
        </p:nvSpPr>
        <p:spPr>
          <a:xfrm>
            <a:off x="6651957" y="1486555"/>
            <a:ext cx="236131" cy="236144"/>
          </a:xfrm>
          <a:prstGeom prst="rect">
            <a:avLst/>
          </a:prstGeom>
          <a:noFill/>
          <a:ln/>
        </p:spPr>
        <p:txBody>
          <a:bodyPr wrap="square" lIns="0" tIns="0" rIns="0" bIns="0" rtlCol="0" anchor="ctr"/>
          <a:lstStyle/>
          <a:p>
            <a:pPr>
              <a:lnSpc>
                <a:spcPct val="100000"/>
              </a:lnSpc>
            </a:pPr>
            <a:endParaRPr lang="en-US" sz="1600" dirty="0"/>
          </a:p>
        </p:txBody>
      </p:sp>
      <p:pic>
        <p:nvPicPr>
          <p:cNvPr id="12" name="Image 1" descr="https://kimi-img.moonshot.cn/pub/slides/slides_tmpl/image/25-08-27-20:09:12-d2nfaq18bjvh7rlj0irg.png"/>
          <p:cNvPicPr>
            <a:picLocks noChangeAspect="1"/>
          </p:cNvPicPr>
          <p:nvPr/>
        </p:nvPicPr>
        <p:blipFill>
          <a:blip r:embed="rId4"/>
          <a:stretch>
            <a:fillRect/>
          </a:stretch>
        </p:blipFill>
        <p:spPr>
          <a:xfrm>
            <a:off x="473210" y="1386524"/>
            <a:ext cx="6985000" cy="3302000"/>
          </a:xfrm>
          <a:prstGeom prst="rect">
            <a:avLst/>
          </a:prstGeom>
        </p:spPr>
      </p:pic>
      <p:sp>
        <p:nvSpPr>
          <p:cNvPr id="13" name="Shape 9"/>
          <p:cNvSpPr/>
          <p:nvPr/>
        </p:nvSpPr>
        <p:spPr>
          <a:xfrm>
            <a:off x="767409" y="3725815"/>
            <a:ext cx="360039" cy="63731"/>
          </a:xfrm>
          <a:prstGeom prst="rect">
            <a:avLst/>
          </a:prstGeom>
          <a:solidFill>
            <a:srgbClr val="000000"/>
          </a:solidFill>
          <a:ln/>
        </p:spPr>
      </p:sp>
      <p:sp>
        <p:nvSpPr>
          <p:cNvPr id="14" name="Text 10"/>
          <p:cNvSpPr/>
          <p:nvPr/>
        </p:nvSpPr>
        <p:spPr>
          <a:xfrm>
            <a:off x="767409" y="3725815"/>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1"/>
          <p:cNvSpPr/>
          <p:nvPr/>
        </p:nvSpPr>
        <p:spPr>
          <a:xfrm>
            <a:off x="767409" y="5807035"/>
            <a:ext cx="360039" cy="63731"/>
          </a:xfrm>
          <a:prstGeom prst="rect">
            <a:avLst/>
          </a:prstGeom>
          <a:solidFill>
            <a:srgbClr val="C2F5E0"/>
          </a:solidFill>
          <a:ln/>
        </p:spPr>
      </p:sp>
      <p:sp>
        <p:nvSpPr>
          <p:cNvPr id="16" name="Text 12"/>
          <p:cNvSpPr/>
          <p:nvPr/>
        </p:nvSpPr>
        <p:spPr>
          <a:xfrm>
            <a:off x="767409" y="5807035"/>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3"/>
          <p:cNvSpPr/>
          <p:nvPr/>
        </p:nvSpPr>
        <p:spPr>
          <a:xfrm>
            <a:off x="6789973" y="5807035"/>
            <a:ext cx="360039" cy="63731"/>
          </a:xfrm>
          <a:prstGeom prst="rect">
            <a:avLst/>
          </a:prstGeom>
          <a:solidFill>
            <a:srgbClr val="C2F5E0"/>
          </a:solidFill>
          <a:ln/>
        </p:spPr>
      </p:sp>
      <p:sp>
        <p:nvSpPr>
          <p:cNvPr id="18" name="Text 14"/>
          <p:cNvSpPr/>
          <p:nvPr/>
        </p:nvSpPr>
        <p:spPr>
          <a:xfrm>
            <a:off x="6789973" y="5807035"/>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5"/>
          <p:cNvSpPr/>
          <p:nvPr/>
        </p:nvSpPr>
        <p:spPr>
          <a:xfrm>
            <a:off x="6776915" y="3725815"/>
            <a:ext cx="360039" cy="63731"/>
          </a:xfrm>
          <a:prstGeom prst="rect">
            <a:avLst/>
          </a:prstGeom>
          <a:solidFill>
            <a:srgbClr val="000000"/>
          </a:solidFill>
          <a:ln/>
        </p:spPr>
      </p:sp>
      <p:sp>
        <p:nvSpPr>
          <p:cNvPr id="20" name="Text 16"/>
          <p:cNvSpPr/>
          <p:nvPr/>
        </p:nvSpPr>
        <p:spPr>
          <a:xfrm>
            <a:off x="6776915" y="3725815"/>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21" name="Text 17"/>
          <p:cNvSpPr/>
          <p:nvPr/>
        </p:nvSpPr>
        <p:spPr>
          <a:xfrm>
            <a:off x="647700" y="1935480"/>
            <a:ext cx="548386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Code Editor</a:t>
            </a:r>
            <a:endParaRPr lang="en-US" sz="1600" dirty="0"/>
          </a:p>
        </p:txBody>
      </p:sp>
      <p:sp>
        <p:nvSpPr>
          <p:cNvPr id="22" name="Text 18"/>
          <p:cNvSpPr/>
          <p:nvPr/>
        </p:nvSpPr>
        <p:spPr>
          <a:xfrm>
            <a:off x="662169" y="2305820"/>
            <a:ext cx="5073791"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Normal" pitchFamily="34" charset="0"/>
                <a:ea typeface="Source Han Sans SC Normal" pitchFamily="34" charset="-122"/>
                <a:cs typeface="Source Han Sans SC Normal" pitchFamily="34" charset="-120"/>
              </a:rPr>
              <a:t>To get started, you'll need a code editor. Popular choices include VS Code, Sublime Text, and Atom. These tools help you write and manage your HTML code efficiently.</a:t>
            </a:r>
            <a:endParaRPr lang="en-US" sz="1600" dirty="0"/>
          </a:p>
        </p:txBody>
      </p:sp>
      <p:sp>
        <p:nvSpPr>
          <p:cNvPr id="23" name="Text 19"/>
          <p:cNvSpPr/>
          <p:nvPr/>
        </p:nvSpPr>
        <p:spPr>
          <a:xfrm>
            <a:off x="647700" y="4386580"/>
            <a:ext cx="546481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Creating Your First HTML File</a:t>
            </a:r>
            <a:endParaRPr lang="en-US" sz="1600" dirty="0"/>
          </a:p>
        </p:txBody>
      </p:sp>
      <p:sp>
        <p:nvSpPr>
          <p:cNvPr id="24" name="Text 20"/>
          <p:cNvSpPr/>
          <p:nvPr/>
        </p:nvSpPr>
        <p:spPr>
          <a:xfrm>
            <a:off x="662169" y="4756920"/>
            <a:ext cx="5073791"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Create a new file named index.html. This will be the main file for your webpage. Open it in your code editor to start coding.</a:t>
            </a:r>
            <a:endParaRPr lang="en-US" sz="1600" dirty="0"/>
          </a:p>
        </p:txBody>
      </p:sp>
      <p:sp>
        <p:nvSpPr>
          <p:cNvPr id="25" name="Text 21"/>
          <p:cNvSpPr/>
          <p:nvPr/>
        </p:nvSpPr>
        <p:spPr>
          <a:xfrm>
            <a:off x="6650355" y="1935480"/>
            <a:ext cx="5483860"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Basic HTML Structure</a:t>
            </a:r>
            <a:endParaRPr lang="en-US" sz="1600" dirty="0"/>
          </a:p>
        </p:txBody>
      </p:sp>
      <p:sp>
        <p:nvSpPr>
          <p:cNvPr id="26" name="Text 22"/>
          <p:cNvSpPr/>
          <p:nvPr/>
        </p:nvSpPr>
        <p:spPr>
          <a:xfrm>
            <a:off x="6665325" y="2305820"/>
            <a:ext cx="5073791"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Normal" pitchFamily="34" charset="0"/>
                <a:ea typeface="Source Han Sans SC Normal" pitchFamily="34" charset="-122"/>
                <a:cs typeface="Source Han Sans SC Normal" pitchFamily="34" charset="-120"/>
              </a:rPr>
              <a:t>Every HTML document starts with the &lt;!DOCTYPE html&gt; declaration. This is followed by the &lt;html&gt; element, which contains the &lt;head&gt; and &lt;body&gt; sections.</a:t>
            </a:r>
            <a:endParaRPr lang="en-US" sz="1600" dirty="0"/>
          </a:p>
        </p:txBody>
      </p:sp>
      <p:sp>
        <p:nvSpPr>
          <p:cNvPr id="27" name="Text 23"/>
          <p:cNvSpPr/>
          <p:nvPr/>
        </p:nvSpPr>
        <p:spPr>
          <a:xfrm>
            <a:off x="6670040" y="4386580"/>
            <a:ext cx="5464810"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Title and Body</a:t>
            </a:r>
            <a:endParaRPr lang="en-US" sz="1600" dirty="0"/>
          </a:p>
        </p:txBody>
      </p:sp>
      <p:sp>
        <p:nvSpPr>
          <p:cNvPr id="28" name="Text 24"/>
          <p:cNvSpPr/>
          <p:nvPr/>
        </p:nvSpPr>
        <p:spPr>
          <a:xfrm>
            <a:off x="6684733" y="4756920"/>
            <a:ext cx="5073791"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Inside the &lt;head&gt;, add a &lt;title&gt; tag to set the title of your webpage. The &lt;body&gt; section is where you'll add all the content that will be visible on the page.</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Core Tags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3185" y="-99695"/>
            <a:ext cx="12440920" cy="7056755"/>
          </a:xfrm>
          <a:prstGeom prst="rect">
            <a:avLst/>
          </a:prstGeom>
          <a:solidFill>
            <a:srgbClr val="161616"/>
          </a:solidFill>
          <a:ln/>
        </p:spPr>
      </p:sp>
      <p:sp>
        <p:nvSpPr>
          <p:cNvPr id="3" name="Text 1"/>
          <p:cNvSpPr/>
          <p:nvPr/>
        </p:nvSpPr>
        <p:spPr>
          <a:xfrm>
            <a:off x="-83185" y="-99695"/>
            <a:ext cx="12440920" cy="705675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2135505" y="546100"/>
            <a:ext cx="3051810" cy="3366770"/>
          </a:xfrm>
          <a:prstGeom prst="rect">
            <a:avLst/>
          </a:prstGeom>
          <a:solidFill>
            <a:srgbClr val="FFFFFF"/>
          </a:solidFill>
          <a:ln/>
        </p:spPr>
      </p:sp>
      <p:sp>
        <p:nvSpPr>
          <p:cNvPr id="5" name="Text 3"/>
          <p:cNvSpPr/>
          <p:nvPr/>
        </p:nvSpPr>
        <p:spPr>
          <a:xfrm>
            <a:off x="2135505" y="546100"/>
            <a:ext cx="3051810" cy="3366770"/>
          </a:xfrm>
          <a:prstGeom prst="rect">
            <a:avLst/>
          </a:prstGeom>
          <a:noFill/>
          <a:ln/>
        </p:spPr>
        <p:txBody>
          <a:bodyPr wrap="square" lIns="45720" tIns="91440" rIns="91440" bIns="45720" rtlCol="0" anchor="ctr"/>
          <a:lstStyle/>
          <a:p>
            <a:pPr>
              <a:lnSpc>
                <a:spcPct val="100000"/>
              </a:lnSpc>
            </a:pPr>
            <a:endParaRPr lang="en-US" sz="1600" dirty="0"/>
          </a:p>
        </p:txBody>
      </p:sp>
      <p:pic>
        <p:nvPicPr>
          <p:cNvPr id="6" name="Image 0" descr="https://kimi-img.moonshot.cn/pub/slides/slides_tmpl/image/25-08-27-20:09:11-d2nfapp8bjvh7rlj0ij0.jpg"/>
          <p:cNvPicPr>
            <a:picLocks noChangeAspect="1"/>
          </p:cNvPicPr>
          <p:nvPr/>
        </p:nvPicPr>
        <p:blipFill>
          <a:blip r:embed="rId3"/>
          <a:srcRect/>
          <a:stretch/>
        </p:blipFill>
        <p:spPr>
          <a:xfrm>
            <a:off x="-165752" y="832007"/>
            <a:ext cx="2254593" cy="2706833"/>
          </a:xfrm>
          <a:prstGeom prst="rect">
            <a:avLst/>
          </a:prstGeom>
        </p:spPr>
      </p:pic>
      <p:pic>
        <p:nvPicPr>
          <p:cNvPr id="7" name="Image 1" descr="https://kimi-img.moonshot.cn/pub/slides/slides_tmpl/image/25-08-27-20:09:11-d2nfapp8bjvh7rlj0ijg.jpg"/>
          <p:cNvPicPr>
            <a:picLocks noChangeAspect="1"/>
          </p:cNvPicPr>
          <p:nvPr/>
        </p:nvPicPr>
        <p:blipFill>
          <a:blip r:embed="rId4"/>
          <a:srcRect/>
          <a:stretch/>
        </p:blipFill>
        <p:spPr>
          <a:xfrm>
            <a:off x="5230462" y="832007"/>
            <a:ext cx="2254593" cy="2706833"/>
          </a:xfrm>
          <a:prstGeom prst="rect">
            <a:avLst/>
          </a:prstGeom>
        </p:spPr>
      </p:pic>
      <p:pic>
        <p:nvPicPr>
          <p:cNvPr id="8" name="Image 2" descr="https://kimi-img.moonshot.cn/pub/slides/slides_tmpl/image/25-08-27-20:09:11-d2nfapp8bjvh7rlj0ikg.jpg"/>
          <p:cNvPicPr>
            <a:picLocks noChangeAspect="1"/>
          </p:cNvPicPr>
          <p:nvPr/>
        </p:nvPicPr>
        <p:blipFill>
          <a:blip r:embed="rId5"/>
          <a:srcRect/>
          <a:stretch/>
        </p:blipFill>
        <p:spPr>
          <a:xfrm>
            <a:off x="7544745" y="832007"/>
            <a:ext cx="2254250" cy="2706834"/>
          </a:xfrm>
          <a:prstGeom prst="rect">
            <a:avLst/>
          </a:prstGeom>
        </p:spPr>
      </p:pic>
      <p:pic>
        <p:nvPicPr>
          <p:cNvPr id="9" name="Image 3" descr="https://kimi-img.moonshot.cn/pub/slides/slides_tmpl/image/25-08-27-20:09:11-d2nfapp8bjvh7rlj0il0.jpg"/>
          <p:cNvPicPr>
            <a:picLocks noChangeAspect="1"/>
          </p:cNvPicPr>
          <p:nvPr/>
        </p:nvPicPr>
        <p:blipFill>
          <a:blip r:embed="rId6"/>
          <a:srcRect/>
          <a:stretch/>
        </p:blipFill>
        <p:spPr>
          <a:xfrm>
            <a:off x="9858685" y="832007"/>
            <a:ext cx="2254250" cy="2706833"/>
          </a:xfrm>
          <a:prstGeom prst="rect">
            <a:avLst/>
          </a:prstGeom>
        </p:spPr>
      </p:pic>
      <p:sp>
        <p:nvSpPr>
          <p:cNvPr id="10" name="Shape 4"/>
          <p:cNvSpPr/>
          <p:nvPr/>
        </p:nvSpPr>
        <p:spPr>
          <a:xfrm>
            <a:off x="2178798" y="819083"/>
            <a:ext cx="2961707" cy="2719757"/>
          </a:xfrm>
          <a:prstGeom prst="rect">
            <a:avLst/>
          </a:prstGeom>
          <a:solidFill>
            <a:srgbClr val="FFFFFF">
              <a:alpha val="90980"/>
            </a:srgbClr>
          </a:solidFill>
          <a:ln/>
        </p:spPr>
      </p:sp>
      <p:sp>
        <p:nvSpPr>
          <p:cNvPr id="11" name="Text 5"/>
          <p:cNvSpPr/>
          <p:nvPr/>
        </p:nvSpPr>
        <p:spPr>
          <a:xfrm>
            <a:off x="2178798" y="819083"/>
            <a:ext cx="2961707" cy="2719757"/>
          </a:xfrm>
          <a:prstGeom prst="rect">
            <a:avLst/>
          </a:prstGeom>
          <a:noFill/>
          <a:ln/>
        </p:spPr>
        <p:txBody>
          <a:bodyPr wrap="square" lIns="45720" tIns="91440" rIns="91440" bIns="45720" rtlCol="0" anchor="ctr"/>
          <a:lstStyle/>
          <a:p>
            <a:pPr>
              <a:lnSpc>
                <a:spcPct val="100000"/>
              </a:lnSpc>
            </a:pPr>
            <a:endParaRPr lang="en-US" sz="1600" dirty="0"/>
          </a:p>
        </p:txBody>
      </p:sp>
      <p:sp>
        <p:nvSpPr>
          <p:cNvPr id="12" name="Text 6"/>
          <p:cNvSpPr/>
          <p:nvPr/>
        </p:nvSpPr>
        <p:spPr>
          <a:xfrm>
            <a:off x="592465" y="4391794"/>
            <a:ext cx="3896724" cy="1477328"/>
          </a:xfrm>
          <a:prstGeom prst="rect">
            <a:avLst/>
          </a:prstGeom>
          <a:noFill/>
          <a:ln/>
        </p:spPr>
        <p:txBody>
          <a:bodyPr wrap="square" lIns="91440" tIns="45720" rIns="91440" bIns="45720" rtlCol="0" anchor="t">
            <a:spAutoFit/>
          </a:bodyPr>
          <a:lstStyle/>
          <a:p>
            <a:pPr>
              <a:lnSpc>
                <a:spcPct val="100000"/>
              </a:lnSpc>
            </a:pPr>
            <a:r>
              <a:rPr lang="en-US" sz="3600" dirty="0">
                <a:solidFill>
                  <a:srgbClr val="C2F5E1"/>
                </a:solidFill>
                <a:latin typeface="Source Han Sans SC" pitchFamily="34" charset="0"/>
                <a:ea typeface="Source Han Sans SC" pitchFamily="34" charset="-122"/>
                <a:cs typeface="Source Han Sans SC" pitchFamily="34" charset="-120"/>
              </a:rPr>
              <a:t>Text &amp; Headings</a:t>
            </a:r>
            <a:endParaRPr lang="en-US" sz="1600" dirty="0"/>
          </a:p>
        </p:txBody>
      </p:sp>
      <p:sp>
        <p:nvSpPr>
          <p:cNvPr id="13" name="Shape 7"/>
          <p:cNvSpPr/>
          <p:nvPr/>
        </p:nvSpPr>
        <p:spPr>
          <a:xfrm>
            <a:off x="4439563" y="3320027"/>
            <a:ext cx="747408" cy="578224"/>
          </a:xfrm>
          <a:prstGeom prst="rect">
            <a:avLst/>
          </a:prstGeom>
          <a:solidFill>
            <a:srgbClr val="C2F5E1"/>
          </a:solidFill>
          <a:ln/>
        </p:spPr>
      </p:sp>
      <p:sp>
        <p:nvSpPr>
          <p:cNvPr id="14" name="Text 8"/>
          <p:cNvSpPr/>
          <p:nvPr/>
        </p:nvSpPr>
        <p:spPr>
          <a:xfrm>
            <a:off x="4439563" y="3320027"/>
            <a:ext cx="747408" cy="578224"/>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9"/>
          <p:cNvSpPr/>
          <p:nvPr/>
        </p:nvSpPr>
        <p:spPr>
          <a:xfrm>
            <a:off x="4707858" y="3623227"/>
            <a:ext cx="288032" cy="0"/>
          </a:xfrm>
          <a:prstGeom prst="straightConnector1">
            <a:avLst/>
          </a:prstGeom>
          <a:noFill/>
          <a:ln w="19050">
            <a:solidFill>
              <a:srgbClr val="000000"/>
            </a:solidFill>
            <a:prstDash val="solid"/>
            <a:headEnd type="none"/>
            <a:tailEnd type="triangle"/>
          </a:ln>
        </p:spPr>
      </p:sp>
      <p:sp>
        <p:nvSpPr>
          <p:cNvPr id="16" name="Text 10"/>
          <p:cNvSpPr/>
          <p:nvPr/>
        </p:nvSpPr>
        <p:spPr>
          <a:xfrm>
            <a:off x="2237411" y="755209"/>
            <a:ext cx="2831340" cy="33855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Headings</a:t>
            </a:r>
            <a:endParaRPr lang="en-US" sz="1600" dirty="0"/>
          </a:p>
        </p:txBody>
      </p:sp>
      <p:sp>
        <p:nvSpPr>
          <p:cNvPr id="17" name="Text 11"/>
          <p:cNvSpPr/>
          <p:nvPr/>
        </p:nvSpPr>
        <p:spPr>
          <a:xfrm>
            <a:off x="2237105" y="1228090"/>
            <a:ext cx="2679065" cy="1941195"/>
          </a:xfrm>
          <a:prstGeom prst="rect">
            <a:avLst/>
          </a:prstGeom>
          <a:noFill/>
          <a:ln/>
        </p:spPr>
        <p:txBody>
          <a:bodyPr wrap="square" lIns="91440" tIns="45720" rIns="91440" bIns="45720" rtlCol="0" anchor="t"/>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Use headings to structure your content. HTML provides six levels of headings, from &lt;h1&gt; to &lt;h6&gt;. &lt;h1&gt; is the most important and &lt;h6&gt; is the least.</a:t>
            </a:r>
            <a:endParaRPr lang="en-US" sz="1600" dirty="0"/>
          </a:p>
        </p:txBody>
      </p:sp>
      <p:sp>
        <p:nvSpPr>
          <p:cNvPr id="18" name="Text 12"/>
          <p:cNvSpPr/>
          <p:nvPr/>
        </p:nvSpPr>
        <p:spPr>
          <a:xfrm>
            <a:off x="4932963" y="3962809"/>
            <a:ext cx="6482734" cy="337185"/>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Paragraphs</a:t>
            </a:r>
            <a:endParaRPr lang="en-US" sz="1600" dirty="0"/>
          </a:p>
        </p:txBody>
      </p:sp>
      <p:sp>
        <p:nvSpPr>
          <p:cNvPr id="19" name="Text 13"/>
          <p:cNvSpPr/>
          <p:nvPr/>
        </p:nvSpPr>
        <p:spPr>
          <a:xfrm>
            <a:off x="5069205" y="4277360"/>
            <a:ext cx="634619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Paragraphs are defined with the &lt;p&gt; tag. They are used to group text into logical blocks, making your content easier to read and understand.</a:t>
            </a:r>
            <a:endParaRPr lang="en-US" sz="1600" dirty="0"/>
          </a:p>
        </p:txBody>
      </p:sp>
      <p:sp>
        <p:nvSpPr>
          <p:cNvPr id="20" name="Text 14"/>
          <p:cNvSpPr/>
          <p:nvPr/>
        </p:nvSpPr>
        <p:spPr>
          <a:xfrm>
            <a:off x="5004214" y="5309475"/>
            <a:ext cx="6482735" cy="337185"/>
          </a:xfrm>
          <a:prstGeom prst="rect">
            <a:avLst/>
          </a:prstGeom>
          <a:noFill/>
          <a:ln/>
        </p:spPr>
        <p:txBody>
          <a:bodyPr wrap="square" lIns="91440" tIns="45720" rIns="91440" bIns="45720" rtlCol="0" anchor="t">
            <a:spAutoFit/>
          </a:bodyPr>
          <a:lstStyle/>
          <a:p>
            <a:pPr algn="r">
              <a:lnSpc>
                <a:spcPct val="100000"/>
              </a:lnSpc>
            </a:pPr>
            <a:r>
              <a:rPr lang="en-US" sz="1600" dirty="0">
                <a:solidFill>
                  <a:srgbClr val="C2F5E1"/>
                </a:solidFill>
                <a:latin typeface="Source Han Sans SC" pitchFamily="34" charset="0"/>
                <a:ea typeface="Source Han Sans SC" pitchFamily="34" charset="-122"/>
                <a:cs typeface="Source Han Sans SC" pitchFamily="34" charset="-120"/>
              </a:rPr>
              <a:t>Formatting</a:t>
            </a:r>
            <a:endParaRPr lang="en-US" sz="1600" dirty="0"/>
          </a:p>
        </p:txBody>
      </p:sp>
      <p:sp>
        <p:nvSpPr>
          <p:cNvPr id="21" name="Text 15"/>
          <p:cNvSpPr/>
          <p:nvPr/>
        </p:nvSpPr>
        <p:spPr>
          <a:xfrm>
            <a:off x="5172075" y="5572760"/>
            <a:ext cx="6314440" cy="1076325"/>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Enhance your text with &lt;strong&gt; for bold, &lt;em&gt; for italics, and &lt;mark&gt; for highlighted text. These tags help emphasize important information.</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41728"/>
          </a:xfrm>
          <a:prstGeom prst="rect">
            <a:avLst/>
          </a:prstGeom>
          <a:gradFill flip="none" rotWithShape="1">
            <a:gsLst>
              <a:gs pos="0">
                <a:srgbClr val="2F5596"/>
              </a:gs>
              <a:gs pos="27000">
                <a:srgbClr val="7095BC"/>
              </a:gs>
              <a:gs pos="72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41728"/>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0-d2nfaph8bjvh7rlj0ii0.png"/>
          <p:cNvPicPr>
            <a:picLocks noChangeAspect="1"/>
          </p:cNvPicPr>
          <p:nvPr/>
        </p:nvPicPr>
        <p:blipFill>
          <a:blip r:embed="rId3"/>
          <a:stretch>
            <a:fillRect/>
          </a:stretch>
        </p:blipFill>
        <p:spPr>
          <a:xfrm>
            <a:off x="0" y="4216202"/>
            <a:ext cx="12192000" cy="2625526"/>
          </a:xfrm>
          <a:prstGeom prst="rect">
            <a:avLst/>
          </a:prstGeom>
        </p:spPr>
      </p:pic>
      <p:sp>
        <p:nvSpPr>
          <p:cNvPr id="5" name="Text 2"/>
          <p:cNvSpPr/>
          <p:nvPr/>
        </p:nvSpPr>
        <p:spPr>
          <a:xfrm>
            <a:off x="695960" y="738505"/>
            <a:ext cx="9124950" cy="645160"/>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Lists &amp; Links</a:t>
            </a:r>
            <a:endParaRPr lang="en-US" sz="1600" dirty="0"/>
          </a:p>
        </p:txBody>
      </p:sp>
      <p:sp>
        <p:nvSpPr>
          <p:cNvPr id="6" name="Shape 3"/>
          <p:cNvSpPr/>
          <p:nvPr/>
        </p:nvSpPr>
        <p:spPr>
          <a:xfrm>
            <a:off x="10056440" y="983258"/>
            <a:ext cx="1106564" cy="0"/>
          </a:xfrm>
          <a:prstGeom prst="straightConnector1">
            <a:avLst/>
          </a:prstGeom>
          <a:noFill/>
          <a:ln w="15875">
            <a:solidFill>
              <a:srgbClr val="FFFFFF"/>
            </a:solidFill>
            <a:prstDash val="solid"/>
            <a:headEnd type="none"/>
            <a:tailEnd type="triangle"/>
          </a:ln>
        </p:spPr>
      </p:sp>
      <p:sp>
        <p:nvSpPr>
          <p:cNvPr id="7" name="Text 4"/>
          <p:cNvSpPr/>
          <p:nvPr/>
        </p:nvSpPr>
        <p:spPr>
          <a:xfrm>
            <a:off x="695960" y="1735455"/>
            <a:ext cx="563245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Lists</a:t>
            </a:r>
            <a:endParaRPr lang="en-US" sz="1600" dirty="0"/>
          </a:p>
        </p:txBody>
      </p:sp>
      <p:sp>
        <p:nvSpPr>
          <p:cNvPr id="8" name="Text 5"/>
          <p:cNvSpPr/>
          <p:nvPr/>
        </p:nvSpPr>
        <p:spPr>
          <a:xfrm>
            <a:off x="695960" y="2493010"/>
            <a:ext cx="5067935" cy="175323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Light" pitchFamily="34" charset="0"/>
                <a:ea typeface="Source Han Sans SC Light" pitchFamily="34" charset="-122"/>
                <a:cs typeface="Source Han Sans SC Light" pitchFamily="34" charset="-120"/>
              </a:rPr>
              <a:t>Create lists with &lt;ul&gt; for unordered lists and &lt;ol&gt; for ordered lists. Each item in the list is wrapped in &lt;li&gt; tags. Lists help organize information clearly.</a:t>
            </a:r>
            <a:endParaRPr lang="en-US" sz="1600" dirty="0"/>
          </a:p>
        </p:txBody>
      </p:sp>
      <p:sp>
        <p:nvSpPr>
          <p:cNvPr id="9" name="Text 6"/>
          <p:cNvSpPr/>
          <p:nvPr/>
        </p:nvSpPr>
        <p:spPr>
          <a:xfrm>
            <a:off x="6456045" y="1749425"/>
            <a:ext cx="5152390" cy="460375"/>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Links</a:t>
            </a:r>
            <a:endParaRPr lang="en-US" sz="1600" dirty="0"/>
          </a:p>
        </p:txBody>
      </p:sp>
      <p:sp>
        <p:nvSpPr>
          <p:cNvPr id="10" name="Text 7"/>
          <p:cNvSpPr/>
          <p:nvPr/>
        </p:nvSpPr>
        <p:spPr>
          <a:xfrm>
            <a:off x="6456045" y="2493010"/>
            <a:ext cx="5067935" cy="175323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Light" pitchFamily="34" charset="0"/>
                <a:ea typeface="Source Han Sans SC Light" pitchFamily="34" charset="-122"/>
                <a:cs typeface="Source Han Sans SC Light" pitchFamily="34" charset="-120"/>
              </a:rPr>
              <a:t>Add links using the &lt;a&gt; tag with the href attribute. Links can be internal, pointing to other sections of your page, or external, linking to other websites.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0D0D0D"/>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r0.jpeg"/>
          <p:cNvPicPr>
            <a:picLocks noChangeAspect="1"/>
          </p:cNvPicPr>
          <p:nvPr/>
        </p:nvPicPr>
        <p:blipFill>
          <a:blip r:embed="rId3"/>
          <a:srcRect/>
          <a:stretch/>
        </p:blipFill>
        <p:spPr>
          <a:xfrm flipH="1">
            <a:off x="408127" y="2521292"/>
            <a:ext cx="6341541" cy="3473039"/>
          </a:xfrm>
          <a:prstGeom prst="rect">
            <a:avLst/>
          </a:prstGeom>
        </p:spPr>
      </p:pic>
      <p:sp>
        <p:nvSpPr>
          <p:cNvPr id="5" name="Text 2"/>
          <p:cNvSpPr/>
          <p:nvPr/>
        </p:nvSpPr>
        <p:spPr>
          <a:xfrm>
            <a:off x="551180" y="492760"/>
            <a:ext cx="6088380" cy="1285875"/>
          </a:xfrm>
          <a:prstGeom prst="rect">
            <a:avLst/>
          </a:prstGeom>
          <a:noFill/>
          <a:ln/>
        </p:spPr>
        <p:txBody>
          <a:bodyPr wrap="square" lIns="91440" tIns="45720" rIns="91440" bIns="45720" rtlCol="0" anchor="t"/>
          <a:lstStyle/>
          <a:p>
            <a:pPr>
              <a:lnSpc>
                <a:spcPct val="100000"/>
              </a:lnSpc>
            </a:pPr>
            <a:r>
              <a:rPr lang="en-US" sz="3400" dirty="0">
                <a:solidFill>
                  <a:srgbClr val="FFFFFF"/>
                </a:solidFill>
                <a:latin typeface="Source Han Sans SC" pitchFamily="34" charset="0"/>
                <a:ea typeface="Source Han Sans SC" pitchFamily="34" charset="-122"/>
                <a:cs typeface="Source Han Sans SC" pitchFamily="34" charset="-120"/>
              </a:rPr>
              <a:t>Images &amp; Multimedia</a:t>
            </a:r>
            <a:endParaRPr lang="en-US" sz="1600" dirty="0"/>
          </a:p>
        </p:txBody>
      </p:sp>
      <p:sp>
        <p:nvSpPr>
          <p:cNvPr id="6" name="Text 3"/>
          <p:cNvSpPr/>
          <p:nvPr/>
        </p:nvSpPr>
        <p:spPr>
          <a:xfrm>
            <a:off x="408305" y="1774825"/>
            <a:ext cx="556387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Images</a:t>
            </a:r>
            <a:endParaRPr lang="en-US" sz="1600" dirty="0"/>
          </a:p>
        </p:txBody>
      </p:sp>
      <p:sp>
        <p:nvSpPr>
          <p:cNvPr id="7" name="Text 4"/>
          <p:cNvSpPr/>
          <p:nvPr/>
        </p:nvSpPr>
        <p:spPr>
          <a:xfrm>
            <a:off x="336119" y="2097392"/>
            <a:ext cx="5423544"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Insert images with the &lt;img&gt; tag. Use the src attribute to specify the image file and alt attribute for alternative text, which is important for accessibility.</a:t>
            </a:r>
            <a:endParaRPr lang="en-US" sz="1600" dirty="0"/>
          </a:p>
        </p:txBody>
      </p:sp>
      <p:sp>
        <p:nvSpPr>
          <p:cNvPr id="8" name="Text 5"/>
          <p:cNvSpPr/>
          <p:nvPr/>
        </p:nvSpPr>
        <p:spPr>
          <a:xfrm>
            <a:off x="6861810" y="676275"/>
            <a:ext cx="496506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Audio</a:t>
            </a:r>
            <a:endParaRPr lang="en-US" sz="1600" dirty="0"/>
          </a:p>
        </p:txBody>
      </p:sp>
      <p:sp>
        <p:nvSpPr>
          <p:cNvPr id="9" name="Text 6"/>
          <p:cNvSpPr/>
          <p:nvPr/>
        </p:nvSpPr>
        <p:spPr>
          <a:xfrm>
            <a:off x="6861810" y="99885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Add audio files using the &lt;audio&gt; tag with the controls attribute. This allows users to play and pause the audio directly on your webpage.</a:t>
            </a:r>
            <a:endParaRPr lang="en-US" sz="1600" dirty="0"/>
          </a:p>
        </p:txBody>
      </p:sp>
      <p:sp>
        <p:nvSpPr>
          <p:cNvPr id="10" name="Text 7"/>
          <p:cNvSpPr/>
          <p:nvPr/>
        </p:nvSpPr>
        <p:spPr>
          <a:xfrm>
            <a:off x="6857365" y="2708910"/>
            <a:ext cx="4959350"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Video</a:t>
            </a:r>
            <a:endParaRPr lang="en-US" sz="1600" dirty="0"/>
          </a:p>
        </p:txBody>
      </p:sp>
      <p:sp>
        <p:nvSpPr>
          <p:cNvPr id="11" name="Text 8"/>
          <p:cNvSpPr/>
          <p:nvPr/>
        </p:nvSpPr>
        <p:spPr>
          <a:xfrm>
            <a:off x="6861810" y="304990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Embed videos with the &lt;video&gt; tag. Like audio, use the controls attribute to provide playback controls. This is a great way to enrich your content.</a:t>
            </a:r>
            <a:endParaRPr lang="en-US" sz="1600" dirty="0"/>
          </a:p>
        </p:txBody>
      </p:sp>
      <p:sp>
        <p:nvSpPr>
          <p:cNvPr id="12" name="Text 9"/>
          <p:cNvSpPr/>
          <p:nvPr/>
        </p:nvSpPr>
        <p:spPr>
          <a:xfrm>
            <a:off x="6857365" y="4645660"/>
            <a:ext cx="5042535"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Multimedia Tips</a:t>
            </a:r>
            <a:endParaRPr lang="en-US" sz="1600" dirty="0"/>
          </a:p>
        </p:txBody>
      </p:sp>
      <p:sp>
        <p:nvSpPr>
          <p:cNvPr id="13" name="Text 10"/>
          <p:cNvSpPr/>
          <p:nvPr/>
        </p:nvSpPr>
        <p:spPr>
          <a:xfrm>
            <a:off x="6861810" y="5039995"/>
            <a:ext cx="4965700"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Ensure your multimedia files are optimized for the web to avoid slow loading times. Always provide fallback content for users who cannot access the media.</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Structured Data</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6-d2nfar18bjvh7rlj0iu0.jpg"/>
          <p:cNvPicPr>
            <a:picLocks noChangeAspect="1"/>
          </p:cNvPicPr>
          <p:nvPr/>
        </p:nvPicPr>
        <p:blipFill>
          <a:blip r:embed="rId3"/>
          <a:srcRect/>
          <a:stretch/>
        </p:blipFill>
        <p:spPr>
          <a:xfrm>
            <a:off x="0" y="-1"/>
            <a:ext cx="12192000" cy="6858001"/>
          </a:xfrm>
          <a:prstGeom prst="rect">
            <a:avLst/>
          </a:prstGeom>
        </p:spPr>
      </p:pic>
      <p:sp>
        <p:nvSpPr>
          <p:cNvPr id="3" name="Shape 0"/>
          <p:cNvSpPr/>
          <p:nvPr/>
        </p:nvSpPr>
        <p:spPr>
          <a:xfrm>
            <a:off x="-24680" y="-27384"/>
            <a:ext cx="12232332" cy="6959798"/>
          </a:xfrm>
          <a:prstGeom prst="rect">
            <a:avLst/>
          </a:prstGeom>
          <a:solidFill>
            <a:srgbClr val="333F4F">
              <a:alpha val="47843"/>
            </a:srgbClr>
          </a:solidFill>
          <a:ln/>
        </p:spPr>
      </p:sp>
      <p:sp>
        <p:nvSpPr>
          <p:cNvPr id="4" name="Text 1"/>
          <p:cNvSpPr/>
          <p:nvPr/>
        </p:nvSpPr>
        <p:spPr>
          <a:xfrm>
            <a:off x="-24680" y="-27384"/>
            <a:ext cx="12232332" cy="6959798"/>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1" descr="https://kimi-img.moonshot.cn/pub/slides/slides_tmpl/image/25-08-27-20:09:12-d2nfaq18bjvh7rlj0ing.png"/>
          <p:cNvPicPr>
            <a:picLocks noChangeAspect="1"/>
          </p:cNvPicPr>
          <p:nvPr/>
        </p:nvPicPr>
        <p:blipFill>
          <a:blip r:embed="rId4"/>
          <a:stretch>
            <a:fillRect/>
          </a:stretch>
        </p:blipFill>
        <p:spPr>
          <a:xfrm>
            <a:off x="0" y="4149080"/>
            <a:ext cx="12192000" cy="1561981"/>
          </a:xfrm>
          <a:prstGeom prst="rect">
            <a:avLst/>
          </a:prstGeom>
        </p:spPr>
      </p:pic>
      <p:sp>
        <p:nvSpPr>
          <p:cNvPr id="6" name="Shape 2"/>
          <p:cNvSpPr/>
          <p:nvPr/>
        </p:nvSpPr>
        <p:spPr>
          <a:xfrm rot="10800000">
            <a:off x="1948002" y="4932990"/>
            <a:ext cx="360039" cy="296210"/>
          </a:xfrm>
          <a:prstGeom prst="triangle">
            <a:avLst>
              <a:gd name="adj" fmla="val 50000"/>
            </a:avLst>
          </a:prstGeom>
          <a:solidFill>
            <a:srgbClr val="FFFFFF"/>
          </a:solidFill>
          <a:ln/>
        </p:spPr>
      </p:sp>
      <p:sp>
        <p:nvSpPr>
          <p:cNvPr id="7" name="Text 3"/>
          <p:cNvSpPr/>
          <p:nvPr/>
        </p:nvSpPr>
        <p:spPr>
          <a:xfrm rot="10800000">
            <a:off x="1948002" y="493299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948003" y="4767462"/>
            <a:ext cx="360039" cy="63731"/>
          </a:xfrm>
          <a:prstGeom prst="rect">
            <a:avLst/>
          </a:prstGeom>
          <a:solidFill>
            <a:srgbClr val="C2F5E0"/>
          </a:solidFill>
          <a:ln/>
        </p:spPr>
      </p:sp>
      <p:sp>
        <p:nvSpPr>
          <p:cNvPr id="9" name="Text 5"/>
          <p:cNvSpPr/>
          <p:nvPr/>
        </p:nvSpPr>
        <p:spPr>
          <a:xfrm>
            <a:off x="1948003" y="476746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rot="10800000">
            <a:off x="5928324" y="3759222"/>
            <a:ext cx="360039" cy="296210"/>
          </a:xfrm>
          <a:prstGeom prst="triangle">
            <a:avLst>
              <a:gd name="adj" fmla="val 50000"/>
            </a:avLst>
          </a:prstGeom>
          <a:solidFill>
            <a:srgbClr val="FFFFFF"/>
          </a:solidFill>
          <a:ln/>
        </p:spPr>
      </p:sp>
      <p:sp>
        <p:nvSpPr>
          <p:cNvPr id="11" name="Text 7"/>
          <p:cNvSpPr/>
          <p:nvPr/>
        </p:nvSpPr>
        <p:spPr>
          <a:xfrm rot="10800000">
            <a:off x="5928324" y="3759222"/>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5928325" y="3593694"/>
            <a:ext cx="360039" cy="63731"/>
          </a:xfrm>
          <a:prstGeom prst="rect">
            <a:avLst/>
          </a:prstGeom>
          <a:solidFill>
            <a:srgbClr val="C2F5E0"/>
          </a:solidFill>
          <a:ln/>
        </p:spPr>
      </p:sp>
      <p:sp>
        <p:nvSpPr>
          <p:cNvPr id="13" name="Text 9"/>
          <p:cNvSpPr/>
          <p:nvPr/>
        </p:nvSpPr>
        <p:spPr>
          <a:xfrm>
            <a:off x="5928325" y="3593694"/>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rot="10800000">
            <a:off x="9908654" y="4386616"/>
            <a:ext cx="360039" cy="296210"/>
          </a:xfrm>
          <a:prstGeom prst="triangle">
            <a:avLst>
              <a:gd name="adj" fmla="val 50000"/>
            </a:avLst>
          </a:prstGeom>
          <a:solidFill>
            <a:srgbClr val="FFFFFF"/>
          </a:solidFill>
          <a:ln/>
        </p:spPr>
      </p:sp>
      <p:sp>
        <p:nvSpPr>
          <p:cNvPr id="15" name="Text 11"/>
          <p:cNvSpPr/>
          <p:nvPr/>
        </p:nvSpPr>
        <p:spPr>
          <a:xfrm rot="10800000">
            <a:off x="9908654" y="4386616"/>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9908655" y="4221088"/>
            <a:ext cx="360039" cy="63731"/>
          </a:xfrm>
          <a:prstGeom prst="rect">
            <a:avLst/>
          </a:prstGeom>
          <a:solidFill>
            <a:srgbClr val="C2F5E0"/>
          </a:solidFill>
          <a:ln/>
        </p:spPr>
      </p:sp>
      <p:sp>
        <p:nvSpPr>
          <p:cNvPr id="17" name="Text 13"/>
          <p:cNvSpPr/>
          <p:nvPr/>
        </p:nvSpPr>
        <p:spPr>
          <a:xfrm>
            <a:off x="9908655" y="4221088"/>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4"/>
          <p:cNvSpPr/>
          <p:nvPr/>
        </p:nvSpPr>
        <p:spPr>
          <a:xfrm>
            <a:off x="1858496" y="5783053"/>
            <a:ext cx="8352928" cy="706755"/>
          </a:xfrm>
          <a:prstGeom prst="rect">
            <a:avLst/>
          </a:prstGeom>
          <a:noFill/>
          <a:ln/>
        </p:spPr>
        <p:txBody>
          <a:bodyPr wrap="square" lIns="91440" tIns="45720" rIns="91440" bIns="45720" rtlCol="0" anchor="t">
            <a:spAutoFit/>
          </a:bodyPr>
          <a:lstStyle/>
          <a:p>
            <a:pPr algn="ct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Building Tables</a:t>
            </a:r>
            <a:endParaRPr lang="en-US" sz="1600" dirty="0"/>
          </a:p>
        </p:txBody>
      </p:sp>
      <p:sp>
        <p:nvSpPr>
          <p:cNvPr id="19" name="Shape 15"/>
          <p:cNvSpPr/>
          <p:nvPr/>
        </p:nvSpPr>
        <p:spPr>
          <a:xfrm>
            <a:off x="5699956" y="5462750"/>
            <a:ext cx="792088" cy="53532"/>
          </a:xfrm>
          <a:prstGeom prst="rect">
            <a:avLst/>
          </a:prstGeom>
          <a:solidFill>
            <a:srgbClr val="FFFFFF"/>
          </a:solidFill>
          <a:ln/>
        </p:spPr>
      </p:sp>
      <p:sp>
        <p:nvSpPr>
          <p:cNvPr id="20" name="Text 16"/>
          <p:cNvSpPr/>
          <p:nvPr/>
        </p:nvSpPr>
        <p:spPr>
          <a:xfrm>
            <a:off x="5699956" y="5462750"/>
            <a:ext cx="792088" cy="53532"/>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7"/>
          <p:cNvSpPr/>
          <p:nvPr/>
        </p:nvSpPr>
        <p:spPr>
          <a:xfrm>
            <a:off x="4079776" y="1107270"/>
            <a:ext cx="0" cy="2740316"/>
          </a:xfrm>
          <a:prstGeom prst="straightConnector1">
            <a:avLst/>
          </a:prstGeom>
          <a:noFill/>
          <a:ln w="31750">
            <a:solidFill>
              <a:srgbClr val="C2F5E1">
                <a:alpha val="38824"/>
              </a:srgbClr>
            </a:solidFill>
            <a:prstDash val="solid"/>
            <a:headEnd type="none"/>
            <a:tailEnd type="triangle"/>
          </a:ln>
        </p:spPr>
      </p:sp>
      <p:sp>
        <p:nvSpPr>
          <p:cNvPr id="22" name="Shape 18"/>
          <p:cNvSpPr/>
          <p:nvPr/>
        </p:nvSpPr>
        <p:spPr>
          <a:xfrm>
            <a:off x="8060105" y="963760"/>
            <a:ext cx="0" cy="2740316"/>
          </a:xfrm>
          <a:prstGeom prst="straightConnector1">
            <a:avLst/>
          </a:prstGeom>
          <a:noFill/>
          <a:ln w="31750">
            <a:solidFill>
              <a:srgbClr val="C2F5E1">
                <a:alpha val="38824"/>
              </a:srgbClr>
            </a:solidFill>
            <a:prstDash val="solid"/>
            <a:headEnd type="none"/>
            <a:tailEnd type="triangle"/>
          </a:ln>
        </p:spPr>
      </p:sp>
      <p:pic>
        <p:nvPicPr>
          <p:cNvPr id="23" name="Image 2" descr="https://kimi-img.moonshot.cn/pub/slides/slides_tmpl/image/25-08-27-20:09:11-d2nfapp8bjvh7rlj0ilg.png"/>
          <p:cNvPicPr>
            <a:picLocks noChangeAspect="1"/>
          </p:cNvPicPr>
          <p:nvPr/>
        </p:nvPicPr>
        <p:blipFill>
          <a:blip r:embed="rId5"/>
          <a:stretch>
            <a:fillRect/>
          </a:stretch>
        </p:blipFill>
        <p:spPr>
          <a:xfrm>
            <a:off x="1784985" y="1536700"/>
            <a:ext cx="718185" cy="546100"/>
          </a:xfrm>
          <a:prstGeom prst="rect">
            <a:avLst/>
          </a:prstGeom>
        </p:spPr>
      </p:pic>
      <p:pic>
        <p:nvPicPr>
          <p:cNvPr id="24" name="Image 3" descr="https://kimi-img.moonshot.cn/pub/slides/slides_tmpl/image/25-08-27-20:09:11-d2nfapp8bjvh7rlj0im0.png"/>
          <p:cNvPicPr>
            <a:picLocks noChangeAspect="1"/>
          </p:cNvPicPr>
          <p:nvPr/>
        </p:nvPicPr>
        <p:blipFill>
          <a:blip r:embed="rId6"/>
          <a:stretch>
            <a:fillRect/>
          </a:stretch>
        </p:blipFill>
        <p:spPr>
          <a:xfrm>
            <a:off x="5716270" y="234950"/>
            <a:ext cx="764540" cy="581025"/>
          </a:xfrm>
          <a:prstGeom prst="rect">
            <a:avLst/>
          </a:prstGeom>
        </p:spPr>
      </p:pic>
      <p:pic>
        <p:nvPicPr>
          <p:cNvPr id="25" name="Image 4" descr="https://kimi-img.moonshot.cn/pub/slides/slides_tmpl/image/25-08-27-20:09:11-d2nfapp8bjvh7rlj0img.png"/>
          <p:cNvPicPr>
            <a:picLocks noChangeAspect="1"/>
          </p:cNvPicPr>
          <p:nvPr/>
        </p:nvPicPr>
        <p:blipFill>
          <a:blip r:embed="rId7"/>
          <a:stretch>
            <a:fillRect/>
          </a:stretch>
        </p:blipFill>
        <p:spPr>
          <a:xfrm>
            <a:off x="9665335" y="982980"/>
            <a:ext cx="717550" cy="545465"/>
          </a:xfrm>
          <a:prstGeom prst="rect">
            <a:avLst/>
          </a:prstGeom>
        </p:spPr>
      </p:pic>
      <p:sp>
        <p:nvSpPr>
          <p:cNvPr id="26" name="Text 19"/>
          <p:cNvSpPr/>
          <p:nvPr/>
        </p:nvSpPr>
        <p:spPr>
          <a:xfrm>
            <a:off x="354330" y="2011045"/>
            <a:ext cx="3538220"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Table Structure</a:t>
            </a:r>
            <a:endParaRPr lang="en-US" sz="1600" dirty="0"/>
          </a:p>
        </p:txBody>
      </p:sp>
      <p:sp>
        <p:nvSpPr>
          <p:cNvPr id="27" name="Text 20"/>
          <p:cNvSpPr/>
          <p:nvPr/>
        </p:nvSpPr>
        <p:spPr>
          <a:xfrm>
            <a:off x="577850" y="2434590"/>
            <a:ext cx="309054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Tables are used to display tabular data. They consist of rows (&lt;tr&gt;), headers (&lt;th&gt;), and data cells (&lt;td&gt;). Properly structured tables make data easy to read.</a:t>
            </a:r>
            <a:endParaRPr lang="en-US" sz="1600" dirty="0"/>
          </a:p>
        </p:txBody>
      </p:sp>
      <p:sp>
        <p:nvSpPr>
          <p:cNvPr id="28" name="Text 21"/>
          <p:cNvSpPr/>
          <p:nvPr/>
        </p:nvSpPr>
        <p:spPr>
          <a:xfrm>
            <a:off x="4079875" y="765810"/>
            <a:ext cx="397954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Creating a Table</a:t>
            </a:r>
            <a:endParaRPr lang="en-US" sz="1600" dirty="0"/>
          </a:p>
        </p:txBody>
      </p:sp>
      <p:sp>
        <p:nvSpPr>
          <p:cNvPr id="29" name="Text 22"/>
          <p:cNvSpPr/>
          <p:nvPr/>
        </p:nvSpPr>
        <p:spPr>
          <a:xfrm>
            <a:off x="4468495" y="1188720"/>
            <a:ext cx="3231515"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Start with the &lt;table&gt; tag. Add rows with &lt;tr&gt;, headers with &lt;th&gt; in the first row, and data cells with &lt;td&gt; in subsequent rows.</a:t>
            </a:r>
            <a:endParaRPr lang="en-US" sz="1600" dirty="0"/>
          </a:p>
        </p:txBody>
      </p:sp>
      <p:sp>
        <p:nvSpPr>
          <p:cNvPr id="30" name="Text 23"/>
          <p:cNvSpPr/>
          <p:nvPr/>
        </p:nvSpPr>
        <p:spPr>
          <a:xfrm>
            <a:off x="8275320" y="1451610"/>
            <a:ext cx="3448685" cy="39878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Tips for Tables</a:t>
            </a:r>
            <a:endParaRPr lang="en-US" sz="1600" dirty="0"/>
          </a:p>
        </p:txBody>
      </p:sp>
      <p:sp>
        <p:nvSpPr>
          <p:cNvPr id="31" name="Text 24"/>
          <p:cNvSpPr/>
          <p:nvPr/>
        </p:nvSpPr>
        <p:spPr>
          <a:xfrm>
            <a:off x="8431530" y="1874520"/>
            <a:ext cx="3185160"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Use the scope attribute in &lt;th&gt; tags to define whether a header is for a row or column. This improves accessibility and clarity.</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56000">
                <a:srgbClr val="7095BC"/>
              </a:gs>
              <a:gs pos="91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qg.png"/>
          <p:cNvPicPr>
            <a:picLocks noChangeAspect="1"/>
          </p:cNvPicPr>
          <p:nvPr/>
        </p:nvPicPr>
        <p:blipFill>
          <a:blip r:embed="rId3">
            <a:alphaModFix amt="76000"/>
          </a:blip>
          <a:srcRect/>
          <a:stretch/>
        </p:blipFill>
        <p:spPr>
          <a:xfrm>
            <a:off x="3454805" y="1700726"/>
            <a:ext cx="5953563" cy="5157274"/>
          </a:xfrm>
          <a:prstGeom prst="rect">
            <a:avLst/>
          </a:prstGeom>
        </p:spPr>
      </p:pic>
      <p:sp>
        <p:nvSpPr>
          <p:cNvPr id="5" name="Text 2"/>
          <p:cNvSpPr/>
          <p:nvPr/>
        </p:nvSpPr>
        <p:spPr>
          <a:xfrm>
            <a:off x="592149" y="749211"/>
            <a:ext cx="6208735" cy="800219"/>
          </a:xfrm>
          <a:prstGeom prst="rect">
            <a:avLst/>
          </a:prstGeom>
          <a:noFill/>
          <a:ln/>
        </p:spPr>
        <p:txBody>
          <a:bodyPr wrap="square" lIns="91440" tIns="45720" rIns="91440" bIns="45720" rtlCol="0" anchor="t">
            <a:spAutoFit/>
          </a:bodyPr>
          <a:lstStyle/>
          <a:p>
            <a:pPr>
              <a:lnSpc>
                <a:spcPct val="100000"/>
              </a:lnSpc>
            </a:pPr>
            <a:r>
              <a:rPr lang="en-US" sz="2800" b="1" dirty="0">
                <a:solidFill>
                  <a:srgbClr val="FFFFFF"/>
                </a:solidFill>
                <a:latin typeface="Source Han Sans SC" pitchFamily="34" charset="0"/>
                <a:ea typeface="Source Han Sans SC" pitchFamily="34" charset="-122"/>
                <a:cs typeface="Source Han Sans SC" pitchFamily="34" charset="-120"/>
              </a:rPr>
              <a:t>Creating Forms</a:t>
            </a:r>
            <a:endParaRPr lang="en-US" sz="1600" dirty="0"/>
          </a:p>
        </p:txBody>
      </p:sp>
      <p:pic>
        <p:nvPicPr>
          <p:cNvPr id="6" name="Image 1" descr="https://kimi-img.moonshot.cn/pub/slides/slides_tmpl/image/25-08-27-20:09:12-d2nfaq18bjvh7rlj0iog.png"/>
          <p:cNvPicPr>
            <a:picLocks noChangeAspect="1"/>
          </p:cNvPicPr>
          <p:nvPr/>
        </p:nvPicPr>
        <p:blipFill>
          <a:blip r:embed="rId4"/>
          <a:stretch>
            <a:fillRect/>
          </a:stretch>
        </p:blipFill>
        <p:spPr>
          <a:xfrm>
            <a:off x="695019" y="1413090"/>
            <a:ext cx="6731000" cy="2819400"/>
          </a:xfrm>
          <a:prstGeom prst="rect">
            <a:avLst/>
          </a:prstGeom>
        </p:spPr>
      </p:pic>
      <p:sp>
        <p:nvSpPr>
          <p:cNvPr id="7" name="Shape 3"/>
          <p:cNvSpPr/>
          <p:nvPr/>
        </p:nvSpPr>
        <p:spPr>
          <a:xfrm>
            <a:off x="5807968" y="3573775"/>
            <a:ext cx="504056" cy="0"/>
          </a:xfrm>
          <a:prstGeom prst="straightConnector1">
            <a:avLst/>
          </a:prstGeom>
          <a:noFill/>
          <a:ln w="15875">
            <a:solidFill>
              <a:srgbClr val="FFFFFF"/>
            </a:solidFill>
            <a:prstDash val="solid"/>
            <a:headEnd type="none"/>
            <a:tailEnd type="triangle"/>
          </a:ln>
        </p:spPr>
      </p:sp>
      <p:sp>
        <p:nvSpPr>
          <p:cNvPr id="8" name="Text 4"/>
          <p:cNvSpPr/>
          <p:nvPr/>
        </p:nvSpPr>
        <p:spPr>
          <a:xfrm>
            <a:off x="617425" y="21164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Form Basics</a:t>
            </a:r>
            <a:endParaRPr lang="en-US" sz="1600" dirty="0"/>
          </a:p>
        </p:txBody>
      </p:sp>
      <p:sp>
        <p:nvSpPr>
          <p:cNvPr id="9" name="Text 5"/>
          <p:cNvSpPr/>
          <p:nvPr/>
        </p:nvSpPr>
        <p:spPr>
          <a:xfrm>
            <a:off x="630249" y="24549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Forms are used to collect user input. Use the &lt;form&gt; tag to create a form. Inside, you can add various input fields.</a:t>
            </a:r>
            <a:endParaRPr lang="en-US" sz="1600" dirty="0"/>
          </a:p>
        </p:txBody>
      </p:sp>
      <p:sp>
        <p:nvSpPr>
          <p:cNvPr id="10" name="Text 6"/>
          <p:cNvSpPr/>
          <p:nvPr/>
        </p:nvSpPr>
        <p:spPr>
          <a:xfrm>
            <a:off x="617425" y="42881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Input Types</a:t>
            </a:r>
            <a:endParaRPr lang="en-US" sz="1600" dirty="0"/>
          </a:p>
        </p:txBody>
      </p:sp>
      <p:sp>
        <p:nvSpPr>
          <p:cNvPr id="11" name="Text 7"/>
          <p:cNvSpPr/>
          <p:nvPr/>
        </p:nvSpPr>
        <p:spPr>
          <a:xfrm>
            <a:off x="630249" y="46266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Use &lt;input type='text'&gt; for text input, &lt;input type='email'&gt; for email addresses, and &lt;input type='submit'&gt; to create a submit button.</a:t>
            </a:r>
            <a:endParaRPr lang="en-US" sz="1600" dirty="0"/>
          </a:p>
        </p:txBody>
      </p:sp>
      <p:sp>
        <p:nvSpPr>
          <p:cNvPr id="12" name="Text 8"/>
          <p:cNvSpPr/>
          <p:nvPr/>
        </p:nvSpPr>
        <p:spPr>
          <a:xfrm>
            <a:off x="6522925" y="19005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Labels and Textareas</a:t>
            </a:r>
            <a:endParaRPr lang="en-US" sz="1600" dirty="0"/>
          </a:p>
        </p:txBody>
      </p:sp>
      <p:sp>
        <p:nvSpPr>
          <p:cNvPr id="13" name="Text 9"/>
          <p:cNvSpPr/>
          <p:nvPr/>
        </p:nvSpPr>
        <p:spPr>
          <a:xfrm>
            <a:off x="6535749" y="22390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Pair each input with a &lt;label&gt; for better accessibility. Use &lt;textarea&gt; for multi-line text input, such as comments or messages.</a:t>
            </a:r>
            <a:endParaRPr lang="en-US" sz="1600" dirty="0"/>
          </a:p>
        </p:txBody>
      </p:sp>
      <p:sp>
        <p:nvSpPr>
          <p:cNvPr id="14" name="Text 10"/>
          <p:cNvSpPr/>
          <p:nvPr/>
        </p:nvSpPr>
        <p:spPr>
          <a:xfrm>
            <a:off x="6561025" y="4288103"/>
            <a:ext cx="4783771" cy="368300"/>
          </a:xfrm>
          <a:prstGeom prst="rect">
            <a:avLst/>
          </a:prstGeom>
          <a:noFill/>
          <a:ln/>
        </p:spPr>
        <p:txBody>
          <a:bodyPr wrap="square" lIns="91440" tIns="45720" rIns="91440" bIns="45720" rtlCol="0" anchor="t">
            <a:spAutoFit/>
          </a:bodyPr>
          <a:lstStyle/>
          <a:p>
            <a:pPr>
              <a:lnSpc>
                <a:spcPct val="100000"/>
              </a:lnSpc>
            </a:pPr>
            <a:r>
              <a:rPr lang="en-US" sz="1800" dirty="0">
                <a:solidFill>
                  <a:srgbClr val="FFFFFF"/>
                </a:solidFill>
                <a:latin typeface="Source Han Sans SC" pitchFamily="34" charset="0"/>
                <a:ea typeface="Source Han Sans SC" pitchFamily="34" charset="-122"/>
                <a:cs typeface="Source Han Sans SC" pitchFamily="34" charset="-120"/>
              </a:rPr>
              <a:t>Dropdowns</a:t>
            </a:r>
            <a:endParaRPr lang="en-US" sz="1600" dirty="0"/>
          </a:p>
        </p:txBody>
      </p:sp>
      <p:sp>
        <p:nvSpPr>
          <p:cNvPr id="15" name="Text 11"/>
          <p:cNvSpPr/>
          <p:nvPr/>
        </p:nvSpPr>
        <p:spPr>
          <a:xfrm>
            <a:off x="6573849" y="4626657"/>
            <a:ext cx="5177719" cy="132207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Create dropdown menus with the &lt;select&gt; tag. Each option is defined with the &lt;option&gt; tag. This is useful for selecting from a list of items.</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536" y="1196752"/>
            <a:ext cx="2042939" cy="2426331"/>
          </a:xfrm>
          <a:prstGeom prst="rect">
            <a:avLst/>
          </a:prstGeom>
          <a:solidFill>
            <a:srgbClr val="000000">
              <a:alpha val="0"/>
            </a:srgbClr>
          </a:solidFill>
          <a:ln w="85725">
            <a:gradFill flip="none" rotWithShape="1">
              <a:gsLst>
                <a:gs pos="0">
                  <a:srgbClr val="C2F5E1"/>
                </a:gs>
                <a:gs pos="20000">
                  <a:srgbClr val="AAC0E5"/>
                </a:gs>
                <a:gs pos="100000">
                  <a:srgbClr val="9DB4E1"/>
                </a:gs>
              </a:gsLst>
              <a:lin ang="7200000" scaled="1"/>
            </a:gradFill>
            <a:prstDash val="solid"/>
          </a:ln>
        </p:spPr>
      </p:sp>
      <p:sp>
        <p:nvSpPr>
          <p:cNvPr id="3" name="Text 1"/>
          <p:cNvSpPr/>
          <p:nvPr/>
        </p:nvSpPr>
        <p:spPr>
          <a:xfrm>
            <a:off x="877536" y="1196752"/>
            <a:ext cx="2042939" cy="242633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8-d2nfap18bjvh7rlj0ib0.jpg"/>
          <p:cNvPicPr>
            <a:picLocks noChangeAspect="1"/>
          </p:cNvPicPr>
          <p:nvPr/>
        </p:nvPicPr>
        <p:blipFill>
          <a:blip r:embed="rId3"/>
          <a:stretch>
            <a:fillRect/>
          </a:stretch>
        </p:blipFill>
        <p:spPr>
          <a:xfrm>
            <a:off x="1224873" y="1407713"/>
            <a:ext cx="3092012" cy="4677457"/>
          </a:xfrm>
          <a:prstGeom prst="rect">
            <a:avLst/>
          </a:prstGeom>
        </p:spPr>
      </p:pic>
      <p:sp>
        <p:nvSpPr>
          <p:cNvPr id="5" name="Text 2"/>
          <p:cNvSpPr/>
          <p:nvPr/>
        </p:nvSpPr>
        <p:spPr>
          <a:xfrm>
            <a:off x="4862830" y="764540"/>
            <a:ext cx="6449060" cy="1198880"/>
          </a:xfrm>
          <a:prstGeom prst="rect">
            <a:avLst/>
          </a:prstGeom>
          <a:noFill/>
          <a:ln/>
        </p:spPr>
        <p:txBody>
          <a:bodyPr wrap="square" lIns="91440" tIns="45720" rIns="91440" bIns="45720" rtlCol="0" anchor="t">
            <a:spAutoFit/>
          </a:bodyPr>
          <a:lstStyle/>
          <a:p>
            <a:pPr algn="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Semantic HTML</a:t>
            </a:r>
            <a:endParaRPr lang="en-US" sz="1600" dirty="0"/>
          </a:p>
        </p:txBody>
      </p:sp>
      <p:sp>
        <p:nvSpPr>
          <p:cNvPr id="6" name="Text 3"/>
          <p:cNvSpPr/>
          <p:nvPr/>
        </p:nvSpPr>
        <p:spPr>
          <a:xfrm>
            <a:off x="5006070" y="2719643"/>
            <a:ext cx="6450272" cy="460375"/>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Semantic Tags</a:t>
            </a:r>
            <a:endParaRPr lang="en-US" sz="1600" dirty="0"/>
          </a:p>
        </p:txBody>
      </p:sp>
      <p:sp>
        <p:nvSpPr>
          <p:cNvPr id="7" name="Text 4"/>
          <p:cNvSpPr/>
          <p:nvPr/>
        </p:nvSpPr>
        <p:spPr>
          <a:xfrm>
            <a:off x="4742815" y="3141980"/>
            <a:ext cx="6713220" cy="119888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Semantic HTML uses tags like &lt;header&gt;, &lt;footer&gt;, &lt;nav&gt;, &lt;main&gt;, &lt;section&gt;, &lt;article&gt;, and &lt;aside&gt; to define the structure of your webpage.</a:t>
            </a:r>
            <a:endParaRPr lang="en-US" sz="1600" dirty="0"/>
          </a:p>
        </p:txBody>
      </p:sp>
      <p:sp>
        <p:nvSpPr>
          <p:cNvPr id="8" name="Text 5"/>
          <p:cNvSpPr/>
          <p:nvPr/>
        </p:nvSpPr>
        <p:spPr>
          <a:xfrm>
            <a:off x="5006070" y="4444266"/>
            <a:ext cx="6450272" cy="460375"/>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Benefits</a:t>
            </a:r>
            <a:endParaRPr lang="en-US" sz="1600" dirty="0"/>
          </a:p>
        </p:txBody>
      </p:sp>
      <p:sp>
        <p:nvSpPr>
          <p:cNvPr id="9" name="Text 6"/>
          <p:cNvSpPr/>
          <p:nvPr/>
        </p:nvSpPr>
        <p:spPr>
          <a:xfrm>
            <a:off x="4742815" y="4866640"/>
            <a:ext cx="6713220" cy="1198880"/>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Semantic HTML improves accessibility, making your webpage easier to navigate for users with disabilities. It also enhances SEO, helping search engines understand your content.</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953135"/>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Practice &amp; Resources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flip="none" rotWithShape="1">
            <a:gsLst>
              <a:gs pos="0">
                <a:srgbClr val="2F5596"/>
              </a:gs>
              <a:gs pos="56000">
                <a:srgbClr val="7095BC"/>
              </a:gs>
              <a:gs pos="91000">
                <a:srgbClr val="B0D5E1"/>
              </a:gs>
              <a:gs pos="100000">
                <a:srgbClr val="C2F5E1"/>
              </a:gs>
            </a:gsLst>
            <a:lin ang="4800000" scaled="1"/>
          </a:gradFill>
          <a:ln w="12700">
            <a:solidFill>
              <a:srgbClr val="09111E"/>
            </a:solidFill>
            <a:prstDash val="solid"/>
          </a:ln>
        </p:spPr>
      </p:sp>
      <p:sp>
        <p:nvSpPr>
          <p:cNvPr id="3" name="Text 1"/>
          <p:cNvSpPr/>
          <p:nvPr/>
        </p:nvSpPr>
        <p:spPr>
          <a:xfrm>
            <a:off x="0" y="0"/>
            <a:ext cx="12192000"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6-d2nfaoh8bjvh7rlj0i8g.png"/>
          <p:cNvPicPr>
            <a:picLocks noChangeAspect="1"/>
          </p:cNvPicPr>
          <p:nvPr/>
        </p:nvPicPr>
        <p:blipFill>
          <a:blip r:embed="rId3">
            <a:alphaModFix amt="72000"/>
          </a:blip>
          <a:srcRect/>
          <a:stretch/>
        </p:blipFill>
        <p:spPr>
          <a:xfrm>
            <a:off x="10395" y="2348881"/>
            <a:ext cx="12181605" cy="4509120"/>
          </a:xfrm>
          <a:prstGeom prst="rect">
            <a:avLst/>
          </a:prstGeom>
        </p:spPr>
      </p:pic>
      <p:sp>
        <p:nvSpPr>
          <p:cNvPr id="5" name="Text 2"/>
          <p:cNvSpPr/>
          <p:nvPr/>
        </p:nvSpPr>
        <p:spPr>
          <a:xfrm>
            <a:off x="2111693" y="1330960"/>
            <a:ext cx="7524115" cy="2110740"/>
          </a:xfrm>
          <a:prstGeom prst="rect">
            <a:avLst/>
          </a:prstGeom>
          <a:noFill/>
          <a:ln/>
        </p:spPr>
        <p:txBody>
          <a:bodyPr wrap="square" lIns="91440" tIns="45720" rIns="91440" bIns="45720" rtlCol="0" anchor="t"/>
          <a:lstStyle/>
          <a:p>
            <a:pPr algn="ctr">
              <a:lnSpc>
                <a:spcPct val="100000"/>
              </a:lnSpc>
            </a:pPr>
            <a:r>
              <a:rPr lang="en-US" sz="3600" b="1" dirty="0">
                <a:solidFill>
                  <a:srgbClr val="FFFFFF"/>
                </a:solidFill>
                <a:latin typeface="Source Han Sans SC" pitchFamily="34" charset="0"/>
                <a:ea typeface="Source Han Sans SC" pitchFamily="34" charset="-122"/>
                <a:cs typeface="Source Han Sans SC" pitchFamily="34" charset="-120"/>
              </a:rPr>
              <a:t>Hands-On Project</a:t>
            </a:r>
            <a:endParaRPr lang="en-US" sz="1600" dirty="0"/>
          </a:p>
        </p:txBody>
      </p:sp>
      <p:sp>
        <p:nvSpPr>
          <p:cNvPr id="6" name="Shape 3"/>
          <p:cNvSpPr/>
          <p:nvPr/>
        </p:nvSpPr>
        <p:spPr>
          <a:xfrm flipV="1">
            <a:off x="4774248" y="2984252"/>
            <a:ext cx="2199005" cy="1270"/>
          </a:xfrm>
          <a:prstGeom prst="straightConnector1">
            <a:avLst/>
          </a:prstGeom>
          <a:noFill/>
          <a:ln w="15875">
            <a:solidFill>
              <a:srgbClr val="FFFFFF"/>
            </a:solidFill>
            <a:prstDash val="solid"/>
            <a:headEnd type="none"/>
            <a:tailEnd type="triangle"/>
          </a:ln>
        </p:spPr>
      </p:sp>
      <p:sp>
        <p:nvSpPr>
          <p:cNvPr id="7" name="Text 4"/>
          <p:cNvSpPr/>
          <p:nvPr/>
        </p:nvSpPr>
        <p:spPr>
          <a:xfrm>
            <a:off x="2975610" y="2204720"/>
            <a:ext cx="5796280" cy="974725"/>
          </a:xfrm>
          <a:prstGeom prst="rect">
            <a:avLst/>
          </a:prstGeom>
          <a:noFill/>
          <a:ln/>
        </p:spPr>
        <p:txBody>
          <a:bodyPr wrap="square" lIns="91440" tIns="45720" rIns="91440" bIns="45720" rtlCol="0" anchor="t"/>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Project Overview</a:t>
            </a:r>
            <a:endParaRPr lang="en-US" sz="1600" dirty="0"/>
          </a:p>
        </p:txBody>
      </p:sp>
      <p:sp>
        <p:nvSpPr>
          <p:cNvPr id="8" name="Text 5"/>
          <p:cNvSpPr/>
          <p:nvPr/>
        </p:nvSpPr>
        <p:spPr>
          <a:xfrm>
            <a:off x="1775460" y="3354705"/>
            <a:ext cx="8196580" cy="2035810"/>
          </a:xfrm>
          <a:prstGeom prst="rect">
            <a:avLst/>
          </a:prstGeom>
          <a:noFill/>
          <a:ln/>
        </p:spPr>
        <p:txBody>
          <a:bodyPr wrap="square" lIns="91440" tIns="45720" rIns="91440" bIns="45720" rtlCol="0" anchor="t"/>
          <a:lstStyle/>
          <a:p>
            <a:pPr>
              <a:lnSpc>
                <a:spcPct val="100000"/>
              </a:lnSpc>
            </a:pPr>
            <a:r>
              <a:rPr lang="en-US" sz="2000" dirty="0">
                <a:solidFill>
                  <a:srgbClr val="FFFFFF"/>
                </a:solidFill>
                <a:latin typeface="Source Han Sans SC Normal" pitchFamily="34" charset="0"/>
                <a:ea typeface="Source Han Sans SC Normal" pitchFamily="34" charset="-122"/>
                <a:cs typeface="Source Han Sans SC Normal" pitchFamily="34" charset="-120"/>
              </a:rPr>
              <a:t>Now it's time to apply what you've learned. Build a multi-section webpage with headings, paragraphs, links, lists, images, forms, and semantic layout. This hands-on project will solidify your understanding.</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0-d2nfaph8bjvh7rlj0igg.png"/>
          <p:cNvPicPr>
            <a:picLocks noChangeAspect="1"/>
          </p:cNvPicPr>
          <p:nvPr/>
        </p:nvPicPr>
        <p:blipFill>
          <a:blip r:embed="rId3"/>
          <a:srcRect r="51634"/>
          <a:stretch/>
        </p:blipFill>
        <p:spPr>
          <a:xfrm>
            <a:off x="637540" y="4911725"/>
            <a:ext cx="11061065" cy="2183765"/>
          </a:xfrm>
          <a:prstGeom prst="rect">
            <a:avLst/>
          </a:prstGeom>
        </p:spPr>
      </p:pic>
      <p:sp>
        <p:nvSpPr>
          <p:cNvPr id="3" name="Text 0"/>
          <p:cNvSpPr/>
          <p:nvPr/>
        </p:nvSpPr>
        <p:spPr>
          <a:xfrm>
            <a:off x="527685" y="617855"/>
            <a:ext cx="9599930" cy="922020"/>
          </a:xfrm>
          <a:prstGeom prst="rect">
            <a:avLst/>
          </a:prstGeom>
          <a:noFill/>
          <a:ln/>
        </p:spPr>
        <p:txBody>
          <a:bodyPr wrap="square" lIns="91440" tIns="45720" rIns="91440" bIns="45720" rtlCol="0" anchor="t">
            <a:spAutoFit/>
          </a:bodyPr>
          <a:lstStyle/>
          <a:p>
            <a:pPr>
              <a:lnSpc>
                <a:spcPct val="100000"/>
              </a:lnSpc>
            </a:pPr>
            <a:r>
              <a:rPr lang="en-US" sz="3600" b="1" dirty="0">
                <a:solidFill>
                  <a:srgbClr val="9DB4E1"/>
                </a:solidFill>
                <a:latin typeface="Source Han Sans SC" pitchFamily="34" charset="0"/>
                <a:ea typeface="Source Han Sans SC" pitchFamily="34" charset="-122"/>
                <a:cs typeface="Source Han Sans SC" pitchFamily="34" charset="-120"/>
              </a:rPr>
              <a:t>Best Practices</a:t>
            </a:r>
            <a:endParaRPr lang="en-US" sz="1600" dirty="0"/>
          </a:p>
        </p:txBody>
      </p:sp>
      <p:sp>
        <p:nvSpPr>
          <p:cNvPr id="4" name="Shape 1"/>
          <p:cNvSpPr/>
          <p:nvPr/>
        </p:nvSpPr>
        <p:spPr>
          <a:xfrm>
            <a:off x="629349" y="1499631"/>
            <a:ext cx="359844" cy="359864"/>
          </a:xfrm>
          <a:prstGeom prst="ellipse">
            <a:avLst/>
          </a:prstGeom>
          <a:solidFill>
            <a:srgbClr val="000000">
              <a:alpha val="0"/>
            </a:srgbClr>
          </a:solidFill>
          <a:ln w="107950">
            <a:solidFill>
              <a:srgbClr val="9DB4E1"/>
            </a:solidFill>
            <a:prstDash val="solid"/>
          </a:ln>
        </p:spPr>
      </p:sp>
      <p:sp>
        <p:nvSpPr>
          <p:cNvPr id="5" name="Text 2"/>
          <p:cNvSpPr/>
          <p:nvPr/>
        </p:nvSpPr>
        <p:spPr>
          <a:xfrm>
            <a:off x="629349" y="1499631"/>
            <a:ext cx="359844" cy="359864"/>
          </a:xfrm>
          <a:prstGeom prst="rect">
            <a:avLst/>
          </a:prstGeom>
          <a:noFill/>
          <a:ln/>
        </p:spPr>
        <p:txBody>
          <a:bodyPr wrap="square" lIns="0" tIns="0" rIns="0" bIns="0" rtlCol="0" anchor="ctr"/>
          <a:lstStyle/>
          <a:p>
            <a:pPr>
              <a:lnSpc>
                <a:spcPct val="100000"/>
              </a:lnSpc>
            </a:pPr>
            <a:endParaRPr lang="en-US" sz="1600" dirty="0"/>
          </a:p>
        </p:txBody>
      </p:sp>
      <p:pic>
        <p:nvPicPr>
          <p:cNvPr id="6" name="Image 1" descr="https://kimi-img.moonshot.cn/pub/slides/slides_tmpl/image/25-08-27-20:09:10-d2nfaph8bjvh7rlj0ih0.png"/>
          <p:cNvPicPr>
            <a:picLocks noChangeAspect="1"/>
          </p:cNvPicPr>
          <p:nvPr/>
        </p:nvPicPr>
        <p:blipFill>
          <a:blip r:embed="rId4"/>
          <a:stretch>
            <a:fillRect/>
          </a:stretch>
        </p:blipFill>
        <p:spPr>
          <a:xfrm>
            <a:off x="629350" y="4361149"/>
            <a:ext cx="2157390" cy="1957574"/>
          </a:xfrm>
          <a:prstGeom prst="rect">
            <a:avLst/>
          </a:prstGeom>
        </p:spPr>
      </p:pic>
      <p:sp>
        <p:nvSpPr>
          <p:cNvPr id="7" name="Shape 3"/>
          <p:cNvSpPr/>
          <p:nvPr/>
        </p:nvSpPr>
        <p:spPr>
          <a:xfrm>
            <a:off x="4367808" y="1499631"/>
            <a:ext cx="359844" cy="359864"/>
          </a:xfrm>
          <a:prstGeom prst="ellipse">
            <a:avLst/>
          </a:prstGeom>
          <a:solidFill>
            <a:srgbClr val="000000">
              <a:alpha val="0"/>
            </a:srgbClr>
          </a:solidFill>
          <a:ln w="107950">
            <a:solidFill>
              <a:srgbClr val="9DB4E1"/>
            </a:solidFill>
            <a:prstDash val="solid"/>
          </a:ln>
        </p:spPr>
      </p:sp>
      <p:sp>
        <p:nvSpPr>
          <p:cNvPr id="8" name="Text 4"/>
          <p:cNvSpPr/>
          <p:nvPr/>
        </p:nvSpPr>
        <p:spPr>
          <a:xfrm>
            <a:off x="436780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9" name="Shape 5"/>
          <p:cNvSpPr/>
          <p:nvPr/>
        </p:nvSpPr>
        <p:spPr>
          <a:xfrm>
            <a:off x="8122968" y="1499631"/>
            <a:ext cx="359844" cy="359864"/>
          </a:xfrm>
          <a:prstGeom prst="ellipse">
            <a:avLst/>
          </a:prstGeom>
          <a:solidFill>
            <a:srgbClr val="000000">
              <a:alpha val="0"/>
            </a:srgbClr>
          </a:solidFill>
          <a:ln w="107950">
            <a:solidFill>
              <a:srgbClr val="9DB4E1"/>
            </a:solidFill>
            <a:prstDash val="solid"/>
          </a:ln>
        </p:spPr>
      </p:sp>
      <p:sp>
        <p:nvSpPr>
          <p:cNvPr id="10" name="Text 6"/>
          <p:cNvSpPr/>
          <p:nvPr/>
        </p:nvSpPr>
        <p:spPr>
          <a:xfrm>
            <a:off x="8122968" y="1499631"/>
            <a:ext cx="359844" cy="359864"/>
          </a:xfrm>
          <a:prstGeom prst="rect">
            <a:avLst/>
          </a:prstGeom>
          <a:noFill/>
          <a:ln/>
        </p:spPr>
        <p:txBody>
          <a:bodyPr wrap="square" lIns="0" tIns="0" rIns="0" bIns="0" rtlCol="0" anchor="ctr"/>
          <a:lstStyle/>
          <a:p>
            <a:pPr>
              <a:lnSpc>
                <a:spcPct val="100000"/>
              </a:lnSpc>
            </a:pPr>
            <a:endParaRPr lang="en-US" sz="1600" dirty="0"/>
          </a:p>
        </p:txBody>
      </p:sp>
      <p:sp>
        <p:nvSpPr>
          <p:cNvPr id="11" name="Text 7"/>
          <p:cNvSpPr/>
          <p:nvPr/>
        </p:nvSpPr>
        <p:spPr>
          <a:xfrm>
            <a:off x="623392"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Use Semantic Tags</a:t>
            </a:r>
            <a:endParaRPr lang="en-US" sz="1600" dirty="0"/>
          </a:p>
        </p:txBody>
      </p:sp>
      <p:sp>
        <p:nvSpPr>
          <p:cNvPr id="12" name="Text 8"/>
          <p:cNvSpPr/>
          <p:nvPr/>
        </p:nvSpPr>
        <p:spPr>
          <a:xfrm>
            <a:off x="637750"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Always use semantic HTML tags to improve the structure and accessibility of your webpage. This makes your code more readable and maintainable.</a:t>
            </a:r>
            <a:endParaRPr lang="en-US" sz="1600" dirty="0"/>
          </a:p>
        </p:txBody>
      </p:sp>
      <p:sp>
        <p:nvSpPr>
          <p:cNvPr id="13" name="Text 9"/>
          <p:cNvSpPr/>
          <p:nvPr/>
        </p:nvSpPr>
        <p:spPr>
          <a:xfrm>
            <a:off x="441133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Meaningful Alt Text</a:t>
            </a:r>
            <a:endParaRPr lang="en-US" sz="1600" dirty="0"/>
          </a:p>
        </p:txBody>
      </p:sp>
      <p:sp>
        <p:nvSpPr>
          <p:cNvPr id="14" name="Text 10"/>
          <p:cNvSpPr/>
          <p:nvPr/>
        </p:nvSpPr>
        <p:spPr>
          <a:xfrm>
            <a:off x="442568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Write descriptive alt text for images. This helps users who rely on screen readers and improves SEO by providing context for search engines.</a:t>
            </a:r>
            <a:endParaRPr lang="en-US" sz="1600" dirty="0"/>
          </a:p>
        </p:txBody>
      </p:sp>
      <p:sp>
        <p:nvSpPr>
          <p:cNvPr id="15" name="Text 11"/>
          <p:cNvSpPr/>
          <p:nvPr/>
        </p:nvSpPr>
        <p:spPr>
          <a:xfrm>
            <a:off x="8155340" y="1609265"/>
            <a:ext cx="3542747" cy="829945"/>
          </a:xfrm>
          <a:prstGeom prst="rect">
            <a:avLst/>
          </a:prstGeom>
          <a:noFill/>
          <a:ln/>
        </p:spPr>
        <p:txBody>
          <a:bodyPr wrap="square" lIns="91440" tIns="45720" rIns="91440" bIns="45720" rtlCol="0" anchor="t">
            <a:spAutoFit/>
          </a:bodyP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Clean Code</a:t>
            </a:r>
            <a:endParaRPr lang="en-US" sz="1600" dirty="0"/>
          </a:p>
        </p:txBody>
      </p:sp>
      <p:sp>
        <p:nvSpPr>
          <p:cNvPr id="16" name="Text 12"/>
          <p:cNvSpPr/>
          <p:nvPr/>
        </p:nvSpPr>
        <p:spPr>
          <a:xfrm>
            <a:off x="8169698" y="2405563"/>
            <a:ext cx="3384373" cy="2061210"/>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Keep your code clean and well-indented. This makes it easier to read and debug. Test your webpage in multiple browsers to ensure compatibility.</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alpha val="40000"/>
          </a:srgbClr>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d0.png"/>
          <p:cNvPicPr>
            <a:picLocks noChangeAspect="1"/>
          </p:cNvPicPr>
          <p:nvPr/>
        </p:nvPicPr>
        <p:blipFill>
          <a:blip r:embed="rId3"/>
          <a:srcRect t="35461"/>
          <a:stretch/>
        </p:blipFill>
        <p:spPr>
          <a:xfrm>
            <a:off x="-957580" y="1616075"/>
            <a:ext cx="14110335" cy="5241925"/>
          </a:xfrm>
          <a:prstGeom prst="rect">
            <a:avLst/>
          </a:prstGeom>
        </p:spPr>
      </p:pic>
      <p:sp>
        <p:nvSpPr>
          <p:cNvPr id="3" name="Text 0"/>
          <p:cNvSpPr/>
          <p:nvPr/>
        </p:nvSpPr>
        <p:spPr>
          <a:xfrm>
            <a:off x="686435" y="620713"/>
            <a:ext cx="10944225" cy="645160"/>
          </a:xfrm>
          <a:prstGeom prst="rect">
            <a:avLst/>
          </a:prstGeom>
          <a:noFill/>
          <a:ln/>
        </p:spPr>
        <p:txBody>
          <a:bodyPr wrap="square" lIns="91440" tIns="45720" rIns="91440" bIns="45720" rtlCol="0" anchor="ctr">
            <a:spAutoFit/>
          </a:bodyPr>
          <a:lstStyle/>
          <a:p>
            <a:pPr algn="ctr">
              <a:lnSpc>
                <a:spcPct val="100000"/>
              </a:lnSpc>
            </a:pPr>
            <a:r>
              <a:rPr lang="en-US" sz="3600" dirty="0">
                <a:solidFill>
                  <a:srgbClr val="000000"/>
                </a:solidFill>
                <a:latin typeface="Source Han Sans SC Medium" pitchFamily="34" charset="0"/>
                <a:ea typeface="Source Han Sans SC Medium" pitchFamily="34" charset="-122"/>
                <a:cs typeface="Source Han Sans SC Medium" pitchFamily="34" charset="-120"/>
              </a:rPr>
              <a:t>Further Learning Resources</a:t>
            </a:r>
            <a:endParaRPr lang="en-US" sz="1600" dirty="0"/>
          </a:p>
        </p:txBody>
      </p:sp>
      <p:pic>
        <p:nvPicPr>
          <p:cNvPr id="4" name="Image 1" descr="https://kimi-img.moonshot.cn/pub/slides/slides_tmpl/image/25-08-27-20:09:09-d2nfap98bjvh7rlj0idg.jpg"/>
          <p:cNvPicPr>
            <a:picLocks noChangeAspect="1"/>
          </p:cNvPicPr>
          <p:nvPr/>
        </p:nvPicPr>
        <p:blipFill>
          <a:blip r:embed="rId4"/>
          <a:srcRect/>
          <a:stretch/>
        </p:blipFill>
        <p:spPr>
          <a:xfrm>
            <a:off x="2961045" y="2195814"/>
            <a:ext cx="2989665" cy="1549147"/>
          </a:xfrm>
          <a:prstGeom prst="rect">
            <a:avLst/>
          </a:prstGeom>
        </p:spPr>
      </p:pic>
      <p:sp>
        <p:nvSpPr>
          <p:cNvPr id="5" name="Shape 1"/>
          <p:cNvSpPr/>
          <p:nvPr/>
        </p:nvSpPr>
        <p:spPr>
          <a:xfrm>
            <a:off x="728892" y="4079855"/>
            <a:ext cx="270304" cy="270319"/>
          </a:xfrm>
          <a:prstGeom prst="ellipse">
            <a:avLst/>
          </a:prstGeom>
          <a:solidFill>
            <a:srgbClr val="000000">
              <a:alpha val="0"/>
            </a:srgbClr>
          </a:solidFill>
          <a:ln w="92075">
            <a:solidFill>
              <a:srgbClr val="9DB4E1"/>
            </a:solidFill>
            <a:prstDash val="solid"/>
          </a:ln>
        </p:spPr>
      </p:sp>
      <p:sp>
        <p:nvSpPr>
          <p:cNvPr id="6" name="Text 2"/>
          <p:cNvSpPr/>
          <p:nvPr/>
        </p:nvSpPr>
        <p:spPr>
          <a:xfrm>
            <a:off x="728892" y="4079855"/>
            <a:ext cx="270304" cy="270319"/>
          </a:xfrm>
          <a:prstGeom prst="rect">
            <a:avLst/>
          </a:prstGeom>
          <a:noFill/>
          <a:ln/>
        </p:spPr>
        <p:txBody>
          <a:bodyPr wrap="square" lIns="0" tIns="0" rIns="0" bIns="0" rtlCol="0" anchor="ctr"/>
          <a:lstStyle/>
          <a:p>
            <a:pPr>
              <a:lnSpc>
                <a:spcPct val="100000"/>
              </a:lnSpc>
            </a:pPr>
            <a:endParaRPr lang="en-US" sz="1600" dirty="0"/>
          </a:p>
        </p:txBody>
      </p:sp>
      <p:sp>
        <p:nvSpPr>
          <p:cNvPr id="7" name="Shape 3"/>
          <p:cNvSpPr/>
          <p:nvPr/>
        </p:nvSpPr>
        <p:spPr>
          <a:xfrm>
            <a:off x="6474237" y="4079855"/>
            <a:ext cx="270304" cy="270319"/>
          </a:xfrm>
          <a:prstGeom prst="ellipse">
            <a:avLst/>
          </a:prstGeom>
          <a:solidFill>
            <a:srgbClr val="000000">
              <a:alpha val="0"/>
            </a:srgbClr>
          </a:solidFill>
          <a:ln w="92075">
            <a:solidFill>
              <a:srgbClr val="9DB4E1"/>
            </a:solidFill>
            <a:prstDash val="solid"/>
          </a:ln>
        </p:spPr>
      </p:sp>
      <p:sp>
        <p:nvSpPr>
          <p:cNvPr id="8" name="Text 4"/>
          <p:cNvSpPr/>
          <p:nvPr/>
        </p:nvSpPr>
        <p:spPr>
          <a:xfrm>
            <a:off x="6474237" y="4079855"/>
            <a:ext cx="270304" cy="270319"/>
          </a:xfrm>
          <a:prstGeom prst="rect">
            <a:avLst/>
          </a:prstGeom>
          <a:noFill/>
          <a:ln/>
        </p:spPr>
        <p:txBody>
          <a:bodyPr wrap="square" lIns="0" tIns="0" rIns="0" bIns="0" rtlCol="0" anchor="ctr"/>
          <a:lstStyle/>
          <a:p>
            <a:pPr>
              <a:lnSpc>
                <a:spcPct val="100000"/>
              </a:lnSpc>
            </a:pPr>
            <a:endParaRPr lang="en-US" sz="1600" dirty="0"/>
          </a:p>
        </p:txBody>
      </p:sp>
      <p:pic>
        <p:nvPicPr>
          <p:cNvPr id="9" name="Image 2" descr="https://kimi-img.moonshot.cn/pub/slides/slides_tmpl/image/25-08-27-20:09:09-d2nfap98bjvh7rlj0ie0.jpg"/>
          <p:cNvPicPr>
            <a:picLocks noChangeAspect="1"/>
          </p:cNvPicPr>
          <p:nvPr/>
        </p:nvPicPr>
        <p:blipFill>
          <a:blip r:embed="rId5"/>
          <a:srcRect/>
          <a:stretch/>
        </p:blipFill>
        <p:spPr>
          <a:xfrm>
            <a:off x="8986337" y="2188285"/>
            <a:ext cx="2613513" cy="1530702"/>
          </a:xfrm>
          <a:prstGeom prst="rect">
            <a:avLst/>
          </a:prstGeom>
        </p:spPr>
      </p:pic>
      <p:pic>
        <p:nvPicPr>
          <p:cNvPr id="10" name="Image 3" descr="https://kimi-img.moonshot.cn/pub/slides/slides_tmpl/image/25-08-27-20:09:09-d2nfap98bjvh7rlj0ifg.jpg"/>
          <p:cNvPicPr>
            <a:picLocks noChangeAspect="1"/>
          </p:cNvPicPr>
          <p:nvPr/>
        </p:nvPicPr>
        <p:blipFill>
          <a:blip r:embed="rId6"/>
          <a:srcRect/>
          <a:stretch/>
        </p:blipFill>
        <p:spPr>
          <a:xfrm>
            <a:off x="6159291" y="2182214"/>
            <a:ext cx="2599731" cy="1522629"/>
          </a:xfrm>
          <a:prstGeom prst="rect">
            <a:avLst/>
          </a:prstGeom>
        </p:spPr>
      </p:pic>
      <p:pic>
        <p:nvPicPr>
          <p:cNvPr id="11" name="Image 4" descr="https://kimi-img.moonshot.cn/pub/slides/slides_tmpl/image/25-08-27-20:09:09-d2nfap98bjvh7rlj0if0.jpg"/>
          <p:cNvPicPr>
            <a:picLocks noChangeAspect="1"/>
          </p:cNvPicPr>
          <p:nvPr/>
        </p:nvPicPr>
        <p:blipFill>
          <a:blip r:embed="rId7"/>
          <a:srcRect/>
          <a:stretch/>
        </p:blipFill>
        <p:spPr>
          <a:xfrm>
            <a:off x="478102" y="2199944"/>
            <a:ext cx="2274362" cy="1556154"/>
          </a:xfrm>
          <a:prstGeom prst="rect">
            <a:avLst/>
          </a:prstGeom>
        </p:spPr>
      </p:pic>
      <p:sp>
        <p:nvSpPr>
          <p:cNvPr id="12" name="Text 5"/>
          <p:cNvSpPr/>
          <p:nvPr/>
        </p:nvSpPr>
        <p:spPr>
          <a:xfrm>
            <a:off x="-96688" y="4140646"/>
            <a:ext cx="6482735" cy="521970"/>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MDN Web Docs</a:t>
            </a:r>
            <a:endParaRPr lang="en-US" sz="1600" dirty="0"/>
          </a:p>
        </p:txBody>
      </p:sp>
      <p:sp>
        <p:nvSpPr>
          <p:cNvPr id="13" name="Text 6"/>
          <p:cNvSpPr/>
          <p:nvPr/>
        </p:nvSpPr>
        <p:spPr>
          <a:xfrm>
            <a:off x="388566" y="4737408"/>
            <a:ext cx="5512227"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For comprehensive HTML documentation, visit MDN Web Docs. It provides detailed guides, examples, and best practices for web development.</a:t>
            </a:r>
            <a:endParaRPr lang="en-US" sz="1600" dirty="0"/>
          </a:p>
        </p:txBody>
      </p:sp>
      <p:sp>
        <p:nvSpPr>
          <p:cNvPr id="14" name="Text 7"/>
          <p:cNvSpPr/>
          <p:nvPr/>
        </p:nvSpPr>
        <p:spPr>
          <a:xfrm>
            <a:off x="5640084" y="4140646"/>
            <a:ext cx="6482735" cy="521970"/>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Practice Platforms</a:t>
            </a:r>
            <a:endParaRPr lang="en-US" sz="1600" dirty="0"/>
          </a:p>
        </p:txBody>
      </p:sp>
      <p:sp>
        <p:nvSpPr>
          <p:cNvPr id="15" name="Text 8"/>
          <p:cNvSpPr/>
          <p:nvPr/>
        </p:nvSpPr>
        <p:spPr>
          <a:xfrm>
            <a:off x="6125338" y="4737408"/>
            <a:ext cx="5512227" cy="147637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Practice your HTML skills on CodePen and JSFiddle. These platforms allow you to experiment with code and see the results in real-time.</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941127"/>
          </a:xfrm>
          <a:prstGeom prst="rect">
            <a:avLst/>
          </a:prstGeom>
          <a:solidFill>
            <a:srgbClr val="161616"/>
          </a:solidFill>
          <a:ln/>
        </p:spPr>
      </p:sp>
      <p:sp>
        <p:nvSpPr>
          <p:cNvPr id="3" name="Text 1"/>
          <p:cNvSpPr/>
          <p:nvPr/>
        </p:nvSpPr>
        <p:spPr>
          <a:xfrm>
            <a:off x="0" y="0"/>
            <a:ext cx="12192000" cy="6941127"/>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s0.jpeg"/>
          <p:cNvPicPr>
            <a:picLocks noChangeAspect="1"/>
          </p:cNvPicPr>
          <p:nvPr/>
        </p:nvPicPr>
        <p:blipFill>
          <a:blip r:embed="rId3"/>
          <a:stretch>
            <a:fillRect/>
          </a:stretch>
        </p:blipFill>
        <p:spPr>
          <a:xfrm>
            <a:off x="4388617" y="1561401"/>
            <a:ext cx="4553512" cy="3552547"/>
          </a:xfrm>
          <a:prstGeom prst="rect">
            <a:avLst/>
          </a:prstGeom>
        </p:spPr>
      </p:pic>
      <p:pic>
        <p:nvPicPr>
          <p:cNvPr id="5" name="Image 1" descr="https://kimi-img.moonshot.cn/pub/slides/slides_tmpl/image/25-08-27-20:09:12-d2nfaq18bjvh7rlj0isg.jpeg"/>
          <p:cNvPicPr>
            <a:picLocks noChangeAspect="1"/>
          </p:cNvPicPr>
          <p:nvPr/>
        </p:nvPicPr>
        <p:blipFill>
          <a:blip r:embed="rId4"/>
          <a:srcRect/>
          <a:stretch/>
        </p:blipFill>
        <p:spPr>
          <a:xfrm>
            <a:off x="9103121" y="1561401"/>
            <a:ext cx="2434092" cy="2408626"/>
          </a:xfrm>
          <a:prstGeom prst="rect">
            <a:avLst/>
          </a:prstGeom>
        </p:spPr>
      </p:pic>
      <p:sp>
        <p:nvSpPr>
          <p:cNvPr id="6" name="Shape 2"/>
          <p:cNvSpPr/>
          <p:nvPr/>
        </p:nvSpPr>
        <p:spPr>
          <a:xfrm>
            <a:off x="1884213" y="3119957"/>
            <a:ext cx="363255" cy="363255"/>
          </a:xfrm>
          <a:prstGeom prst="ellipse">
            <a:avLst/>
          </a:prstGeom>
          <a:solidFill>
            <a:srgbClr val="000000">
              <a:alpha val="0"/>
            </a:srgbClr>
          </a:solidFill>
          <a:ln w="19050">
            <a:solidFill>
              <a:srgbClr val="FFFFFF"/>
            </a:solidFill>
            <a:prstDash val="solid"/>
          </a:ln>
        </p:spPr>
      </p:sp>
      <p:sp>
        <p:nvSpPr>
          <p:cNvPr id="7" name="Text 3"/>
          <p:cNvSpPr/>
          <p:nvPr/>
        </p:nvSpPr>
        <p:spPr>
          <a:xfrm>
            <a:off x="1884213" y="3119957"/>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2147610" y="3138745"/>
            <a:ext cx="325677" cy="325677"/>
          </a:xfrm>
          <a:prstGeom prst="ellipse">
            <a:avLst/>
          </a:prstGeom>
          <a:solidFill>
            <a:srgbClr val="C2F4E0"/>
          </a:solidFill>
          <a:ln/>
        </p:spPr>
      </p:sp>
      <p:sp>
        <p:nvSpPr>
          <p:cNvPr id="9" name="Text 5"/>
          <p:cNvSpPr/>
          <p:nvPr/>
        </p:nvSpPr>
        <p:spPr>
          <a:xfrm>
            <a:off x="2147610" y="3138745"/>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2209989" y="3287890"/>
            <a:ext cx="225819" cy="1819"/>
          </a:xfrm>
          <a:prstGeom prst="straightConnector1">
            <a:avLst/>
          </a:prstGeom>
          <a:noFill/>
          <a:ln w="12700">
            <a:solidFill>
              <a:srgbClr val="262626"/>
            </a:solidFill>
            <a:prstDash val="solid"/>
            <a:headEnd type="none"/>
            <a:tailEnd type="triangle"/>
          </a:ln>
        </p:spPr>
      </p:sp>
      <p:pic>
        <p:nvPicPr>
          <p:cNvPr id="11" name="Image 2" descr="https://kimi-img.moonshot.cn/pub/slides/slides_tmpl/image/25-08-27-20:09:13-d2nfaq98bjvh7rlj0it0.png"/>
          <p:cNvPicPr>
            <a:picLocks noChangeAspect="1"/>
          </p:cNvPicPr>
          <p:nvPr/>
        </p:nvPicPr>
        <p:blipFill>
          <a:blip r:embed="rId5"/>
          <a:srcRect r="29701" b="29746"/>
          <a:stretch/>
        </p:blipFill>
        <p:spPr>
          <a:xfrm>
            <a:off x="654685" y="1670685"/>
            <a:ext cx="8178063" cy="3702743"/>
          </a:xfrm>
          <a:prstGeom prst="rect">
            <a:avLst/>
          </a:prstGeom>
        </p:spPr>
      </p:pic>
      <p:sp>
        <p:nvSpPr>
          <p:cNvPr id="12" name="Text 7"/>
          <p:cNvSpPr/>
          <p:nvPr/>
        </p:nvSpPr>
        <p:spPr>
          <a:xfrm>
            <a:off x="524237" y="5373975"/>
            <a:ext cx="2254685" cy="398780"/>
          </a:xfrm>
          <a:prstGeom prst="rect">
            <a:avLst/>
          </a:prstGeom>
          <a:noFill/>
          <a:ln/>
        </p:spPr>
        <p:txBody>
          <a:bodyPr wrap="square" lIns="91440" tIns="45720" rIns="91440" bIns="45720" rtlCol="0" anchor="t">
            <a:spAutoFit/>
          </a:bodyPr>
          <a:lstStyle/>
          <a:p>
            <a:pPr>
              <a:lnSpc>
                <a:spcPct val="100000"/>
              </a:lnSpc>
            </a:pPr>
            <a:r>
              <a:rPr lang="en-US" sz="200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13" name="Text 8"/>
          <p:cNvSpPr/>
          <p:nvPr/>
        </p:nvSpPr>
        <p:spPr>
          <a:xfrm>
            <a:off x="548274" y="5750335"/>
            <a:ext cx="4323764" cy="39878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1174</Words>
  <Application>Microsoft Office PowerPoint</Application>
  <PresentationFormat>Widescreen</PresentationFormat>
  <Paragraphs>111</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Source Han Sans SC</vt:lpstr>
      <vt:lpstr>Source Han Sans SC Bold</vt:lpstr>
      <vt:lpstr>Source Han Sans SC Light</vt:lpstr>
      <vt:lpstr>Source Han Sans SC Medium</vt:lpstr>
      <vt:lpstr>Source Han Sans SC Normal</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Crash Course – 1 Day</dc:title>
  <dc:subject>HTML Crash Course – 1 Day</dc:subject>
  <dc:creator>Kimi</dc:creator>
  <cp:lastModifiedBy>Sean</cp:lastModifiedBy>
  <cp:revision>2</cp:revision>
  <dcterms:created xsi:type="dcterms:W3CDTF">2025-12-04T23:40:30Z</dcterms:created>
  <dcterms:modified xsi:type="dcterms:W3CDTF">2025-12-04T23:40:54Z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{"Label":"HTML Crash Course – 1 Day","ContentProducer":"001191110108MACG2KBH8F10000","ProduceID":"d4p1mtd3v89vc8jv1o4g","ReservedCode1":"","ContentPropagator":"001191110108MACG2KBH8F20000","PropagateID":"d4p1mtd3v89vc8jv1o4g","ReservedCode2":""}</vt:lpwstr>
  </property>
</Properties>
</file>