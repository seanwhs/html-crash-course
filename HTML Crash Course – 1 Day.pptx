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6"/>
  </p:notesMasterIdLst>
  <p:sldIdLst>
    <p:sldId id="256" r:id="rId2"/>
    <p:sldId id="257" r:id="rId3"/>
    <p:sldId id="258" r:id="rId4"/>
    <p:sldId id="259" r:id="rId5"/>
    <p:sldId id="260" r:id="rId6"/>
    <p:sldId id="261" r:id="rId7"/>
    <p:sldId id="275" r:id="rId8"/>
    <p:sldId id="276" r:id="rId9"/>
    <p:sldId id="285" r:id="rId10"/>
    <p:sldId id="262" r:id="rId11"/>
    <p:sldId id="277" r:id="rId12"/>
    <p:sldId id="263" r:id="rId13"/>
    <p:sldId id="278" r:id="rId14"/>
    <p:sldId id="279" r:id="rId15"/>
    <p:sldId id="280" r:id="rId16"/>
    <p:sldId id="281" r:id="rId17"/>
    <p:sldId id="282" r:id="rId18"/>
    <p:sldId id="264" r:id="rId19"/>
    <p:sldId id="286" r:id="rId20"/>
    <p:sldId id="287" r:id="rId21"/>
    <p:sldId id="283" r:id="rId22"/>
    <p:sldId id="284" r:id="rId23"/>
    <p:sldId id="265" r:id="rId24"/>
    <p:sldId id="316" r:id="rId25"/>
    <p:sldId id="317" r:id="rId26"/>
    <p:sldId id="318" r:id="rId27"/>
    <p:sldId id="266" r:id="rId28"/>
    <p:sldId id="267" r:id="rId29"/>
    <p:sldId id="305" r:id="rId30"/>
    <p:sldId id="306" r:id="rId31"/>
    <p:sldId id="307" r:id="rId32"/>
    <p:sldId id="308" r:id="rId33"/>
    <p:sldId id="309" r:id="rId34"/>
    <p:sldId id="310" r:id="rId35"/>
    <p:sldId id="311" r:id="rId36"/>
    <p:sldId id="312" r:id="rId37"/>
    <p:sldId id="313" r:id="rId38"/>
    <p:sldId id="314" r:id="rId39"/>
    <p:sldId id="315" r:id="rId40"/>
    <p:sldId id="268"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269" r:id="rId59"/>
    <p:sldId id="319" r:id="rId60"/>
    <p:sldId id="270" r:id="rId61"/>
    <p:sldId id="271" r:id="rId62"/>
    <p:sldId id="272" r:id="rId63"/>
    <p:sldId id="273" r:id="rId64"/>
    <p:sldId id="274" r:id="rId65"/>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02578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7.jpg"/><Relationship Id="rId5" Type="http://schemas.openxmlformats.org/officeDocument/2006/relationships/image" Target="../media/image16.jpg"/><Relationship Id="rId4"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3" Type="http://schemas.openxmlformats.org/officeDocument/2006/relationships/image" Target="../media/image22.jpg"/><Relationship Id="rId7"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63.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0.jp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9.jpg"/><Relationship Id="rId5" Type="http://schemas.openxmlformats.org/officeDocument/2006/relationships/image" Target="../media/image38.jpg"/><Relationship Id="rId4" Type="http://schemas.openxmlformats.org/officeDocument/2006/relationships/image" Target="../media/image37.jpg"/></Relationships>
</file>

<file path=ppt/slides/_rels/slide64.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43.png"/><Relationship Id="rId4" Type="http://schemas.openxmlformats.org/officeDocument/2006/relationships/image" Target="../media/image42.jpe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https://kimi-img.moonshot.cn/pub/slides/slides_tmpl/image/25-08-27-20:09:09-d2nfap98bjvh7rlj0ieg.jpg"/>
          <p:cNvPicPr>
            <a:picLocks noChangeAspect="1"/>
          </p:cNvPicPr>
          <p:nvPr/>
        </p:nvPicPr>
        <p:blipFill>
          <a:blip r:embed="rId3"/>
          <a:srcRect/>
          <a:stretch/>
        </p:blipFill>
        <p:spPr>
          <a:xfrm rot="5400000">
            <a:off x="3017799" y="-3017800"/>
            <a:ext cx="6156401" cy="12192000"/>
          </a:xfrm>
          <a:prstGeom prst="rect">
            <a:avLst/>
          </a:prstGeom>
        </p:spPr>
      </p:pic>
      <p:sp>
        <p:nvSpPr>
          <p:cNvPr id="3" name="Shape 0"/>
          <p:cNvSpPr/>
          <p:nvPr/>
        </p:nvSpPr>
        <p:spPr>
          <a:xfrm>
            <a:off x="0" y="4609578"/>
            <a:ext cx="12192000" cy="2357278"/>
          </a:xfrm>
          <a:prstGeom prst="rect">
            <a:avLst/>
          </a:prstGeom>
          <a:solidFill>
            <a:srgbClr val="161616"/>
          </a:solidFill>
          <a:ln w="12700">
            <a:solidFill>
              <a:srgbClr val="09111E"/>
            </a:solidFill>
            <a:prstDash val="solid"/>
          </a:ln>
        </p:spPr>
      </p:sp>
      <p:sp>
        <p:nvSpPr>
          <p:cNvPr id="4" name="Text 1"/>
          <p:cNvSpPr/>
          <p:nvPr/>
        </p:nvSpPr>
        <p:spPr>
          <a:xfrm>
            <a:off x="0" y="4609578"/>
            <a:ext cx="12192000" cy="2357278"/>
          </a:xfrm>
          <a:prstGeom prst="rect">
            <a:avLst/>
          </a:prstGeom>
          <a:noFill/>
          <a:ln/>
        </p:spPr>
        <p:txBody>
          <a:bodyPr wrap="square" lIns="45720" tIns="91440" rIns="91440" bIns="45720" rtlCol="0" anchor="ctr"/>
          <a:lstStyle/>
          <a:p>
            <a:pPr>
              <a:lnSpc>
                <a:spcPct val="100000"/>
              </a:lnSpc>
            </a:pPr>
            <a:endParaRPr lang="en-US" sz="1600" dirty="0"/>
          </a:p>
        </p:txBody>
      </p:sp>
      <p:sp>
        <p:nvSpPr>
          <p:cNvPr id="5" name="Text 2"/>
          <p:cNvSpPr/>
          <p:nvPr/>
        </p:nvSpPr>
        <p:spPr>
          <a:xfrm>
            <a:off x="930466" y="5184885"/>
            <a:ext cx="6077403" cy="1409700"/>
          </a:xfrm>
          <a:prstGeom prst="rect">
            <a:avLst/>
          </a:prstGeom>
          <a:noFill/>
          <a:ln/>
        </p:spPr>
        <p:txBody>
          <a:bodyPr wrap="square" lIns="91440" tIns="45720" rIns="91440" bIns="45720" rtlCol="0" anchor="t">
            <a:spAutoFit/>
          </a:bodyPr>
          <a:lstStyle/>
          <a:p>
            <a:pPr>
              <a:lnSpc>
                <a:spcPct val="100000"/>
              </a:lnSpc>
            </a:pPr>
            <a:r>
              <a:rPr lang="en-US" sz="4000" dirty="0">
                <a:solidFill>
                  <a:srgbClr val="FFFFFF"/>
                </a:solidFill>
                <a:latin typeface="Source Han Sans SC Medium" pitchFamily="34" charset="0"/>
                <a:ea typeface="Source Han Sans SC Medium" pitchFamily="34" charset="-122"/>
                <a:cs typeface="Source Han Sans SC Medium" pitchFamily="34" charset="-120"/>
              </a:rPr>
              <a:t>HTML Crash Course – 1 Day</a:t>
            </a:r>
            <a:endParaRPr lang="en-US" sz="1600" dirty="0"/>
          </a:p>
        </p:txBody>
      </p:sp>
      <p:sp>
        <p:nvSpPr>
          <p:cNvPr id="6" name="Text 3"/>
          <p:cNvSpPr/>
          <p:nvPr/>
        </p:nvSpPr>
        <p:spPr>
          <a:xfrm>
            <a:off x="7959231" y="5662019"/>
            <a:ext cx="2254685" cy="400110"/>
          </a:xfrm>
          <a:prstGeom prst="rect">
            <a:avLst/>
          </a:prstGeom>
          <a:noFill/>
          <a:ln/>
        </p:spPr>
        <p:txBody>
          <a:bodyPr wrap="square" lIns="91440" tIns="45720" rIns="91440" bIns="45720" rtlCol="0" anchor="t">
            <a:spAutoFit/>
          </a:bodyPr>
          <a:lstStyle/>
          <a:p>
            <a:pPr>
              <a:lnSpc>
                <a:spcPct val="100000"/>
              </a:lnSpc>
            </a:pPr>
            <a:r>
              <a:rPr lang="en-US" sz="2000" dirty="0">
                <a:solidFill>
                  <a:srgbClr val="FFFFFF"/>
                </a:solidFill>
                <a:latin typeface="Source Han Sans SC" pitchFamily="34" charset="0"/>
                <a:ea typeface="Source Han Sans SC" pitchFamily="34" charset="-122"/>
                <a:cs typeface="Source Han Sans SC" pitchFamily="34" charset="-120"/>
              </a:rPr>
              <a:t>Sean Wong</a:t>
            </a:r>
            <a:endParaRPr lang="en-US" sz="1600" dirty="0"/>
          </a:p>
        </p:txBody>
      </p:sp>
      <p:sp>
        <p:nvSpPr>
          <p:cNvPr id="7" name="Text 4"/>
          <p:cNvSpPr/>
          <p:nvPr/>
        </p:nvSpPr>
        <p:spPr>
          <a:xfrm>
            <a:off x="7983268" y="6038379"/>
            <a:ext cx="4208732" cy="340717"/>
          </a:xfrm>
          <a:prstGeom prst="rect">
            <a:avLst/>
          </a:prstGeom>
          <a:noFill/>
          <a:ln/>
        </p:spPr>
        <p:txBody>
          <a:bodyPr wrap="square" lIns="91440" tIns="45720" rIns="91440" bIns="45720" rtlCol="0" anchor="t">
            <a:spAutoFit/>
          </a:bodyPr>
          <a:lstStyle/>
          <a:p>
            <a:pPr>
              <a:lnSpc>
                <a:spcPct val="100000"/>
              </a:lnSpc>
            </a:pPr>
            <a:r>
              <a:rPr lang="en-US" sz="2000" dirty="0">
                <a:solidFill>
                  <a:srgbClr val="FFFFFF"/>
                </a:solidFill>
                <a:latin typeface="Source Han Sans SC" pitchFamily="34" charset="0"/>
                <a:ea typeface="Source Han Sans SC" pitchFamily="34" charset="-122"/>
                <a:cs typeface="Source Han Sans SC" pitchFamily="34" charset="-120"/>
              </a:rPr>
              <a:t>2025/08/04</a:t>
            </a:r>
            <a:endParaRPr lang="en-US" sz="1600" dirty="0"/>
          </a:p>
        </p:txBody>
      </p:sp>
      <p:pic>
        <p:nvPicPr>
          <p:cNvPr id="8" name="Image 1" descr="https://kimi-img.moonshot.cn/pub/slides/slides_tmpl/image/25-08-27-20:09:02-d2nfanh8bjvh7rlj0hvg.png"/>
          <p:cNvPicPr>
            <a:picLocks noChangeAspect="1"/>
          </p:cNvPicPr>
          <p:nvPr/>
        </p:nvPicPr>
        <p:blipFill>
          <a:blip r:embed="rId4"/>
          <a:stretch>
            <a:fillRect/>
          </a:stretch>
        </p:blipFill>
        <p:spPr>
          <a:xfrm>
            <a:off x="10528741" y="5110209"/>
            <a:ext cx="1323439" cy="1323439"/>
          </a:xfrm>
          <a:prstGeom prst="rect">
            <a:avLst/>
          </a:prstGeom>
        </p:spPr>
      </p:pic>
      <p:pic>
        <p:nvPicPr>
          <p:cNvPr id="9" name="Image 2" descr="https://kimi-img.moonshot.cn/pub/slides/slides_tmpl/image/25-08-27-20:09:02-d2nfanh8bjvh7rlj0hu0.png"/>
          <p:cNvPicPr>
            <a:picLocks noChangeAspect="1"/>
          </p:cNvPicPr>
          <p:nvPr/>
        </p:nvPicPr>
        <p:blipFill>
          <a:blip r:embed="rId5"/>
          <a:stretch>
            <a:fillRect/>
          </a:stretch>
        </p:blipFill>
        <p:spPr>
          <a:xfrm>
            <a:off x="411387" y="5136798"/>
            <a:ext cx="463139" cy="463139"/>
          </a:xfrm>
          <a:prstGeom prst="rect">
            <a:avLst/>
          </a:prstGeom>
        </p:spPr>
      </p:pic>
      <p:pic>
        <p:nvPicPr>
          <p:cNvPr id="10" name="Image 3" descr="https://kimi-img.moonshot.cn/pub/slides/slides_tmpl/image/25-08-27-20:09:02-d2nfanh8bjvh7rlj0hug.png"/>
          <p:cNvPicPr>
            <a:picLocks noChangeAspect="1"/>
          </p:cNvPicPr>
          <p:nvPr/>
        </p:nvPicPr>
        <p:blipFill>
          <a:blip r:embed="rId6"/>
          <a:stretch>
            <a:fillRect/>
          </a:stretch>
        </p:blipFill>
        <p:spPr>
          <a:xfrm>
            <a:off x="47770" y="3069032"/>
            <a:ext cx="2420888" cy="2420888"/>
          </a:xfrm>
          <a:prstGeom prst="rect">
            <a:avLst/>
          </a:prstGeom>
        </p:spPr>
      </p:pic>
      <p:pic>
        <p:nvPicPr>
          <p:cNvPr id="11" name="Image 4" descr="https://kimi-img.moonshot.cn/pub/slides/slides_tmpl/image/25-08-27-20:09:02-d2nfanh8bjvh7rlj0hv0.png"/>
          <p:cNvPicPr>
            <a:picLocks noChangeAspect="1"/>
          </p:cNvPicPr>
          <p:nvPr/>
        </p:nvPicPr>
        <p:blipFill>
          <a:blip r:embed="rId7"/>
          <a:stretch>
            <a:fillRect/>
          </a:stretch>
        </p:blipFill>
        <p:spPr>
          <a:xfrm>
            <a:off x="8040216" y="5231637"/>
            <a:ext cx="635000" cy="368300"/>
          </a:xfrm>
          <a:prstGeom prst="rect">
            <a:avLst/>
          </a:prstGeom>
        </p:spPr>
      </p:pic>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101764" y="0"/>
            <a:ext cx="2916401" cy="6858000"/>
          </a:xfrm>
          <a:custGeom>
            <a:avLst/>
            <a:gdLst/>
            <a:ahLst/>
            <a:cxnLst/>
            <a:rect l="l" t="t" r="r" b="b"/>
            <a:pathLst>
              <a:path w="2916401" h="6858000">
                <a:moveTo>
                  <a:pt x="0" y="0"/>
                </a:moveTo>
                <a:lnTo>
                  <a:pt x="1310838" y="0"/>
                </a:lnTo>
                <a:lnTo>
                  <a:pt x="1453357" y="123454"/>
                </a:lnTo>
                <a:cubicBezTo>
                  <a:pt x="2352136" y="940343"/>
                  <a:pt x="2916401" y="2118776"/>
                  <a:pt x="2916401" y="3429000"/>
                </a:cubicBezTo>
                <a:cubicBezTo>
                  <a:pt x="2916401" y="4739224"/>
                  <a:pt x="2352136" y="5917657"/>
                  <a:pt x="1453357" y="6734546"/>
                </a:cubicBezTo>
                <a:lnTo>
                  <a:pt x="1310838" y="6858000"/>
                </a:lnTo>
                <a:lnTo>
                  <a:pt x="220806" y="6858000"/>
                </a:lnTo>
                <a:lnTo>
                  <a:pt x="224168" y="6856279"/>
                </a:lnTo>
                <a:cubicBezTo>
                  <a:pt x="1419763" y="6206792"/>
                  <a:pt x="2231395" y="4940069"/>
                  <a:pt x="2231395" y="3483779"/>
                </a:cubicBezTo>
                <a:cubicBezTo>
                  <a:pt x="2231395" y="1961294"/>
                  <a:pt x="1344301" y="646001"/>
                  <a:pt x="58792" y="26579"/>
                </a:cubicBezTo>
                <a:close/>
              </a:path>
            </a:pathLst>
          </a:custGeom>
          <a:solidFill>
            <a:srgbClr val="F3F3F7"/>
          </a:solidFill>
          <a:ln/>
        </p:spPr>
      </p:sp>
      <p:sp>
        <p:nvSpPr>
          <p:cNvPr id="3" name="Text 1"/>
          <p:cNvSpPr/>
          <p:nvPr/>
        </p:nvSpPr>
        <p:spPr>
          <a:xfrm>
            <a:off x="2101764" y="0"/>
            <a:ext cx="2916401" cy="6858000"/>
          </a:xfrm>
          <a:prstGeom prst="rect">
            <a:avLst/>
          </a:prstGeom>
          <a:noFill/>
          <a:ln/>
        </p:spPr>
        <p:txBody>
          <a:bodyPr wrap="square" lIns="45720" tIns="91440" rIns="91440" bIns="45720" rtlCol="0" anchor="ctr"/>
          <a:lstStyle/>
          <a:p>
            <a:pPr>
              <a:lnSpc>
                <a:spcPct val="100000"/>
              </a:lnSpc>
            </a:pPr>
            <a:endParaRPr lang="en-US" sz="1600" dirty="0"/>
          </a:p>
        </p:txBody>
      </p:sp>
      <p:sp>
        <p:nvSpPr>
          <p:cNvPr id="4" name="Shape 2"/>
          <p:cNvSpPr/>
          <p:nvPr/>
        </p:nvSpPr>
        <p:spPr>
          <a:xfrm>
            <a:off x="958283" y="4784098"/>
            <a:ext cx="231418" cy="231418"/>
          </a:xfrm>
          <a:prstGeom prst="rect">
            <a:avLst/>
          </a:prstGeom>
          <a:solidFill>
            <a:srgbClr val="D2F9E9"/>
          </a:solidFill>
          <a:ln/>
        </p:spPr>
      </p:sp>
      <p:sp>
        <p:nvSpPr>
          <p:cNvPr id="5" name="Text 3"/>
          <p:cNvSpPr/>
          <p:nvPr/>
        </p:nvSpPr>
        <p:spPr>
          <a:xfrm>
            <a:off x="958283" y="4784098"/>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6" name="Shape 4"/>
          <p:cNvSpPr/>
          <p:nvPr/>
        </p:nvSpPr>
        <p:spPr>
          <a:xfrm>
            <a:off x="958283" y="3070930"/>
            <a:ext cx="231418" cy="231418"/>
          </a:xfrm>
          <a:prstGeom prst="rect">
            <a:avLst/>
          </a:prstGeom>
          <a:solidFill>
            <a:srgbClr val="8FABDB"/>
          </a:solidFill>
          <a:ln/>
        </p:spPr>
      </p:sp>
      <p:sp>
        <p:nvSpPr>
          <p:cNvPr id="7" name="Text 5"/>
          <p:cNvSpPr/>
          <p:nvPr/>
        </p:nvSpPr>
        <p:spPr>
          <a:xfrm>
            <a:off x="958283" y="3070930"/>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8" name="Shape 6"/>
          <p:cNvSpPr/>
          <p:nvPr/>
        </p:nvSpPr>
        <p:spPr>
          <a:xfrm>
            <a:off x="958283" y="3508088"/>
            <a:ext cx="231418" cy="231418"/>
          </a:xfrm>
          <a:prstGeom prst="rect">
            <a:avLst/>
          </a:prstGeom>
          <a:solidFill>
            <a:srgbClr val="B3C5E6"/>
          </a:solidFill>
          <a:ln/>
        </p:spPr>
      </p:sp>
      <p:sp>
        <p:nvSpPr>
          <p:cNvPr id="9" name="Text 7"/>
          <p:cNvSpPr/>
          <p:nvPr/>
        </p:nvSpPr>
        <p:spPr>
          <a:xfrm>
            <a:off x="958283" y="3508088"/>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10" name="Shape 8"/>
          <p:cNvSpPr/>
          <p:nvPr/>
        </p:nvSpPr>
        <p:spPr>
          <a:xfrm>
            <a:off x="958283" y="3736938"/>
            <a:ext cx="231418" cy="231418"/>
          </a:xfrm>
          <a:prstGeom prst="rect">
            <a:avLst/>
          </a:prstGeom>
          <a:solidFill>
            <a:srgbClr val="B2D0E3"/>
          </a:solidFill>
          <a:ln/>
        </p:spPr>
      </p:sp>
      <p:sp>
        <p:nvSpPr>
          <p:cNvPr id="11" name="Text 9"/>
          <p:cNvSpPr/>
          <p:nvPr/>
        </p:nvSpPr>
        <p:spPr>
          <a:xfrm>
            <a:off x="958283" y="3736938"/>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12" name="Shape 10"/>
          <p:cNvSpPr/>
          <p:nvPr/>
        </p:nvSpPr>
        <p:spPr>
          <a:xfrm>
            <a:off x="958283" y="3944784"/>
            <a:ext cx="231418" cy="231418"/>
          </a:xfrm>
          <a:prstGeom prst="rect">
            <a:avLst/>
          </a:prstGeom>
          <a:solidFill>
            <a:srgbClr val="B7DBE3"/>
          </a:solidFill>
          <a:ln/>
        </p:spPr>
      </p:sp>
      <p:sp>
        <p:nvSpPr>
          <p:cNvPr id="13" name="Text 11"/>
          <p:cNvSpPr/>
          <p:nvPr/>
        </p:nvSpPr>
        <p:spPr>
          <a:xfrm>
            <a:off x="958283" y="3944784"/>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14" name="Shape 12"/>
          <p:cNvSpPr/>
          <p:nvPr/>
        </p:nvSpPr>
        <p:spPr>
          <a:xfrm>
            <a:off x="958283" y="4173384"/>
            <a:ext cx="231418" cy="231418"/>
          </a:xfrm>
          <a:prstGeom prst="rect">
            <a:avLst/>
          </a:prstGeom>
          <a:solidFill>
            <a:srgbClr val="BAE3E1"/>
          </a:solidFill>
          <a:ln/>
        </p:spPr>
      </p:sp>
      <p:sp>
        <p:nvSpPr>
          <p:cNvPr id="15" name="Text 13"/>
          <p:cNvSpPr/>
          <p:nvPr/>
        </p:nvSpPr>
        <p:spPr>
          <a:xfrm>
            <a:off x="958283" y="4173384"/>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16" name="Shape 14"/>
          <p:cNvSpPr/>
          <p:nvPr/>
        </p:nvSpPr>
        <p:spPr>
          <a:xfrm>
            <a:off x="958283" y="4372618"/>
            <a:ext cx="231418" cy="231418"/>
          </a:xfrm>
          <a:prstGeom prst="rect">
            <a:avLst/>
          </a:prstGeom>
          <a:solidFill>
            <a:srgbClr val="BEEDE1"/>
          </a:solidFill>
          <a:ln/>
        </p:spPr>
      </p:sp>
      <p:sp>
        <p:nvSpPr>
          <p:cNvPr id="17" name="Text 15"/>
          <p:cNvSpPr/>
          <p:nvPr/>
        </p:nvSpPr>
        <p:spPr>
          <a:xfrm>
            <a:off x="958283" y="4372618"/>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18" name="Shape 16"/>
          <p:cNvSpPr/>
          <p:nvPr/>
        </p:nvSpPr>
        <p:spPr>
          <a:xfrm>
            <a:off x="958283" y="4589788"/>
            <a:ext cx="231418" cy="231418"/>
          </a:xfrm>
          <a:prstGeom prst="rect">
            <a:avLst/>
          </a:prstGeom>
          <a:solidFill>
            <a:srgbClr val="C9F7E4"/>
          </a:solidFill>
          <a:ln/>
        </p:spPr>
      </p:sp>
      <p:sp>
        <p:nvSpPr>
          <p:cNvPr id="19" name="Text 17"/>
          <p:cNvSpPr/>
          <p:nvPr/>
        </p:nvSpPr>
        <p:spPr>
          <a:xfrm>
            <a:off x="958283" y="4589788"/>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20" name="Shape 18"/>
          <p:cNvSpPr/>
          <p:nvPr/>
        </p:nvSpPr>
        <p:spPr>
          <a:xfrm>
            <a:off x="958283" y="5001268"/>
            <a:ext cx="231418" cy="231418"/>
          </a:xfrm>
          <a:prstGeom prst="rect">
            <a:avLst/>
          </a:prstGeom>
          <a:solidFill>
            <a:srgbClr val="DEFAEF"/>
          </a:solidFill>
          <a:ln/>
        </p:spPr>
      </p:sp>
      <p:sp>
        <p:nvSpPr>
          <p:cNvPr id="21" name="Text 19"/>
          <p:cNvSpPr/>
          <p:nvPr/>
        </p:nvSpPr>
        <p:spPr>
          <a:xfrm>
            <a:off x="958283" y="5001268"/>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22" name="Shape 20"/>
          <p:cNvSpPr/>
          <p:nvPr/>
        </p:nvSpPr>
        <p:spPr>
          <a:xfrm>
            <a:off x="958283" y="5195578"/>
            <a:ext cx="231418" cy="231418"/>
          </a:xfrm>
          <a:prstGeom prst="rect">
            <a:avLst/>
          </a:prstGeom>
          <a:solidFill>
            <a:srgbClr val="E2FAF1"/>
          </a:solidFill>
          <a:ln/>
        </p:spPr>
      </p:sp>
      <p:sp>
        <p:nvSpPr>
          <p:cNvPr id="23" name="Text 21"/>
          <p:cNvSpPr/>
          <p:nvPr/>
        </p:nvSpPr>
        <p:spPr>
          <a:xfrm>
            <a:off x="958283" y="5195578"/>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24" name="Shape 22"/>
          <p:cNvSpPr/>
          <p:nvPr/>
        </p:nvSpPr>
        <p:spPr>
          <a:xfrm>
            <a:off x="958283" y="5424178"/>
            <a:ext cx="231418" cy="231418"/>
          </a:xfrm>
          <a:prstGeom prst="rect">
            <a:avLst/>
          </a:prstGeom>
          <a:solidFill>
            <a:srgbClr val="EBFDF5"/>
          </a:solidFill>
          <a:ln/>
        </p:spPr>
      </p:sp>
      <p:sp>
        <p:nvSpPr>
          <p:cNvPr id="25" name="Text 23"/>
          <p:cNvSpPr/>
          <p:nvPr/>
        </p:nvSpPr>
        <p:spPr>
          <a:xfrm>
            <a:off x="958283" y="5424178"/>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26" name="Shape 24"/>
          <p:cNvSpPr/>
          <p:nvPr/>
        </p:nvSpPr>
        <p:spPr>
          <a:xfrm>
            <a:off x="958283" y="5641348"/>
            <a:ext cx="231418" cy="231418"/>
          </a:xfrm>
          <a:prstGeom prst="rect">
            <a:avLst/>
          </a:prstGeom>
          <a:solidFill>
            <a:srgbClr val="F1FEF8"/>
          </a:solidFill>
          <a:ln/>
        </p:spPr>
      </p:sp>
      <p:sp>
        <p:nvSpPr>
          <p:cNvPr id="27" name="Text 25"/>
          <p:cNvSpPr/>
          <p:nvPr/>
        </p:nvSpPr>
        <p:spPr>
          <a:xfrm>
            <a:off x="958283" y="5641348"/>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28" name="Shape 26"/>
          <p:cNvSpPr/>
          <p:nvPr/>
        </p:nvSpPr>
        <p:spPr>
          <a:xfrm>
            <a:off x="958283" y="5858518"/>
            <a:ext cx="231418" cy="231418"/>
          </a:xfrm>
          <a:prstGeom prst="rect">
            <a:avLst/>
          </a:prstGeom>
          <a:solidFill>
            <a:srgbClr val="F7FFFB"/>
          </a:solidFill>
          <a:ln/>
        </p:spPr>
      </p:sp>
      <p:sp>
        <p:nvSpPr>
          <p:cNvPr id="29" name="Text 27"/>
          <p:cNvSpPr/>
          <p:nvPr/>
        </p:nvSpPr>
        <p:spPr>
          <a:xfrm>
            <a:off x="958283" y="5858518"/>
            <a:ext cx="231418" cy="231418"/>
          </a:xfrm>
          <a:prstGeom prst="rect">
            <a:avLst/>
          </a:prstGeom>
          <a:noFill/>
          <a:ln/>
        </p:spPr>
        <p:txBody>
          <a:bodyPr wrap="square" lIns="45720" tIns="91440" rIns="91440" bIns="45720" rtlCol="0" anchor="ctr"/>
          <a:lstStyle/>
          <a:p>
            <a:pPr>
              <a:lnSpc>
                <a:spcPct val="100000"/>
              </a:lnSpc>
            </a:pPr>
            <a:endParaRPr lang="en-US" sz="1600" dirty="0"/>
          </a:p>
        </p:txBody>
      </p:sp>
      <p:sp>
        <p:nvSpPr>
          <p:cNvPr id="30" name="Shape 28"/>
          <p:cNvSpPr/>
          <p:nvPr/>
        </p:nvSpPr>
        <p:spPr>
          <a:xfrm>
            <a:off x="958283" y="3299530"/>
            <a:ext cx="231418" cy="231418"/>
          </a:xfrm>
          <a:prstGeom prst="rect">
            <a:avLst/>
          </a:prstGeom>
          <a:solidFill>
            <a:srgbClr val="9DB4E0"/>
          </a:solidFill>
          <a:ln/>
        </p:spPr>
      </p:sp>
      <p:sp>
        <p:nvSpPr>
          <p:cNvPr id="31" name="Text 29"/>
          <p:cNvSpPr/>
          <p:nvPr/>
        </p:nvSpPr>
        <p:spPr>
          <a:xfrm>
            <a:off x="958283" y="3299530"/>
            <a:ext cx="231418" cy="231418"/>
          </a:xfrm>
          <a:prstGeom prst="rect">
            <a:avLst/>
          </a:prstGeom>
          <a:noFill/>
          <a:ln/>
        </p:spPr>
        <p:txBody>
          <a:bodyPr wrap="square" lIns="45720" tIns="91440" rIns="91440" bIns="45720" rtlCol="0" anchor="ctr"/>
          <a:lstStyle/>
          <a:p>
            <a:pPr>
              <a:lnSpc>
                <a:spcPct val="100000"/>
              </a:lnSpc>
            </a:pPr>
            <a:endParaRPr lang="en-US" sz="1600" dirty="0"/>
          </a:p>
        </p:txBody>
      </p:sp>
      <p:pic>
        <p:nvPicPr>
          <p:cNvPr id="32" name="Image 0" descr="https://kimi-img.moonshot.cn/pub/slides/slides_tmpl/image/25-08-27-20:09:03-d2nfanp8bjvh7rlj0i1g.png"/>
          <p:cNvPicPr>
            <a:picLocks noChangeAspect="1"/>
          </p:cNvPicPr>
          <p:nvPr/>
        </p:nvPicPr>
        <p:blipFill>
          <a:blip r:embed="rId3"/>
          <a:stretch>
            <a:fillRect/>
          </a:stretch>
        </p:blipFill>
        <p:spPr>
          <a:xfrm>
            <a:off x="5047547" y="904096"/>
            <a:ext cx="6311900" cy="5511800"/>
          </a:xfrm>
          <a:prstGeom prst="rect">
            <a:avLst/>
          </a:prstGeom>
        </p:spPr>
      </p:pic>
      <p:pic>
        <p:nvPicPr>
          <p:cNvPr id="33" name="Image 1" descr="https://kimi-img.moonshot.cn/pub/slides/slides_tmpl/image/25-08-27-20:09:03-d2nfanp8bjvh7rlj0i00.png"/>
          <p:cNvPicPr>
            <a:picLocks noChangeAspect="1"/>
          </p:cNvPicPr>
          <p:nvPr/>
        </p:nvPicPr>
        <p:blipFill>
          <a:blip r:embed="rId4"/>
          <a:srcRect b="95767"/>
          <a:stretch/>
        </p:blipFill>
        <p:spPr>
          <a:xfrm>
            <a:off x="263525" y="741045"/>
            <a:ext cx="3962400" cy="95696"/>
          </a:xfrm>
          <a:prstGeom prst="rect">
            <a:avLst/>
          </a:prstGeom>
        </p:spPr>
      </p:pic>
      <p:sp>
        <p:nvSpPr>
          <p:cNvPr id="34" name="Text 30"/>
          <p:cNvSpPr/>
          <p:nvPr/>
        </p:nvSpPr>
        <p:spPr>
          <a:xfrm>
            <a:off x="1055370" y="1233805"/>
            <a:ext cx="4064000" cy="829945"/>
          </a:xfrm>
          <a:prstGeom prst="rect">
            <a:avLst/>
          </a:prstGeom>
          <a:noFill/>
          <a:ln/>
        </p:spPr>
        <p:txBody>
          <a:bodyPr wrap="square" lIns="91440" tIns="45720" rIns="91440" bIns="45720" rtlCol="0" anchor="t">
            <a:spAutoFit/>
          </a:bodyPr>
          <a:lstStyle/>
          <a:p>
            <a:pPr>
              <a:lnSpc>
                <a:spcPct val="100000"/>
              </a:lnSpc>
            </a:pPr>
            <a:r>
              <a:rPr lang="en-US" sz="4800" b="1" dirty="0">
                <a:solidFill>
                  <a:srgbClr val="000000"/>
                </a:solidFill>
                <a:latin typeface="Source Han Sans SC" pitchFamily="34" charset="0"/>
                <a:ea typeface="Source Han Sans SC" pitchFamily="34" charset="-122"/>
                <a:cs typeface="Source Han Sans SC" pitchFamily="34" charset="-120"/>
              </a:rPr>
              <a:t>CONTENTS</a:t>
            </a:r>
            <a:endParaRPr lang="en-US" sz="1600" dirty="0"/>
          </a:p>
        </p:txBody>
      </p:sp>
      <p:sp>
        <p:nvSpPr>
          <p:cNvPr id="35" name="Text 31"/>
          <p:cNvSpPr/>
          <p:nvPr/>
        </p:nvSpPr>
        <p:spPr>
          <a:xfrm>
            <a:off x="5693789" y="2809287"/>
            <a:ext cx="2910694" cy="615553"/>
          </a:xfrm>
          <a:prstGeom prst="rect">
            <a:avLst/>
          </a:prstGeom>
          <a:noFill/>
          <a:ln/>
        </p:spPr>
        <p:txBody>
          <a:bodyPr wrap="square" lIns="91440" tIns="45720" rIns="91440" bIns="45720" rtlCol="0" anchor="t">
            <a:spAutoFit/>
          </a:bodyPr>
          <a:lstStyle/>
          <a:p>
            <a:pPr>
              <a:lnSpc>
                <a:spcPct val="100000"/>
              </a:lnSpc>
            </a:pPr>
            <a:r>
              <a:rPr lang="en-US" sz="1600" dirty="0">
                <a:solidFill>
                  <a:srgbClr val="000000"/>
                </a:solidFill>
                <a:latin typeface="Source Han Sans SC" pitchFamily="34" charset="0"/>
                <a:ea typeface="Source Han Sans SC" pitchFamily="34" charset="-122"/>
                <a:cs typeface="Source Han Sans SC" pitchFamily="34" charset="-120"/>
              </a:rPr>
              <a:t>Quick Start</a:t>
            </a:r>
            <a:endParaRPr lang="en-US" sz="1600" dirty="0"/>
          </a:p>
        </p:txBody>
      </p:sp>
      <p:sp>
        <p:nvSpPr>
          <p:cNvPr id="36" name="Text 32"/>
          <p:cNvSpPr/>
          <p:nvPr/>
        </p:nvSpPr>
        <p:spPr>
          <a:xfrm>
            <a:off x="9017954" y="2809287"/>
            <a:ext cx="2910694" cy="584775"/>
          </a:xfrm>
          <a:prstGeom prst="rect">
            <a:avLst/>
          </a:prstGeom>
          <a:noFill/>
          <a:ln/>
        </p:spPr>
        <p:txBody>
          <a:bodyPr wrap="square" lIns="91440" tIns="45720" rIns="91440" bIns="45720" rtlCol="0" anchor="t">
            <a:spAutoFit/>
          </a:bodyPr>
          <a:lstStyle/>
          <a:p>
            <a:pPr>
              <a:lnSpc>
                <a:spcPct val="100000"/>
              </a:lnSpc>
            </a:pPr>
            <a:r>
              <a:rPr lang="en-US" sz="1600" dirty="0">
                <a:solidFill>
                  <a:srgbClr val="000000"/>
                </a:solidFill>
                <a:latin typeface="Source Han Sans SC" pitchFamily="34" charset="0"/>
                <a:ea typeface="Source Han Sans SC" pitchFamily="34" charset="-122"/>
                <a:cs typeface="Source Han Sans SC" pitchFamily="34" charset="-120"/>
              </a:rPr>
              <a:t>Core Tags</a:t>
            </a:r>
            <a:endParaRPr lang="en-US" sz="1600" dirty="0"/>
          </a:p>
        </p:txBody>
      </p:sp>
      <p:sp>
        <p:nvSpPr>
          <p:cNvPr id="37" name="Text 33"/>
          <p:cNvSpPr/>
          <p:nvPr/>
        </p:nvSpPr>
        <p:spPr>
          <a:xfrm>
            <a:off x="5693789" y="5752134"/>
            <a:ext cx="2910694" cy="615553"/>
          </a:xfrm>
          <a:prstGeom prst="rect">
            <a:avLst/>
          </a:prstGeom>
          <a:noFill/>
          <a:ln/>
        </p:spPr>
        <p:txBody>
          <a:bodyPr wrap="square" lIns="91440" tIns="45720" rIns="91440" bIns="45720" rtlCol="0" anchor="t">
            <a:spAutoFit/>
          </a:bodyPr>
          <a:lstStyle/>
          <a:p>
            <a:pPr>
              <a:lnSpc>
                <a:spcPct val="100000"/>
              </a:lnSpc>
            </a:pPr>
            <a:r>
              <a:rPr lang="en-US" sz="1600" dirty="0">
                <a:solidFill>
                  <a:srgbClr val="000000"/>
                </a:solidFill>
                <a:latin typeface="Source Han Sans SC" pitchFamily="34" charset="0"/>
                <a:ea typeface="Source Han Sans SC" pitchFamily="34" charset="-122"/>
                <a:cs typeface="Source Han Sans SC" pitchFamily="34" charset="-120"/>
              </a:rPr>
              <a:t>Structured Data</a:t>
            </a:r>
            <a:endParaRPr lang="en-US" sz="1600" dirty="0"/>
          </a:p>
        </p:txBody>
      </p:sp>
      <p:sp>
        <p:nvSpPr>
          <p:cNvPr id="38" name="Text 34"/>
          <p:cNvSpPr/>
          <p:nvPr/>
        </p:nvSpPr>
        <p:spPr>
          <a:xfrm>
            <a:off x="9008488" y="5752134"/>
            <a:ext cx="2910694" cy="615553"/>
          </a:xfrm>
          <a:prstGeom prst="rect">
            <a:avLst/>
          </a:prstGeom>
          <a:noFill/>
          <a:ln/>
        </p:spPr>
        <p:txBody>
          <a:bodyPr wrap="square" lIns="91440" tIns="45720" rIns="91440" bIns="45720" rtlCol="0" anchor="t">
            <a:spAutoFit/>
          </a:bodyPr>
          <a:lstStyle/>
          <a:p>
            <a:pPr>
              <a:lnSpc>
                <a:spcPct val="100000"/>
              </a:lnSpc>
            </a:pPr>
            <a:r>
              <a:rPr lang="en-US" sz="1600" dirty="0">
                <a:solidFill>
                  <a:srgbClr val="000000"/>
                </a:solidFill>
                <a:latin typeface="Source Han Sans SC" pitchFamily="34" charset="0"/>
                <a:ea typeface="Source Han Sans SC" pitchFamily="34" charset="-122"/>
                <a:cs typeface="Source Han Sans SC" pitchFamily="34" charset="-120"/>
              </a:rPr>
              <a:t>Practice &amp; Resources</a:t>
            </a:r>
            <a:endParaRPr lang="en-US" sz="1600" dirty="0"/>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51180" y="2952115"/>
            <a:ext cx="5887085" cy="953135"/>
          </a:xfrm>
          <a:prstGeom prst="rect">
            <a:avLst/>
          </a:prstGeom>
          <a:noFill/>
          <a:ln/>
        </p:spPr>
        <p:txBody>
          <a:bodyPr wrap="square" lIns="91440" tIns="45720" rIns="91440" bIns="45720" rtlCol="0" anchor="t">
            <a:spAutoFit/>
          </a:bodyPr>
          <a:lstStyle/>
          <a:p>
            <a:pPr>
              <a:lnSpc>
                <a:spcPct val="100000"/>
              </a:lnSpc>
            </a:pPr>
            <a:r>
              <a:rPr lang="en-US" sz="2800" dirty="0">
                <a:solidFill>
                  <a:srgbClr val="000000"/>
                </a:solidFill>
                <a:latin typeface="Source Han Sans SC" pitchFamily="34" charset="0"/>
                <a:ea typeface="Source Han Sans SC" pitchFamily="34" charset="-122"/>
                <a:cs typeface="Source Han Sans SC" pitchFamily="34" charset="-120"/>
              </a:rPr>
              <a:t>Quick Start</a:t>
            </a:r>
            <a:endParaRPr lang="en-US" sz="1600" dirty="0"/>
          </a:p>
        </p:txBody>
      </p:sp>
      <p:sp>
        <p:nvSpPr>
          <p:cNvPr id="3" name="Shape 1"/>
          <p:cNvSpPr/>
          <p:nvPr/>
        </p:nvSpPr>
        <p:spPr>
          <a:xfrm>
            <a:off x="711202" y="786574"/>
            <a:ext cx="3434078" cy="0"/>
          </a:xfrm>
          <a:prstGeom prst="line">
            <a:avLst/>
          </a:prstGeom>
          <a:noFill/>
          <a:ln w="15875">
            <a:solidFill>
              <a:srgbClr val="000000"/>
            </a:solidFill>
            <a:prstDash val="solid"/>
            <a:headEnd type="none"/>
            <a:tailEnd type="none"/>
          </a:ln>
        </p:spPr>
      </p:sp>
      <p:pic>
        <p:nvPicPr>
          <p:cNvPr id="4" name="Image 0" descr="https://kimi-img.moonshot.cn/pub/slides/slides_tmpl/image/25-08-27-20:09:03-d2nfanp8bjvh7rlj0i40.jpg"/>
          <p:cNvPicPr>
            <a:picLocks noChangeAspect="1"/>
          </p:cNvPicPr>
          <p:nvPr/>
        </p:nvPicPr>
        <p:blipFill>
          <a:blip r:embed="rId3"/>
          <a:stretch>
            <a:fillRect/>
          </a:stretch>
        </p:blipFill>
        <p:spPr>
          <a:xfrm>
            <a:off x="8046721" y="1008555"/>
            <a:ext cx="3553129" cy="5196386"/>
          </a:xfrm>
          <a:prstGeom prst="rect">
            <a:avLst/>
          </a:prstGeom>
        </p:spPr>
      </p:pic>
      <p:pic>
        <p:nvPicPr>
          <p:cNvPr id="5" name="Image 1" descr="https://kimi-img.moonshot.cn/pub/slides/slides_tmpl/image/25-08-27-20:09:03-d2nfanp8bjvh7rlj0i3g.png"/>
          <p:cNvPicPr>
            <a:picLocks noChangeAspect="1"/>
          </p:cNvPicPr>
          <p:nvPr/>
        </p:nvPicPr>
        <p:blipFill>
          <a:blip r:embed="rId4"/>
          <a:srcRect r="60768" b="-4844"/>
          <a:stretch/>
        </p:blipFill>
        <p:spPr>
          <a:xfrm>
            <a:off x="551180" y="404495"/>
            <a:ext cx="4320336" cy="503981"/>
          </a:xfrm>
          <a:prstGeom prst="rect">
            <a:avLst/>
          </a:prstGeom>
        </p:spPr>
      </p:pic>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https://kimi-img.moonshot.cn/pub/slides/slides_tmpl/image/25-08-27-20:09:11-d2nfapp8bjvh7rlj0ik0.jpg"/>
          <p:cNvPicPr>
            <a:picLocks noChangeAspect="1"/>
          </p:cNvPicPr>
          <p:nvPr/>
        </p:nvPicPr>
        <p:blipFill>
          <a:blip r:embed="rId3"/>
          <a:stretch>
            <a:fillRect/>
          </a:stretch>
        </p:blipFill>
        <p:spPr>
          <a:xfrm>
            <a:off x="320668" y="3158118"/>
            <a:ext cx="7772400" cy="3184438"/>
          </a:xfrm>
          <a:prstGeom prst="rect">
            <a:avLst/>
          </a:prstGeom>
        </p:spPr>
      </p:pic>
      <p:sp>
        <p:nvSpPr>
          <p:cNvPr id="3" name="Text 0"/>
          <p:cNvSpPr/>
          <p:nvPr/>
        </p:nvSpPr>
        <p:spPr>
          <a:xfrm>
            <a:off x="587375" y="548640"/>
            <a:ext cx="7248525" cy="922020"/>
          </a:xfrm>
          <a:prstGeom prst="rect">
            <a:avLst/>
          </a:prstGeom>
          <a:noFill/>
          <a:ln/>
        </p:spPr>
        <p:txBody>
          <a:bodyPr wrap="square" lIns="91440" tIns="45720" rIns="91440" bIns="45720" rtlCol="0" anchor="t">
            <a:spAutoFit/>
          </a:bodyPr>
          <a:lstStyle/>
          <a:p>
            <a:pPr>
              <a:lnSpc>
                <a:spcPct val="100000"/>
              </a:lnSpc>
            </a:pPr>
            <a:r>
              <a:rPr lang="en-US" sz="3600" b="1" dirty="0">
                <a:solidFill>
                  <a:srgbClr val="000000"/>
                </a:solidFill>
                <a:latin typeface="Source Han Sans SC Bold" pitchFamily="34" charset="0"/>
                <a:ea typeface="Source Han Sans SC Bold" pitchFamily="34" charset="-122"/>
                <a:cs typeface="Source Han Sans SC Bold" pitchFamily="34" charset="-120"/>
              </a:rPr>
              <a:t>HTML Crash Course – 1 Day</a:t>
            </a:r>
            <a:endParaRPr lang="en-US" sz="1600" dirty="0"/>
          </a:p>
        </p:txBody>
      </p:sp>
      <p:sp>
        <p:nvSpPr>
          <p:cNvPr id="4" name="Text 1"/>
          <p:cNvSpPr/>
          <p:nvPr/>
        </p:nvSpPr>
        <p:spPr>
          <a:xfrm>
            <a:off x="587195" y="2276872"/>
            <a:ext cx="6588925" cy="400110"/>
          </a:xfrm>
          <a:prstGeom prst="rect">
            <a:avLst/>
          </a:prstGeom>
          <a:noFill/>
          <a:ln/>
        </p:spPr>
        <p:txBody>
          <a:bodyPr wrap="square" lIns="91440" tIns="45720" rIns="91440" bIns="45720" rtlCol="0" anchor="b">
            <a:spAutoFit/>
          </a:bodyPr>
          <a:lstStyle/>
          <a:p>
            <a:pPr>
              <a:lnSpc>
                <a:spcPct val="100000"/>
              </a:lnSpc>
            </a:pPr>
            <a:r>
              <a:rPr lang="en-US" sz="2000" dirty="0">
                <a:solidFill>
                  <a:srgbClr val="9DB4E1"/>
                </a:solidFill>
                <a:latin typeface="Source Han Sans SC" pitchFamily="34" charset="0"/>
                <a:ea typeface="Source Han Sans SC" pitchFamily="34" charset="-122"/>
                <a:cs typeface="Source Han Sans SC" pitchFamily="34" charset="-120"/>
              </a:rPr>
              <a:t>Course Overview</a:t>
            </a:r>
            <a:endParaRPr lang="en-US" sz="1600" dirty="0"/>
          </a:p>
        </p:txBody>
      </p:sp>
      <p:sp>
        <p:nvSpPr>
          <p:cNvPr id="5" name="Text 2"/>
          <p:cNvSpPr/>
          <p:nvPr/>
        </p:nvSpPr>
        <p:spPr>
          <a:xfrm>
            <a:off x="587375" y="2681605"/>
            <a:ext cx="5427980"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0D0D0D"/>
                </a:solidFill>
                <a:latin typeface="Source Han Sans SC Light" pitchFamily="34" charset="0"/>
                <a:ea typeface="Source Han Sans SC Light" pitchFamily="34" charset="-122"/>
                <a:cs typeface="Source Han Sans SC Light" pitchFamily="34" charset="-120"/>
              </a:rPr>
              <a:t>Welcome to the HTML Crash Course! In just one day, you'll learn the essentials of HTML and build your first webpage. This course is designed for beginners with no prior coding experience.</a:t>
            </a:r>
            <a:endParaRPr lang="en-US" sz="1600" dirty="0"/>
          </a:p>
        </p:txBody>
      </p:sp>
      <p:sp>
        <p:nvSpPr>
          <p:cNvPr id="6" name="Text 3"/>
          <p:cNvSpPr/>
          <p:nvPr/>
        </p:nvSpPr>
        <p:spPr>
          <a:xfrm>
            <a:off x="8305165" y="842010"/>
            <a:ext cx="3493135" cy="377190"/>
          </a:xfrm>
          <a:prstGeom prst="rect">
            <a:avLst/>
          </a:prstGeom>
          <a:noFill/>
          <a:ln/>
        </p:spPr>
        <p:txBody>
          <a:bodyPr wrap="square" lIns="91440" tIns="45720" rIns="91440" bIns="45720" rtlCol="0" anchor="b"/>
          <a:lstStyle/>
          <a:p>
            <a:pPr>
              <a:lnSpc>
                <a:spcPct val="100000"/>
              </a:lnSpc>
            </a:pPr>
            <a:r>
              <a:rPr lang="en-US" sz="2000" dirty="0">
                <a:solidFill>
                  <a:srgbClr val="9DB4E1"/>
                </a:solidFill>
                <a:latin typeface="Source Han Sans SC" pitchFamily="34" charset="0"/>
                <a:ea typeface="Source Han Sans SC" pitchFamily="34" charset="-122"/>
                <a:cs typeface="Source Han Sans SC" pitchFamily="34" charset="-120"/>
              </a:rPr>
              <a:t>Learning Goals</a:t>
            </a:r>
            <a:endParaRPr lang="en-US" sz="1600" dirty="0"/>
          </a:p>
        </p:txBody>
      </p:sp>
      <p:sp>
        <p:nvSpPr>
          <p:cNvPr id="7" name="Text 4"/>
          <p:cNvSpPr/>
          <p:nvPr/>
        </p:nvSpPr>
        <p:spPr>
          <a:xfrm>
            <a:off x="8305387" y="1246654"/>
            <a:ext cx="3430797" cy="2061210"/>
          </a:xfrm>
          <a:prstGeom prst="rect">
            <a:avLst/>
          </a:prstGeom>
          <a:noFill/>
          <a:ln/>
        </p:spPr>
        <p:txBody>
          <a:bodyPr wrap="square" lIns="91440" tIns="45720" rIns="91440" bIns="45720" rtlCol="0" anchor="t">
            <a:spAutoFit/>
          </a:bodyPr>
          <a:lstStyle/>
          <a:p>
            <a:pPr>
              <a:lnSpc>
                <a:spcPct val="100000"/>
              </a:lnSpc>
            </a:pPr>
            <a:r>
              <a:rPr lang="en-US" sz="1600" dirty="0">
                <a:solidFill>
                  <a:srgbClr val="0D0D0D"/>
                </a:solidFill>
                <a:latin typeface="Source Han Sans SC Light" pitchFamily="34" charset="0"/>
                <a:ea typeface="Source Han Sans SC Light" pitchFamily="34" charset="-122"/>
                <a:cs typeface="Source Han Sans SC Light" pitchFamily="34" charset="-120"/>
              </a:rPr>
              <a:t>By the end of this course, you will be able to create a basic webpage structure, add text and images, and understand the importance of semantic HTML. Let's dive in!</a:t>
            </a:r>
            <a:endParaRPr lang="en-US" sz="1600" dirty="0"/>
          </a:p>
        </p:txBody>
      </p:sp>
      <p:sp>
        <p:nvSpPr>
          <p:cNvPr id="8" name="Text 5"/>
          <p:cNvSpPr/>
          <p:nvPr/>
        </p:nvSpPr>
        <p:spPr>
          <a:xfrm>
            <a:off x="8328025" y="3933190"/>
            <a:ext cx="3500755" cy="286385"/>
          </a:xfrm>
          <a:prstGeom prst="rect">
            <a:avLst/>
          </a:prstGeom>
          <a:noFill/>
          <a:ln/>
        </p:spPr>
        <p:txBody>
          <a:bodyPr wrap="square" lIns="91440" tIns="45720" rIns="91440" bIns="45720" rtlCol="0" anchor="b"/>
          <a:lstStyle/>
          <a:p>
            <a:pPr>
              <a:lnSpc>
                <a:spcPct val="100000"/>
              </a:lnSpc>
            </a:pPr>
            <a:r>
              <a:rPr lang="en-US" sz="2000" dirty="0">
                <a:solidFill>
                  <a:srgbClr val="9DB4E1"/>
                </a:solidFill>
                <a:latin typeface="Source Han Sans SC" pitchFamily="34" charset="0"/>
                <a:ea typeface="Source Han Sans SC" pitchFamily="34" charset="-122"/>
                <a:cs typeface="Source Han Sans SC" pitchFamily="34" charset="-120"/>
              </a:rPr>
              <a:t>Your Instructor</a:t>
            </a:r>
            <a:endParaRPr lang="en-US" sz="1600" dirty="0"/>
          </a:p>
        </p:txBody>
      </p:sp>
      <p:sp>
        <p:nvSpPr>
          <p:cNvPr id="9" name="Text 6"/>
          <p:cNvSpPr/>
          <p:nvPr/>
        </p:nvSpPr>
        <p:spPr>
          <a:xfrm>
            <a:off x="8305387" y="4365154"/>
            <a:ext cx="3430797" cy="2061210"/>
          </a:xfrm>
          <a:prstGeom prst="rect">
            <a:avLst/>
          </a:prstGeom>
          <a:noFill/>
          <a:ln/>
        </p:spPr>
        <p:txBody>
          <a:bodyPr wrap="square" lIns="91440" tIns="45720" rIns="91440" bIns="45720" rtlCol="0" anchor="t">
            <a:spAutoFit/>
          </a:bodyPr>
          <a:lstStyle/>
          <a:p>
            <a:pPr>
              <a:lnSpc>
                <a:spcPct val="100000"/>
              </a:lnSpc>
            </a:pPr>
            <a:r>
              <a:rPr lang="en-US" sz="1600" dirty="0">
                <a:solidFill>
                  <a:srgbClr val="0D0D0D"/>
                </a:solidFill>
                <a:latin typeface="Source Han Sans SC Light" pitchFamily="34" charset="0"/>
                <a:ea typeface="Source Han Sans SC Light" pitchFamily="34" charset="-122"/>
                <a:cs typeface="Source Han Sans SC Light" pitchFamily="34" charset="-120"/>
              </a:rPr>
              <a:t>I'm [Your Name], your instructor for today. I have years of experience in web development and am excited to guide you through this crash course. Let's get started!</a:t>
            </a:r>
            <a:endParaRPr lang="en-US" sz="1600" dirty="0"/>
          </a:p>
        </p:txBody>
      </p: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flip="none" rotWithShape="1">
            <a:gsLst>
              <a:gs pos="0">
                <a:srgbClr val="2F5596"/>
              </a:gs>
              <a:gs pos="79000">
                <a:srgbClr val="7095BC"/>
              </a:gs>
              <a:gs pos="96000">
                <a:srgbClr val="B0D5E1"/>
              </a:gs>
              <a:gs pos="100000">
                <a:srgbClr val="C2F5E1"/>
              </a:gs>
            </a:gsLst>
            <a:lin ang="4800000" scaled="1"/>
          </a:gradFill>
          <a:ln w="12700">
            <a:solidFill>
              <a:srgbClr val="09111E"/>
            </a:solidFill>
            <a:prstDash val="solid"/>
          </a:ln>
        </p:spPr>
      </p:sp>
      <p:sp>
        <p:nvSpPr>
          <p:cNvPr id="3" name="Text 1"/>
          <p:cNvSpPr/>
          <p:nvPr/>
        </p:nvSpPr>
        <p:spPr>
          <a:xfrm>
            <a:off x="0" y="0"/>
            <a:ext cx="12192000" cy="6858000"/>
          </a:xfrm>
          <a:prstGeom prst="rect">
            <a:avLst/>
          </a:prstGeom>
          <a:noFill/>
          <a:ln/>
        </p:spPr>
        <p:txBody>
          <a:bodyPr wrap="square" lIns="45720" tIns="91440" rIns="91440" bIns="45720" rtlCol="0" anchor="ctr"/>
          <a:lstStyle/>
          <a:p>
            <a:pPr>
              <a:lnSpc>
                <a:spcPct val="100000"/>
              </a:lnSpc>
            </a:pPr>
            <a:endParaRPr lang="en-US" sz="1600" dirty="0"/>
          </a:p>
        </p:txBody>
      </p:sp>
      <p:sp>
        <p:nvSpPr>
          <p:cNvPr id="4" name="Text 2"/>
          <p:cNvSpPr/>
          <p:nvPr/>
        </p:nvSpPr>
        <p:spPr>
          <a:xfrm>
            <a:off x="592455" y="964565"/>
            <a:ext cx="8507730" cy="583565"/>
          </a:xfrm>
          <a:prstGeom prst="rect">
            <a:avLst/>
          </a:prstGeom>
          <a:noFill/>
          <a:ln/>
        </p:spPr>
        <p:txBody>
          <a:bodyPr wrap="square" lIns="91440" tIns="45720" rIns="91440" bIns="45720" rtlCol="0" anchor="t">
            <a:spAutoFit/>
          </a:bodyPr>
          <a:lstStyle/>
          <a:p>
            <a:pPr>
              <a:lnSpc>
                <a:spcPct val="100000"/>
              </a:lnSpc>
            </a:pPr>
            <a:r>
              <a:rPr lang="en-US" sz="3200" b="1" dirty="0">
                <a:solidFill>
                  <a:srgbClr val="FFFFFF"/>
                </a:solidFill>
                <a:latin typeface="Source Han Sans SC" pitchFamily="34" charset="0"/>
                <a:ea typeface="Source Han Sans SC" pitchFamily="34" charset="-122"/>
                <a:cs typeface="Source Han Sans SC" pitchFamily="34" charset="-120"/>
              </a:rPr>
              <a:t>What is HTML?</a:t>
            </a:r>
            <a:endParaRPr lang="en-US" sz="1600" dirty="0"/>
          </a:p>
        </p:txBody>
      </p:sp>
      <p:pic>
        <p:nvPicPr>
          <p:cNvPr id="5" name="Image 0" descr="https://kimi-img.moonshot.cn/pub/slides/slides_tmpl/image/25-08-27-20:09:13-d2nfaq98bjvh7rlj0itg.png"/>
          <p:cNvPicPr>
            <a:picLocks noChangeAspect="1"/>
          </p:cNvPicPr>
          <p:nvPr/>
        </p:nvPicPr>
        <p:blipFill>
          <a:blip r:embed="rId3"/>
          <a:stretch>
            <a:fillRect/>
          </a:stretch>
        </p:blipFill>
        <p:spPr>
          <a:xfrm>
            <a:off x="-6920" y="2115819"/>
            <a:ext cx="6348430" cy="4814878"/>
          </a:xfrm>
          <a:prstGeom prst="rect">
            <a:avLst/>
          </a:prstGeom>
        </p:spPr>
      </p:pic>
      <p:sp>
        <p:nvSpPr>
          <p:cNvPr id="6" name="Text 3"/>
          <p:cNvSpPr/>
          <p:nvPr/>
        </p:nvSpPr>
        <p:spPr>
          <a:xfrm>
            <a:off x="5963285" y="1749425"/>
            <a:ext cx="5843905" cy="398780"/>
          </a:xfrm>
          <a:prstGeom prst="rect">
            <a:avLst/>
          </a:prstGeom>
          <a:noFill/>
          <a:ln/>
        </p:spPr>
        <p:txBody>
          <a:bodyPr wrap="square" lIns="91440" tIns="45720" rIns="91440" bIns="45720" rtlCol="0" anchor="t">
            <a:spAutoFit/>
          </a:bodyPr>
          <a:lstStyle/>
          <a:p>
            <a:pPr>
              <a:lnSpc>
                <a:spcPct val="100000"/>
              </a:lnSpc>
            </a:pPr>
            <a:r>
              <a:rPr lang="en-US" sz="2000" dirty="0">
                <a:solidFill>
                  <a:srgbClr val="FFFFFF"/>
                </a:solidFill>
                <a:latin typeface="Source Han Sans SC" pitchFamily="34" charset="0"/>
                <a:ea typeface="Source Han Sans SC" pitchFamily="34" charset="-122"/>
                <a:cs typeface="Source Han Sans SC" pitchFamily="34" charset="-120"/>
              </a:rPr>
              <a:t>Definition</a:t>
            </a:r>
            <a:endParaRPr lang="en-US" sz="1600" dirty="0"/>
          </a:p>
        </p:txBody>
      </p:sp>
      <p:sp>
        <p:nvSpPr>
          <p:cNvPr id="7" name="Text 4"/>
          <p:cNvSpPr/>
          <p:nvPr/>
        </p:nvSpPr>
        <p:spPr>
          <a:xfrm>
            <a:off x="5979160" y="2202815"/>
            <a:ext cx="5843905" cy="1476375"/>
          </a:xfrm>
          <a:prstGeom prst="rect">
            <a:avLst/>
          </a:prstGeom>
          <a:noFill/>
          <a:ln/>
        </p:spPr>
        <p:txBody>
          <a:bodyPr wrap="square" lIns="91440" tIns="45720" rIns="91440" bIns="45720" rtlCol="0" anchor="t">
            <a:spAutoFit/>
          </a:bodyPr>
          <a:lstStyle/>
          <a:p>
            <a:pPr>
              <a:lnSpc>
                <a:spcPct val="100000"/>
              </a:lnSpc>
            </a:pPr>
            <a:r>
              <a:rPr lang="en-US" sz="1800" dirty="0">
                <a:solidFill>
                  <a:srgbClr val="FFFFFF"/>
                </a:solidFill>
                <a:latin typeface="Source Han Sans SC Normal" pitchFamily="34" charset="0"/>
                <a:ea typeface="Source Han Sans SC Normal" pitchFamily="34" charset="-122"/>
                <a:cs typeface="Source Han Sans SC Normal" pitchFamily="34" charset="-120"/>
              </a:rPr>
              <a:t>HTML stands for HyperText Markup Language. It is the standard language used to create the structure and content of webpages. Every website you visit is built using HTML.</a:t>
            </a:r>
            <a:endParaRPr lang="en-US" sz="1600" dirty="0"/>
          </a:p>
        </p:txBody>
      </p:sp>
      <p:sp>
        <p:nvSpPr>
          <p:cNvPr id="8" name="Text 5"/>
          <p:cNvSpPr/>
          <p:nvPr/>
        </p:nvSpPr>
        <p:spPr>
          <a:xfrm>
            <a:off x="5963285" y="4090035"/>
            <a:ext cx="5843905" cy="398780"/>
          </a:xfrm>
          <a:prstGeom prst="rect">
            <a:avLst/>
          </a:prstGeom>
          <a:noFill/>
          <a:ln/>
        </p:spPr>
        <p:txBody>
          <a:bodyPr wrap="square" lIns="91440" tIns="45720" rIns="91440" bIns="45720" rtlCol="0" anchor="t">
            <a:spAutoFit/>
          </a:bodyPr>
          <a:lstStyle/>
          <a:p>
            <a:pPr>
              <a:lnSpc>
                <a:spcPct val="100000"/>
              </a:lnSpc>
            </a:pPr>
            <a:r>
              <a:rPr lang="en-US" sz="2000" dirty="0">
                <a:solidFill>
                  <a:srgbClr val="FFFFFF"/>
                </a:solidFill>
                <a:latin typeface="Source Han Sans SC" pitchFamily="34" charset="0"/>
                <a:ea typeface="Source Han Sans SC" pitchFamily="34" charset="-122"/>
                <a:cs typeface="Source Han Sans SC" pitchFamily="34" charset="-120"/>
              </a:rPr>
              <a:t>Role in Web Development</a:t>
            </a:r>
            <a:endParaRPr lang="en-US" sz="1600" dirty="0"/>
          </a:p>
        </p:txBody>
      </p:sp>
      <p:sp>
        <p:nvSpPr>
          <p:cNvPr id="9" name="Text 6"/>
          <p:cNvSpPr/>
          <p:nvPr/>
        </p:nvSpPr>
        <p:spPr>
          <a:xfrm>
            <a:off x="5979160" y="4543425"/>
            <a:ext cx="5843905" cy="1476375"/>
          </a:xfrm>
          <a:prstGeom prst="rect">
            <a:avLst/>
          </a:prstGeom>
          <a:noFill/>
          <a:ln/>
        </p:spPr>
        <p:txBody>
          <a:bodyPr wrap="square" lIns="91440" tIns="45720" rIns="91440" bIns="45720" rtlCol="0" anchor="t">
            <a:spAutoFit/>
          </a:bodyPr>
          <a:lstStyle/>
          <a:p>
            <a:pPr>
              <a:lnSpc>
                <a:spcPct val="100000"/>
              </a:lnSpc>
            </a:pPr>
            <a:r>
              <a:rPr lang="en-US" sz="1800" dirty="0">
                <a:solidFill>
                  <a:srgbClr val="FFFFFF"/>
                </a:solidFill>
                <a:latin typeface="Source Han Sans SC Normal" pitchFamily="34" charset="0"/>
                <a:ea typeface="Source Han Sans SC Normal" pitchFamily="34" charset="-122"/>
                <a:cs typeface="Source Han Sans SC Normal" pitchFamily="34" charset="-120"/>
              </a:rPr>
              <a:t>HTML works hand-in-hand with CSS for styling and JavaScript for interactivity. Together, these technologies form the foundation of modern web development.</a:t>
            </a:r>
            <a:endParaRPr lang="en-US" sz="1600" dirty="0"/>
          </a:p>
        </p:txBody>
      </p:sp>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https://kimi-img.moonshot.cn/pub/slides/slides_tmpl/image/25-08-27-20:09:17-d2nfar98bjvh7rlj0iug.jpg"/>
          <p:cNvPicPr>
            <a:picLocks noChangeAspect="1"/>
          </p:cNvPicPr>
          <p:nvPr/>
        </p:nvPicPr>
        <p:blipFill>
          <a:blip r:embed="rId3">
            <a:alphaModFix amt="52000"/>
          </a:blip>
          <a:srcRect/>
          <a:stretch/>
        </p:blipFill>
        <p:spPr>
          <a:xfrm flipH="1">
            <a:off x="0" y="0"/>
            <a:ext cx="12192000" cy="6858001"/>
          </a:xfrm>
          <a:prstGeom prst="rect">
            <a:avLst/>
          </a:prstGeom>
        </p:spPr>
      </p:pic>
      <p:sp>
        <p:nvSpPr>
          <p:cNvPr id="3" name="Shape 0"/>
          <p:cNvSpPr/>
          <p:nvPr/>
        </p:nvSpPr>
        <p:spPr>
          <a:xfrm>
            <a:off x="-24680" y="3733171"/>
            <a:ext cx="12232332" cy="2837808"/>
          </a:xfrm>
          <a:prstGeom prst="rect">
            <a:avLst/>
          </a:prstGeom>
          <a:solidFill>
            <a:srgbClr val="404040">
              <a:alpha val="80000"/>
            </a:srgbClr>
          </a:solidFill>
          <a:ln/>
        </p:spPr>
      </p:sp>
      <p:sp>
        <p:nvSpPr>
          <p:cNvPr id="4" name="Text 1"/>
          <p:cNvSpPr/>
          <p:nvPr/>
        </p:nvSpPr>
        <p:spPr>
          <a:xfrm>
            <a:off x="-24680" y="3733171"/>
            <a:ext cx="12232332" cy="2837808"/>
          </a:xfrm>
          <a:prstGeom prst="rect">
            <a:avLst/>
          </a:prstGeom>
          <a:noFill/>
          <a:ln/>
        </p:spPr>
        <p:txBody>
          <a:bodyPr wrap="square" lIns="45720" tIns="91440" rIns="91440" bIns="45720" rtlCol="0" anchor="ctr"/>
          <a:lstStyle/>
          <a:p>
            <a:pPr>
              <a:lnSpc>
                <a:spcPct val="100000"/>
              </a:lnSpc>
            </a:pPr>
            <a:endParaRPr lang="en-US" sz="1600" dirty="0"/>
          </a:p>
        </p:txBody>
      </p:sp>
      <p:sp>
        <p:nvSpPr>
          <p:cNvPr id="5" name="Shape 2"/>
          <p:cNvSpPr/>
          <p:nvPr/>
        </p:nvSpPr>
        <p:spPr>
          <a:xfrm>
            <a:off x="675293" y="1486555"/>
            <a:ext cx="236131" cy="236144"/>
          </a:xfrm>
          <a:prstGeom prst="ellipse">
            <a:avLst/>
          </a:prstGeom>
          <a:solidFill>
            <a:srgbClr val="000000">
              <a:alpha val="0"/>
            </a:srgbClr>
          </a:solidFill>
          <a:ln w="76200">
            <a:solidFill>
              <a:srgbClr val="B5C7E7"/>
            </a:solidFill>
            <a:prstDash val="solid"/>
          </a:ln>
        </p:spPr>
      </p:sp>
      <p:sp>
        <p:nvSpPr>
          <p:cNvPr id="6" name="Text 3"/>
          <p:cNvSpPr/>
          <p:nvPr/>
        </p:nvSpPr>
        <p:spPr>
          <a:xfrm>
            <a:off x="675293" y="1486555"/>
            <a:ext cx="236131" cy="236144"/>
          </a:xfrm>
          <a:prstGeom prst="rect">
            <a:avLst/>
          </a:prstGeom>
          <a:noFill/>
          <a:ln/>
        </p:spPr>
        <p:txBody>
          <a:bodyPr wrap="square" lIns="0" tIns="0" rIns="0" bIns="0" rtlCol="0" anchor="ctr"/>
          <a:lstStyle/>
          <a:p>
            <a:pPr>
              <a:lnSpc>
                <a:spcPct val="100000"/>
              </a:lnSpc>
            </a:pPr>
            <a:endParaRPr lang="en-US" sz="1600" dirty="0"/>
          </a:p>
        </p:txBody>
      </p:sp>
      <p:sp>
        <p:nvSpPr>
          <p:cNvPr id="7" name="Text 4"/>
          <p:cNvSpPr/>
          <p:nvPr/>
        </p:nvSpPr>
        <p:spPr>
          <a:xfrm>
            <a:off x="662305" y="485140"/>
            <a:ext cx="10487025" cy="885825"/>
          </a:xfrm>
          <a:prstGeom prst="rect">
            <a:avLst/>
          </a:prstGeom>
          <a:noFill/>
          <a:ln/>
        </p:spPr>
        <p:txBody>
          <a:bodyPr wrap="square" lIns="91440" tIns="45720" rIns="91440" bIns="45720" rtlCol="0" anchor="t"/>
          <a:lstStyle/>
          <a:p>
            <a:pPr>
              <a:lnSpc>
                <a:spcPct val="100000"/>
              </a:lnSpc>
            </a:pPr>
            <a:r>
              <a:rPr lang="en-US" sz="3600" dirty="0">
                <a:solidFill>
                  <a:srgbClr val="000000"/>
                </a:solidFill>
                <a:latin typeface="Source Han Sans SC Medium" pitchFamily="34" charset="0"/>
                <a:ea typeface="Source Han Sans SC Medium" pitchFamily="34" charset="-122"/>
                <a:cs typeface="Source Han Sans SC Medium" pitchFamily="34" charset="-120"/>
              </a:rPr>
              <a:t>Setting Up Your Workspace</a:t>
            </a:r>
            <a:endParaRPr lang="en-US" sz="1600" dirty="0"/>
          </a:p>
        </p:txBody>
      </p:sp>
      <p:sp>
        <p:nvSpPr>
          <p:cNvPr id="8" name="Shape 5"/>
          <p:cNvSpPr/>
          <p:nvPr/>
        </p:nvSpPr>
        <p:spPr>
          <a:xfrm>
            <a:off x="0" y="1270532"/>
            <a:ext cx="12232331" cy="2247372"/>
          </a:xfrm>
          <a:prstGeom prst="rect">
            <a:avLst/>
          </a:prstGeom>
          <a:solidFill>
            <a:srgbClr val="FFFFFF">
              <a:alpha val="47843"/>
            </a:srgbClr>
          </a:solidFill>
          <a:ln/>
        </p:spPr>
      </p:sp>
      <p:sp>
        <p:nvSpPr>
          <p:cNvPr id="9" name="Text 6"/>
          <p:cNvSpPr/>
          <p:nvPr/>
        </p:nvSpPr>
        <p:spPr>
          <a:xfrm>
            <a:off x="0" y="1270532"/>
            <a:ext cx="12232331" cy="2247372"/>
          </a:xfrm>
          <a:prstGeom prst="rect">
            <a:avLst/>
          </a:prstGeom>
          <a:noFill/>
          <a:ln/>
        </p:spPr>
        <p:txBody>
          <a:bodyPr wrap="square" lIns="45720" tIns="91440" rIns="91440" bIns="45720" rtlCol="0" anchor="ctr"/>
          <a:lstStyle/>
          <a:p>
            <a:pPr>
              <a:lnSpc>
                <a:spcPct val="100000"/>
              </a:lnSpc>
            </a:pPr>
            <a:endParaRPr lang="en-US" sz="1600" dirty="0"/>
          </a:p>
        </p:txBody>
      </p:sp>
      <p:sp>
        <p:nvSpPr>
          <p:cNvPr id="10" name="Shape 7"/>
          <p:cNvSpPr/>
          <p:nvPr/>
        </p:nvSpPr>
        <p:spPr>
          <a:xfrm>
            <a:off x="6651957" y="1486555"/>
            <a:ext cx="236131" cy="236144"/>
          </a:xfrm>
          <a:prstGeom prst="ellipse">
            <a:avLst/>
          </a:prstGeom>
          <a:solidFill>
            <a:srgbClr val="000000">
              <a:alpha val="0"/>
            </a:srgbClr>
          </a:solidFill>
          <a:ln w="76200">
            <a:solidFill>
              <a:srgbClr val="B5C7E7"/>
            </a:solidFill>
            <a:prstDash val="solid"/>
          </a:ln>
        </p:spPr>
      </p:sp>
      <p:sp>
        <p:nvSpPr>
          <p:cNvPr id="11" name="Text 8"/>
          <p:cNvSpPr/>
          <p:nvPr/>
        </p:nvSpPr>
        <p:spPr>
          <a:xfrm>
            <a:off x="6651957" y="1486555"/>
            <a:ext cx="236131" cy="236144"/>
          </a:xfrm>
          <a:prstGeom prst="rect">
            <a:avLst/>
          </a:prstGeom>
          <a:noFill/>
          <a:ln/>
        </p:spPr>
        <p:txBody>
          <a:bodyPr wrap="square" lIns="0" tIns="0" rIns="0" bIns="0" rtlCol="0" anchor="ctr"/>
          <a:lstStyle/>
          <a:p>
            <a:pPr>
              <a:lnSpc>
                <a:spcPct val="100000"/>
              </a:lnSpc>
            </a:pPr>
            <a:endParaRPr lang="en-US" sz="1600" dirty="0"/>
          </a:p>
        </p:txBody>
      </p:sp>
      <p:pic>
        <p:nvPicPr>
          <p:cNvPr id="12" name="Image 1" descr="https://kimi-img.moonshot.cn/pub/slides/slides_tmpl/image/25-08-27-20:09:12-d2nfaq18bjvh7rlj0irg.png"/>
          <p:cNvPicPr>
            <a:picLocks noChangeAspect="1"/>
          </p:cNvPicPr>
          <p:nvPr/>
        </p:nvPicPr>
        <p:blipFill>
          <a:blip r:embed="rId4"/>
          <a:stretch>
            <a:fillRect/>
          </a:stretch>
        </p:blipFill>
        <p:spPr>
          <a:xfrm>
            <a:off x="473210" y="1386524"/>
            <a:ext cx="6985000" cy="3302000"/>
          </a:xfrm>
          <a:prstGeom prst="rect">
            <a:avLst/>
          </a:prstGeom>
        </p:spPr>
      </p:pic>
      <p:sp>
        <p:nvSpPr>
          <p:cNvPr id="13" name="Shape 9"/>
          <p:cNvSpPr/>
          <p:nvPr/>
        </p:nvSpPr>
        <p:spPr>
          <a:xfrm>
            <a:off x="767409" y="3725815"/>
            <a:ext cx="360039" cy="63731"/>
          </a:xfrm>
          <a:prstGeom prst="rect">
            <a:avLst/>
          </a:prstGeom>
          <a:solidFill>
            <a:srgbClr val="000000"/>
          </a:solidFill>
          <a:ln/>
        </p:spPr>
      </p:sp>
      <p:sp>
        <p:nvSpPr>
          <p:cNvPr id="14" name="Text 10"/>
          <p:cNvSpPr/>
          <p:nvPr/>
        </p:nvSpPr>
        <p:spPr>
          <a:xfrm>
            <a:off x="767409" y="3725815"/>
            <a:ext cx="360039" cy="63731"/>
          </a:xfrm>
          <a:prstGeom prst="rect">
            <a:avLst/>
          </a:prstGeom>
          <a:noFill/>
          <a:ln/>
        </p:spPr>
        <p:txBody>
          <a:bodyPr wrap="square" lIns="45720" tIns="91440" rIns="91440" bIns="45720" rtlCol="0" anchor="ctr"/>
          <a:lstStyle/>
          <a:p>
            <a:pPr>
              <a:lnSpc>
                <a:spcPct val="100000"/>
              </a:lnSpc>
            </a:pPr>
            <a:endParaRPr lang="en-US" sz="1600" dirty="0"/>
          </a:p>
        </p:txBody>
      </p:sp>
      <p:sp>
        <p:nvSpPr>
          <p:cNvPr id="15" name="Shape 11"/>
          <p:cNvSpPr/>
          <p:nvPr/>
        </p:nvSpPr>
        <p:spPr>
          <a:xfrm>
            <a:off x="767409" y="5807035"/>
            <a:ext cx="360039" cy="63731"/>
          </a:xfrm>
          <a:prstGeom prst="rect">
            <a:avLst/>
          </a:prstGeom>
          <a:solidFill>
            <a:srgbClr val="C2F5E0"/>
          </a:solidFill>
          <a:ln/>
        </p:spPr>
      </p:sp>
      <p:sp>
        <p:nvSpPr>
          <p:cNvPr id="16" name="Text 12"/>
          <p:cNvSpPr/>
          <p:nvPr/>
        </p:nvSpPr>
        <p:spPr>
          <a:xfrm>
            <a:off x="767409" y="5807035"/>
            <a:ext cx="360039" cy="63731"/>
          </a:xfrm>
          <a:prstGeom prst="rect">
            <a:avLst/>
          </a:prstGeom>
          <a:noFill/>
          <a:ln/>
        </p:spPr>
        <p:txBody>
          <a:bodyPr wrap="square" lIns="45720" tIns="91440" rIns="91440" bIns="45720" rtlCol="0" anchor="ctr"/>
          <a:lstStyle/>
          <a:p>
            <a:pPr>
              <a:lnSpc>
                <a:spcPct val="100000"/>
              </a:lnSpc>
            </a:pPr>
            <a:endParaRPr lang="en-US" sz="1600" dirty="0"/>
          </a:p>
        </p:txBody>
      </p:sp>
      <p:sp>
        <p:nvSpPr>
          <p:cNvPr id="17" name="Shape 13"/>
          <p:cNvSpPr/>
          <p:nvPr/>
        </p:nvSpPr>
        <p:spPr>
          <a:xfrm>
            <a:off x="6789973" y="5807035"/>
            <a:ext cx="360039" cy="63731"/>
          </a:xfrm>
          <a:prstGeom prst="rect">
            <a:avLst/>
          </a:prstGeom>
          <a:solidFill>
            <a:srgbClr val="C2F5E0"/>
          </a:solidFill>
          <a:ln/>
        </p:spPr>
      </p:sp>
      <p:sp>
        <p:nvSpPr>
          <p:cNvPr id="18" name="Text 14"/>
          <p:cNvSpPr/>
          <p:nvPr/>
        </p:nvSpPr>
        <p:spPr>
          <a:xfrm>
            <a:off x="6789973" y="5807035"/>
            <a:ext cx="360039" cy="63731"/>
          </a:xfrm>
          <a:prstGeom prst="rect">
            <a:avLst/>
          </a:prstGeom>
          <a:noFill/>
          <a:ln/>
        </p:spPr>
        <p:txBody>
          <a:bodyPr wrap="square" lIns="45720" tIns="91440" rIns="91440" bIns="45720" rtlCol="0" anchor="ctr"/>
          <a:lstStyle/>
          <a:p>
            <a:pPr>
              <a:lnSpc>
                <a:spcPct val="100000"/>
              </a:lnSpc>
            </a:pPr>
            <a:endParaRPr lang="en-US" sz="1600" dirty="0"/>
          </a:p>
        </p:txBody>
      </p:sp>
      <p:sp>
        <p:nvSpPr>
          <p:cNvPr id="19" name="Shape 15"/>
          <p:cNvSpPr/>
          <p:nvPr/>
        </p:nvSpPr>
        <p:spPr>
          <a:xfrm>
            <a:off x="6776915" y="3725815"/>
            <a:ext cx="360039" cy="63731"/>
          </a:xfrm>
          <a:prstGeom prst="rect">
            <a:avLst/>
          </a:prstGeom>
          <a:solidFill>
            <a:srgbClr val="000000"/>
          </a:solidFill>
          <a:ln/>
        </p:spPr>
      </p:sp>
      <p:sp>
        <p:nvSpPr>
          <p:cNvPr id="20" name="Text 16"/>
          <p:cNvSpPr/>
          <p:nvPr/>
        </p:nvSpPr>
        <p:spPr>
          <a:xfrm>
            <a:off x="6776915" y="3725815"/>
            <a:ext cx="360039" cy="63731"/>
          </a:xfrm>
          <a:prstGeom prst="rect">
            <a:avLst/>
          </a:prstGeom>
          <a:noFill/>
          <a:ln/>
        </p:spPr>
        <p:txBody>
          <a:bodyPr wrap="square" lIns="45720" tIns="91440" rIns="91440" bIns="45720" rtlCol="0" anchor="ctr"/>
          <a:lstStyle/>
          <a:p>
            <a:pPr>
              <a:lnSpc>
                <a:spcPct val="100000"/>
              </a:lnSpc>
            </a:pPr>
            <a:endParaRPr lang="en-US" sz="1600" dirty="0"/>
          </a:p>
        </p:txBody>
      </p:sp>
      <p:sp>
        <p:nvSpPr>
          <p:cNvPr id="21" name="Text 17"/>
          <p:cNvSpPr/>
          <p:nvPr/>
        </p:nvSpPr>
        <p:spPr>
          <a:xfrm>
            <a:off x="647700" y="1935480"/>
            <a:ext cx="5483860" cy="460375"/>
          </a:xfrm>
          <a:prstGeom prst="rect">
            <a:avLst/>
          </a:prstGeom>
          <a:noFill/>
          <a:ln/>
        </p:spPr>
        <p:txBody>
          <a:bodyPr wrap="square" lIns="91440" tIns="45720" rIns="91440" bIns="45720" rtlCol="0" anchor="t">
            <a:spAutoFit/>
          </a:bodyPr>
          <a:lstStyle/>
          <a:p>
            <a:pPr>
              <a:lnSpc>
                <a:spcPct val="100000"/>
              </a:lnSpc>
            </a:pPr>
            <a:r>
              <a:rPr lang="en-US" sz="2400" dirty="0">
                <a:solidFill>
                  <a:srgbClr val="000000"/>
                </a:solidFill>
                <a:latin typeface="Source Han Sans SC" pitchFamily="34" charset="0"/>
                <a:ea typeface="Source Han Sans SC" pitchFamily="34" charset="-122"/>
                <a:cs typeface="Source Han Sans SC" pitchFamily="34" charset="-120"/>
              </a:rPr>
              <a:t>Code Editor</a:t>
            </a:r>
            <a:endParaRPr lang="en-US" sz="1600" dirty="0"/>
          </a:p>
        </p:txBody>
      </p:sp>
      <p:sp>
        <p:nvSpPr>
          <p:cNvPr id="22" name="Text 18"/>
          <p:cNvSpPr/>
          <p:nvPr/>
        </p:nvSpPr>
        <p:spPr>
          <a:xfrm>
            <a:off x="662169" y="2305820"/>
            <a:ext cx="5073791"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0D0D0D"/>
                </a:solidFill>
                <a:latin typeface="Source Han Sans SC Normal" pitchFamily="34" charset="0"/>
                <a:ea typeface="Source Han Sans SC Normal" pitchFamily="34" charset="-122"/>
                <a:cs typeface="Source Han Sans SC Normal" pitchFamily="34" charset="-120"/>
              </a:rPr>
              <a:t>To get started, you'll need a code editor. Popular choices include VS Code, Sublime Text, and Atom. These tools help you write and manage your HTML code efficiently.</a:t>
            </a:r>
            <a:endParaRPr lang="en-US" sz="1600" dirty="0"/>
          </a:p>
        </p:txBody>
      </p:sp>
      <p:sp>
        <p:nvSpPr>
          <p:cNvPr id="23" name="Text 19"/>
          <p:cNvSpPr/>
          <p:nvPr/>
        </p:nvSpPr>
        <p:spPr>
          <a:xfrm>
            <a:off x="647700" y="4386580"/>
            <a:ext cx="5464810" cy="460375"/>
          </a:xfrm>
          <a:prstGeom prst="rect">
            <a:avLst/>
          </a:prstGeom>
          <a:noFill/>
          <a:ln/>
        </p:spPr>
        <p:txBody>
          <a:bodyPr wrap="square" lIns="91440" tIns="45720" rIns="91440" bIns="45720" rtlCol="0" anchor="t">
            <a:spAutoFit/>
          </a:bodyPr>
          <a:lstStyle/>
          <a:p>
            <a:pPr>
              <a:lnSpc>
                <a:spcPct val="100000"/>
              </a:lnSpc>
            </a:pPr>
            <a:r>
              <a:rPr lang="en-US" sz="2400" dirty="0">
                <a:solidFill>
                  <a:srgbClr val="FFFFFF"/>
                </a:solidFill>
                <a:latin typeface="Source Han Sans SC" pitchFamily="34" charset="0"/>
                <a:ea typeface="Source Han Sans SC" pitchFamily="34" charset="-122"/>
                <a:cs typeface="Source Han Sans SC" pitchFamily="34" charset="-120"/>
              </a:rPr>
              <a:t>Creating Your First HTML File</a:t>
            </a:r>
            <a:endParaRPr lang="en-US" sz="1600" dirty="0"/>
          </a:p>
        </p:txBody>
      </p:sp>
      <p:sp>
        <p:nvSpPr>
          <p:cNvPr id="24" name="Text 20"/>
          <p:cNvSpPr/>
          <p:nvPr/>
        </p:nvSpPr>
        <p:spPr>
          <a:xfrm>
            <a:off x="662169" y="4756920"/>
            <a:ext cx="5073791"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Light" pitchFamily="34" charset="0"/>
                <a:ea typeface="Source Han Sans SC Light" pitchFamily="34" charset="-122"/>
                <a:cs typeface="Source Han Sans SC Light" pitchFamily="34" charset="-120"/>
              </a:rPr>
              <a:t>Create a new file named index.html. This will be the main file for your webpage. Open it in your code editor to start coding.</a:t>
            </a:r>
            <a:endParaRPr lang="en-US" sz="1600" dirty="0"/>
          </a:p>
        </p:txBody>
      </p:sp>
      <p:sp>
        <p:nvSpPr>
          <p:cNvPr id="25" name="Text 21"/>
          <p:cNvSpPr/>
          <p:nvPr/>
        </p:nvSpPr>
        <p:spPr>
          <a:xfrm>
            <a:off x="6650355" y="1935480"/>
            <a:ext cx="5483860" cy="398780"/>
          </a:xfrm>
          <a:prstGeom prst="rect">
            <a:avLst/>
          </a:prstGeom>
          <a:noFill/>
          <a:ln/>
        </p:spPr>
        <p:txBody>
          <a:bodyPr wrap="square" lIns="91440" tIns="45720" rIns="91440" bIns="45720" rtlCol="0" anchor="t">
            <a:spAutoFit/>
          </a:bodyPr>
          <a:lstStyle/>
          <a:p>
            <a:pPr>
              <a:lnSpc>
                <a:spcPct val="100000"/>
              </a:lnSpc>
            </a:pPr>
            <a:r>
              <a:rPr lang="en-US" sz="2000" dirty="0">
                <a:solidFill>
                  <a:srgbClr val="000000"/>
                </a:solidFill>
                <a:latin typeface="Source Han Sans SC" pitchFamily="34" charset="0"/>
                <a:ea typeface="Source Han Sans SC" pitchFamily="34" charset="-122"/>
                <a:cs typeface="Source Han Sans SC" pitchFamily="34" charset="-120"/>
              </a:rPr>
              <a:t>Basic HTML Structure</a:t>
            </a:r>
            <a:endParaRPr lang="en-US" sz="1600" dirty="0"/>
          </a:p>
        </p:txBody>
      </p:sp>
      <p:sp>
        <p:nvSpPr>
          <p:cNvPr id="26" name="Text 22"/>
          <p:cNvSpPr/>
          <p:nvPr/>
        </p:nvSpPr>
        <p:spPr>
          <a:xfrm>
            <a:off x="6665325" y="2305820"/>
            <a:ext cx="5073791"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0D0D0D"/>
                </a:solidFill>
                <a:latin typeface="Source Han Sans SC Normal" pitchFamily="34" charset="0"/>
                <a:ea typeface="Source Han Sans SC Normal" pitchFamily="34" charset="-122"/>
                <a:cs typeface="Source Han Sans SC Normal" pitchFamily="34" charset="-120"/>
              </a:rPr>
              <a:t>Every HTML document starts with the &lt;!DOCTYPE html&gt; declaration. This is followed by the &lt;html&gt; element, which contains the &lt;head&gt; and &lt;body&gt; sections.</a:t>
            </a:r>
            <a:endParaRPr lang="en-US" sz="1600" dirty="0"/>
          </a:p>
        </p:txBody>
      </p:sp>
      <p:sp>
        <p:nvSpPr>
          <p:cNvPr id="27" name="Text 23"/>
          <p:cNvSpPr/>
          <p:nvPr/>
        </p:nvSpPr>
        <p:spPr>
          <a:xfrm>
            <a:off x="6670040" y="4386580"/>
            <a:ext cx="5464810" cy="398780"/>
          </a:xfrm>
          <a:prstGeom prst="rect">
            <a:avLst/>
          </a:prstGeom>
          <a:noFill/>
          <a:ln/>
        </p:spPr>
        <p:txBody>
          <a:bodyPr wrap="square" lIns="91440" tIns="45720" rIns="91440" bIns="45720" rtlCol="0" anchor="t">
            <a:spAutoFit/>
          </a:bodyPr>
          <a:lstStyle/>
          <a:p>
            <a:pPr>
              <a:lnSpc>
                <a:spcPct val="100000"/>
              </a:lnSpc>
            </a:pPr>
            <a:r>
              <a:rPr lang="en-US" sz="2000" dirty="0">
                <a:solidFill>
                  <a:srgbClr val="FFFFFF"/>
                </a:solidFill>
                <a:latin typeface="Source Han Sans SC" pitchFamily="34" charset="0"/>
                <a:ea typeface="Source Han Sans SC" pitchFamily="34" charset="-122"/>
                <a:cs typeface="Source Han Sans SC" pitchFamily="34" charset="-120"/>
              </a:rPr>
              <a:t>Title and Body</a:t>
            </a:r>
            <a:endParaRPr lang="en-US" sz="1600" dirty="0"/>
          </a:p>
        </p:txBody>
      </p:sp>
      <p:sp>
        <p:nvSpPr>
          <p:cNvPr id="28" name="Text 24"/>
          <p:cNvSpPr/>
          <p:nvPr/>
        </p:nvSpPr>
        <p:spPr>
          <a:xfrm>
            <a:off x="6684733" y="4756920"/>
            <a:ext cx="5073791"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Light" pitchFamily="34" charset="0"/>
                <a:ea typeface="Source Han Sans SC Light" pitchFamily="34" charset="-122"/>
                <a:cs typeface="Source Han Sans SC Light" pitchFamily="34" charset="-120"/>
              </a:rPr>
              <a:t>Inside the &lt;head&gt;, add a &lt;title&gt; tag to set the title of your webpage. The &lt;body&gt; section is where you'll add all the content that will be visible on the page.</a:t>
            </a:r>
            <a:endParaRPr lang="en-US" sz="1600" dirty="0"/>
          </a:p>
        </p:txBody>
      </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a:extLst>
              <a:ext uri="{FF2B5EF4-FFF2-40B4-BE49-F238E27FC236}">
                <a16:creationId xmlns:a16="http://schemas.microsoft.com/office/drawing/2014/main" id="{EC4B940A-6ED7-2642-32A5-9814B10B78AD}"/>
              </a:ext>
            </a:extLst>
          </p:cNvPr>
          <p:cNvSpPr txBox="1">
            <a:spLocks noChangeArrowheads="1"/>
          </p:cNvSpPr>
          <p:nvPr/>
        </p:nvSpPr>
        <p:spPr>
          <a:xfrm>
            <a:off x="685800" y="381000"/>
            <a:ext cx="11038840"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Introduction to HTML</a:t>
            </a:r>
            <a:endParaRPr lang="en-US" altLang="en-US" dirty="0"/>
          </a:p>
        </p:txBody>
      </p:sp>
      <p:sp>
        <p:nvSpPr>
          <p:cNvPr id="8" name="Rectangle 3">
            <a:extLst>
              <a:ext uri="{FF2B5EF4-FFF2-40B4-BE49-F238E27FC236}">
                <a16:creationId xmlns:a16="http://schemas.microsoft.com/office/drawing/2014/main" id="{62A02C09-237C-2D0B-A0B4-40AD72D9CF99}"/>
              </a:ext>
            </a:extLst>
          </p:cNvPr>
          <p:cNvSpPr txBox="1">
            <a:spLocks noChangeArrowheads="1"/>
          </p:cNvSpPr>
          <p:nvPr/>
        </p:nvSpPr>
        <p:spPr>
          <a:xfrm>
            <a:off x="685800" y="1524000"/>
            <a:ext cx="11038840" cy="495300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sz="2000" dirty="0"/>
              <a:t>HTML stands for "</a:t>
            </a:r>
            <a:r>
              <a:rPr lang="en-US" altLang="en-US" sz="2000" dirty="0" err="1"/>
              <a:t>HyperText</a:t>
            </a:r>
            <a:r>
              <a:rPr lang="en-US" altLang="en-US" sz="2000" dirty="0"/>
              <a:t> Markup Language"</a:t>
            </a:r>
          </a:p>
          <a:p>
            <a:r>
              <a:rPr lang="en-US" altLang="en-US" sz="2000" dirty="0"/>
              <a:t>HTML is a collection of text surrounded by tags which modify the text of the document.</a:t>
            </a:r>
          </a:p>
          <a:p>
            <a:r>
              <a:rPr lang="en-US" altLang="en-US" sz="2000" dirty="0"/>
              <a:t>All tags are encoded in angle brackets (&lt;&gt;).</a:t>
            </a:r>
            <a:endParaRPr lang="en-US" altLang="en-US" sz="1800" dirty="0"/>
          </a:p>
          <a:p>
            <a:r>
              <a:rPr lang="en-US" altLang="en-US" sz="2000" dirty="0"/>
              <a:t>In general, tags work in pairs -- one to turn on the modification, one to turn it off.  Stop tags look just like start tags except they have a slash (/) in front.  </a:t>
            </a:r>
          </a:p>
          <a:p>
            <a:pPr algn="ctr">
              <a:buFontTx/>
              <a:buNone/>
            </a:pPr>
            <a:r>
              <a:rPr lang="en-US" altLang="en-US" sz="1800" dirty="0">
                <a:latin typeface="Courier" charset="0"/>
              </a:rPr>
              <a:t>&lt;TAG&gt;affected text&lt;/TAG&gt;</a:t>
            </a:r>
            <a:endParaRPr lang="en-US" altLang="en-US" sz="2000" dirty="0"/>
          </a:p>
          <a:p>
            <a:r>
              <a:rPr lang="en-US" altLang="en-US" sz="2000" dirty="0"/>
              <a:t>Some tags work on their own.  We call these "singlet" tags.  The Horizontal Rule tag &lt;HR&gt; is an example.</a:t>
            </a:r>
          </a:p>
          <a:p>
            <a:r>
              <a:rPr lang="en-US" altLang="en-US" sz="2000" dirty="0"/>
              <a:t>Most tags have attributes which can modify how they function:</a:t>
            </a:r>
          </a:p>
          <a:p>
            <a:pPr algn="ctr">
              <a:buFontTx/>
              <a:buNone/>
            </a:pPr>
            <a:r>
              <a:rPr lang="en-US" altLang="en-US" sz="1800" dirty="0">
                <a:latin typeface="Courier" charset="0"/>
              </a:rPr>
              <a:t>&lt;TAG attribute="option"&gt;affected text&lt;/TAG&gt;</a:t>
            </a:r>
          </a:p>
        </p:txBody>
      </p:sp>
    </p:spTree>
    <p:extLst>
      <p:ext uri="{BB962C8B-B14F-4D97-AF65-F5344CB8AC3E}">
        <p14:creationId xmlns:p14="http://schemas.microsoft.com/office/powerpoint/2010/main" val="2692504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E5FCE-299E-4B93-3F0F-AF5BB1A6F18F}"/>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2FDA2890-64EB-4ED3-AD0D-15194AC90EF8}"/>
              </a:ext>
            </a:extLst>
          </p:cNvPr>
          <p:cNvSpPr txBox="1">
            <a:spLocks noChangeArrowheads="1"/>
          </p:cNvSpPr>
          <p:nvPr/>
        </p:nvSpPr>
        <p:spPr>
          <a:xfrm>
            <a:off x="685800" y="381000"/>
            <a:ext cx="10959662"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Tag examples</a:t>
            </a:r>
          </a:p>
        </p:txBody>
      </p:sp>
      <p:sp>
        <p:nvSpPr>
          <p:cNvPr id="5" name="Rectangle 3">
            <a:extLst>
              <a:ext uri="{FF2B5EF4-FFF2-40B4-BE49-F238E27FC236}">
                <a16:creationId xmlns:a16="http://schemas.microsoft.com/office/drawing/2014/main" id="{62DBABBD-8149-2DC7-6710-A38BEB4364AA}"/>
              </a:ext>
            </a:extLst>
          </p:cNvPr>
          <p:cNvSpPr txBox="1">
            <a:spLocks noChangeArrowheads="1"/>
          </p:cNvSpPr>
          <p:nvPr/>
        </p:nvSpPr>
        <p:spPr>
          <a:xfrm>
            <a:off x="685800" y="2057400"/>
            <a:ext cx="10959662" cy="411480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Tx/>
              <a:buNone/>
            </a:pPr>
            <a:r>
              <a:rPr lang="en-US" altLang="en-US" sz="2000">
                <a:latin typeface="Courier" charset="0"/>
              </a:rPr>
              <a:t>&lt;i&gt;I want this in italics&lt;/i&gt;</a:t>
            </a:r>
            <a:br>
              <a:rPr lang="en-US" altLang="en-US" sz="2000">
                <a:latin typeface="Courier" charset="0"/>
              </a:rPr>
            </a:br>
            <a:endParaRPr lang="en-US" altLang="en-US" sz="800">
              <a:latin typeface="Courier" charset="0"/>
            </a:endParaRPr>
          </a:p>
          <a:p>
            <a:pPr marL="0" indent="0" algn="ctr">
              <a:buFontTx/>
              <a:buNone/>
            </a:pPr>
            <a:r>
              <a:rPr lang="en-US" altLang="en-US" sz="2400"/>
              <a:t>is processed by the browser to look like:</a:t>
            </a:r>
            <a:endParaRPr lang="en-US" altLang="en-US" sz="2000">
              <a:latin typeface="Courier" charset="0"/>
            </a:endParaRPr>
          </a:p>
          <a:p>
            <a:pPr marL="0" indent="0">
              <a:buFontTx/>
              <a:buNone/>
            </a:pPr>
            <a:endParaRPr lang="en-US" altLang="en-US" sz="800">
              <a:latin typeface="Courier" charset="0"/>
            </a:endParaRPr>
          </a:p>
          <a:p>
            <a:pPr marL="0" indent="0">
              <a:buFontTx/>
              <a:buNone/>
            </a:pPr>
            <a:r>
              <a:rPr lang="en-US" altLang="en-US" sz="2000" i="1">
                <a:latin typeface="Courier" charset="0"/>
              </a:rPr>
              <a:t>I want this in italics</a:t>
            </a:r>
          </a:p>
          <a:p>
            <a:pPr marL="0" indent="0">
              <a:buFontTx/>
              <a:buNone/>
            </a:pPr>
            <a:endParaRPr lang="en-US" altLang="en-US" sz="2000" i="1">
              <a:latin typeface="Courier" charset="0"/>
            </a:endParaRPr>
          </a:p>
          <a:p>
            <a:pPr marL="0" indent="0">
              <a:buFontTx/>
              <a:buNone/>
            </a:pPr>
            <a:r>
              <a:rPr lang="en-US" altLang="en-US" sz="2000" i="1">
                <a:latin typeface="Courier" charset="0"/>
              </a:rPr>
              <a:t>&lt;</a:t>
            </a:r>
            <a:r>
              <a:rPr lang="en-US" altLang="en-US" sz="2000">
                <a:latin typeface="Courier" charset="0"/>
              </a:rPr>
              <a:t>p align="center"&gt;I want this new paragraph to be centered&lt;/p&gt;</a:t>
            </a:r>
          </a:p>
          <a:p>
            <a:pPr marL="0" indent="0">
              <a:buFontTx/>
              <a:buNone/>
            </a:pPr>
            <a:endParaRPr lang="en-US" altLang="en-US" sz="800">
              <a:latin typeface="Courier" charset="0"/>
            </a:endParaRPr>
          </a:p>
          <a:p>
            <a:pPr marL="0" indent="0" algn="ctr">
              <a:buFontTx/>
              <a:buNone/>
            </a:pPr>
            <a:r>
              <a:rPr lang="en-US" altLang="en-US" sz="2400"/>
              <a:t>is processed by the browser to look like:</a:t>
            </a:r>
            <a:endParaRPr lang="en-US" altLang="en-US" sz="2000">
              <a:latin typeface="Courier" charset="0"/>
            </a:endParaRPr>
          </a:p>
          <a:p>
            <a:pPr marL="0" indent="0">
              <a:buFontTx/>
              <a:buNone/>
            </a:pPr>
            <a:endParaRPr lang="en-US" altLang="en-US" sz="800">
              <a:latin typeface="Courier" charset="0"/>
            </a:endParaRPr>
          </a:p>
          <a:p>
            <a:pPr marL="0" indent="0" algn="ctr">
              <a:buFontTx/>
              <a:buNone/>
            </a:pPr>
            <a:r>
              <a:rPr lang="en-US" altLang="en-US" sz="2000">
                <a:latin typeface="Courier" charset="0"/>
              </a:rPr>
              <a:t>I want this new paragraph</a:t>
            </a:r>
          </a:p>
          <a:p>
            <a:pPr marL="0" indent="0" algn="ctr">
              <a:buFontTx/>
              <a:buNone/>
            </a:pPr>
            <a:r>
              <a:rPr lang="en-US" altLang="en-US" sz="2000">
                <a:latin typeface="Courier" charset="0"/>
              </a:rPr>
              <a:t>to be centered</a:t>
            </a:r>
          </a:p>
        </p:txBody>
      </p:sp>
      <p:sp>
        <p:nvSpPr>
          <p:cNvPr id="6" name="Line 4">
            <a:extLst>
              <a:ext uri="{FF2B5EF4-FFF2-40B4-BE49-F238E27FC236}">
                <a16:creationId xmlns:a16="http://schemas.microsoft.com/office/drawing/2014/main" id="{70A2C68E-780A-6B61-9DFA-ECC8C5EB82A5}"/>
              </a:ext>
            </a:extLst>
          </p:cNvPr>
          <p:cNvSpPr>
            <a:spLocks noChangeShapeType="1"/>
          </p:cNvSpPr>
          <p:nvPr/>
        </p:nvSpPr>
        <p:spPr bwMode="auto">
          <a:xfrm>
            <a:off x="819808" y="3733800"/>
            <a:ext cx="10604938" cy="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Tree>
    <p:extLst>
      <p:ext uri="{BB962C8B-B14F-4D97-AF65-F5344CB8AC3E}">
        <p14:creationId xmlns:p14="http://schemas.microsoft.com/office/powerpoint/2010/main" val="4133173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6">
            <a:extLst>
              <a:ext uri="{FF2B5EF4-FFF2-40B4-BE49-F238E27FC236}">
                <a16:creationId xmlns:a16="http://schemas.microsoft.com/office/drawing/2014/main" id="{A7E7F70D-221E-F1B2-A2B7-DD11A53724A0}"/>
              </a:ext>
            </a:extLst>
          </p:cNvPr>
          <p:cNvSpPr txBox="1">
            <a:spLocks noChangeArrowheads="1"/>
          </p:cNvSpPr>
          <p:nvPr/>
        </p:nvSpPr>
        <p:spPr>
          <a:xfrm>
            <a:off x="1058442" y="623888"/>
            <a:ext cx="10381018"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dirty="0"/>
              <a:t>Basic HTML Structure</a:t>
            </a:r>
          </a:p>
        </p:txBody>
      </p:sp>
      <p:sp>
        <p:nvSpPr>
          <p:cNvPr id="3" name="Rectangle 1027">
            <a:extLst>
              <a:ext uri="{FF2B5EF4-FFF2-40B4-BE49-F238E27FC236}">
                <a16:creationId xmlns:a16="http://schemas.microsoft.com/office/drawing/2014/main" id="{812910A3-981C-C26C-7AC0-EA816685D465}"/>
              </a:ext>
            </a:extLst>
          </p:cNvPr>
          <p:cNvSpPr txBox="1">
            <a:spLocks noChangeArrowheads="1"/>
          </p:cNvSpPr>
          <p:nvPr/>
        </p:nvSpPr>
        <p:spPr>
          <a:xfrm>
            <a:off x="1056640" y="1798320"/>
            <a:ext cx="10383520" cy="4521200"/>
          </a:xfrm>
          <a:prstGeom prst="rect">
            <a:avLst/>
          </a:prstGeom>
        </p:spPr>
        <p:txBody>
          <a:bodyPr rtlCol="0">
            <a:normAutofit fontScale="70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Tx/>
              <a:buNone/>
              <a:defRPr/>
            </a:pPr>
            <a:r>
              <a:rPr lang="en-US" altLang="en-US" dirty="0">
                <a:solidFill>
                  <a:schemeClr val="tx1">
                    <a:lumMod val="75000"/>
                    <a:lumOff val="25000"/>
                  </a:schemeClr>
                </a:solidFill>
              </a:rPr>
              <a:t>&lt;!DOCTYPE html&gt;</a:t>
            </a:r>
          </a:p>
          <a:p>
            <a:pPr>
              <a:buFontTx/>
              <a:buNone/>
              <a:defRPr/>
            </a:pPr>
            <a:r>
              <a:rPr lang="en-US" altLang="en-US" dirty="0">
                <a:solidFill>
                  <a:schemeClr val="tx1">
                    <a:lumMod val="75000"/>
                    <a:lumOff val="25000"/>
                  </a:schemeClr>
                </a:solidFill>
              </a:rPr>
              <a:t>&lt;html lang="</a:t>
            </a:r>
            <a:r>
              <a:rPr lang="en-US" altLang="en-US" dirty="0" err="1">
                <a:solidFill>
                  <a:schemeClr val="tx1">
                    <a:lumMod val="75000"/>
                    <a:lumOff val="25000"/>
                  </a:schemeClr>
                </a:solidFill>
              </a:rPr>
              <a:t>en</a:t>
            </a:r>
            <a:r>
              <a:rPr lang="en-US" altLang="en-US" dirty="0">
                <a:solidFill>
                  <a:schemeClr val="tx1">
                    <a:lumMod val="75000"/>
                    <a:lumOff val="25000"/>
                  </a:schemeClr>
                </a:solidFill>
              </a:rPr>
              <a:t>"&gt;</a:t>
            </a:r>
          </a:p>
          <a:p>
            <a:pPr>
              <a:buFontTx/>
              <a:buNone/>
              <a:defRPr/>
            </a:pPr>
            <a:r>
              <a:rPr lang="en-US" altLang="en-US" b="1" dirty="0">
                <a:solidFill>
                  <a:schemeClr val="tx1">
                    <a:lumMod val="75000"/>
                    <a:lumOff val="25000"/>
                  </a:schemeClr>
                </a:solidFill>
              </a:rPr>
              <a:t>&lt;head&gt;</a:t>
            </a:r>
          </a:p>
          <a:p>
            <a:pPr>
              <a:buFontTx/>
              <a:buNone/>
              <a:defRPr/>
            </a:pPr>
            <a:r>
              <a:rPr lang="en-US" altLang="en-US" dirty="0">
                <a:solidFill>
                  <a:schemeClr val="tx1">
                    <a:lumMod val="75000"/>
                    <a:lumOff val="25000"/>
                  </a:schemeClr>
                </a:solidFill>
              </a:rPr>
              <a:t>    &lt;meta charset="UTF-8"&gt;</a:t>
            </a:r>
          </a:p>
          <a:p>
            <a:pPr>
              <a:buFontTx/>
              <a:buNone/>
              <a:defRPr/>
            </a:pPr>
            <a:r>
              <a:rPr lang="en-US" altLang="en-US" dirty="0">
                <a:solidFill>
                  <a:schemeClr val="tx1">
                    <a:lumMod val="75000"/>
                    <a:lumOff val="25000"/>
                  </a:schemeClr>
                </a:solidFill>
              </a:rPr>
              <a:t>    &lt;meta name="viewport" content="width=device-width, initial-scale=1.0"&gt;</a:t>
            </a:r>
          </a:p>
          <a:p>
            <a:pPr>
              <a:buFontTx/>
              <a:buNone/>
              <a:defRPr/>
            </a:pPr>
            <a:r>
              <a:rPr lang="en-US" altLang="en-US" dirty="0">
                <a:solidFill>
                  <a:schemeClr val="tx1">
                    <a:lumMod val="75000"/>
                    <a:lumOff val="25000"/>
                  </a:schemeClr>
                </a:solidFill>
              </a:rPr>
              <a:t>    &lt;title&gt;My First Web Page&lt;/title&gt;</a:t>
            </a:r>
          </a:p>
          <a:p>
            <a:pPr>
              <a:buFontTx/>
              <a:buNone/>
              <a:defRPr/>
            </a:pPr>
            <a:r>
              <a:rPr lang="en-US" altLang="en-US" b="1" dirty="0">
                <a:solidFill>
                  <a:schemeClr val="tx1">
                    <a:lumMod val="75000"/>
                    <a:lumOff val="25000"/>
                  </a:schemeClr>
                </a:solidFill>
              </a:rPr>
              <a:t>&lt;/head&gt;</a:t>
            </a:r>
          </a:p>
          <a:p>
            <a:pPr>
              <a:buFontTx/>
              <a:buNone/>
              <a:defRPr/>
            </a:pPr>
            <a:r>
              <a:rPr lang="en-US" altLang="en-US" b="1" dirty="0">
                <a:solidFill>
                  <a:schemeClr val="tx1">
                    <a:lumMod val="75000"/>
                    <a:lumOff val="25000"/>
                  </a:schemeClr>
                </a:solidFill>
              </a:rPr>
              <a:t>&lt;body&gt;</a:t>
            </a:r>
          </a:p>
          <a:p>
            <a:pPr>
              <a:buFontTx/>
              <a:buNone/>
              <a:defRPr/>
            </a:pPr>
            <a:r>
              <a:rPr lang="en-US" altLang="en-US" dirty="0">
                <a:solidFill>
                  <a:schemeClr val="tx1">
                    <a:lumMod val="75000"/>
                    <a:lumOff val="25000"/>
                  </a:schemeClr>
                </a:solidFill>
              </a:rPr>
              <a:t>    &lt;h1&gt;Welcome to My Web Page&lt;/h1&gt;</a:t>
            </a:r>
          </a:p>
          <a:p>
            <a:pPr>
              <a:buFontTx/>
              <a:buNone/>
              <a:defRPr/>
            </a:pPr>
            <a:r>
              <a:rPr lang="en-US" altLang="en-US" dirty="0">
                <a:solidFill>
                  <a:schemeClr val="tx1">
                    <a:lumMod val="75000"/>
                    <a:lumOff val="25000"/>
                  </a:schemeClr>
                </a:solidFill>
              </a:rPr>
              <a:t>    &lt;p&gt;This is a paragraph of text.&lt;/p&gt;</a:t>
            </a:r>
          </a:p>
          <a:p>
            <a:pPr>
              <a:buFontTx/>
              <a:buNone/>
              <a:defRPr/>
            </a:pPr>
            <a:r>
              <a:rPr lang="en-US" altLang="en-US" b="1" dirty="0">
                <a:solidFill>
                  <a:schemeClr val="tx1">
                    <a:lumMod val="75000"/>
                    <a:lumOff val="25000"/>
                  </a:schemeClr>
                </a:solidFill>
              </a:rPr>
              <a:t>&lt;/body&gt;</a:t>
            </a:r>
          </a:p>
          <a:p>
            <a:pPr>
              <a:buFontTx/>
              <a:buNone/>
              <a:defRPr/>
            </a:pPr>
            <a:r>
              <a:rPr lang="en-US" altLang="en-US" dirty="0">
                <a:solidFill>
                  <a:schemeClr val="tx1">
                    <a:lumMod val="75000"/>
                    <a:lumOff val="25000"/>
                  </a:schemeClr>
                </a:solidFill>
              </a:rPr>
              <a:t>&lt;/html&gt;</a:t>
            </a:r>
          </a:p>
          <a:p>
            <a:pPr>
              <a:buFontTx/>
              <a:buNone/>
              <a:defRPr/>
            </a:pPr>
            <a:endParaRPr lang="en-US" altLang="en-US" dirty="0">
              <a:solidFill>
                <a:schemeClr val="tx1">
                  <a:lumMod val="75000"/>
                  <a:lumOff val="25000"/>
                </a:schemeClr>
              </a:solidFill>
            </a:endParaRPr>
          </a:p>
        </p:txBody>
      </p:sp>
    </p:spTree>
    <p:extLst>
      <p:ext uri="{BB962C8B-B14F-4D97-AF65-F5344CB8AC3E}">
        <p14:creationId xmlns:p14="http://schemas.microsoft.com/office/powerpoint/2010/main" val="36553444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51180" y="2952115"/>
            <a:ext cx="5887085" cy="523220"/>
          </a:xfrm>
          <a:prstGeom prst="rect">
            <a:avLst/>
          </a:prstGeom>
          <a:noFill/>
          <a:ln/>
        </p:spPr>
        <p:txBody>
          <a:bodyPr wrap="square" lIns="91440" tIns="45720" rIns="91440" bIns="45720" rtlCol="0" anchor="t">
            <a:spAutoFit/>
          </a:bodyPr>
          <a:lstStyle/>
          <a:p>
            <a:pPr>
              <a:lnSpc>
                <a:spcPct val="100000"/>
              </a:lnSpc>
            </a:pPr>
            <a:r>
              <a:rPr lang="en-US" sz="2800" dirty="0">
                <a:solidFill>
                  <a:srgbClr val="000000"/>
                </a:solidFill>
                <a:latin typeface="Source Han Sans SC" pitchFamily="34" charset="0"/>
                <a:ea typeface="Source Han Sans SC" pitchFamily="34" charset="-122"/>
                <a:cs typeface="Source Han Sans SC" pitchFamily="34" charset="-120"/>
              </a:rPr>
              <a:t>Core Tags</a:t>
            </a:r>
            <a:endParaRPr lang="en-US" sz="1600" dirty="0"/>
          </a:p>
        </p:txBody>
      </p:sp>
      <p:sp>
        <p:nvSpPr>
          <p:cNvPr id="3" name="Shape 1"/>
          <p:cNvSpPr/>
          <p:nvPr/>
        </p:nvSpPr>
        <p:spPr>
          <a:xfrm>
            <a:off x="711202" y="786574"/>
            <a:ext cx="3434078" cy="0"/>
          </a:xfrm>
          <a:prstGeom prst="line">
            <a:avLst/>
          </a:prstGeom>
          <a:noFill/>
          <a:ln w="15875">
            <a:solidFill>
              <a:srgbClr val="000000"/>
            </a:solidFill>
            <a:prstDash val="solid"/>
            <a:headEnd type="none"/>
            <a:tailEnd type="none"/>
          </a:ln>
        </p:spPr>
      </p:sp>
      <p:pic>
        <p:nvPicPr>
          <p:cNvPr id="4" name="Image 0" descr="https://kimi-img.moonshot.cn/pub/slides/slides_tmpl/image/25-08-27-20:09:03-d2nfanp8bjvh7rlj0i40.jpg"/>
          <p:cNvPicPr>
            <a:picLocks noChangeAspect="1"/>
          </p:cNvPicPr>
          <p:nvPr/>
        </p:nvPicPr>
        <p:blipFill>
          <a:blip r:embed="rId3"/>
          <a:stretch>
            <a:fillRect/>
          </a:stretch>
        </p:blipFill>
        <p:spPr>
          <a:xfrm>
            <a:off x="8046721" y="1008555"/>
            <a:ext cx="3553129" cy="5196386"/>
          </a:xfrm>
          <a:prstGeom prst="rect">
            <a:avLst/>
          </a:prstGeom>
        </p:spPr>
      </p:pic>
      <p:pic>
        <p:nvPicPr>
          <p:cNvPr id="5" name="Image 1" descr="https://kimi-img.moonshot.cn/pub/slides/slides_tmpl/image/25-08-27-20:09:03-d2nfanp8bjvh7rlj0i3g.png"/>
          <p:cNvPicPr>
            <a:picLocks noChangeAspect="1"/>
          </p:cNvPicPr>
          <p:nvPr/>
        </p:nvPicPr>
        <p:blipFill>
          <a:blip r:embed="rId4"/>
          <a:srcRect r="60768" b="-4844"/>
          <a:stretch/>
        </p:blipFill>
        <p:spPr>
          <a:xfrm>
            <a:off x="551180" y="404495"/>
            <a:ext cx="4320336" cy="503981"/>
          </a:xfrm>
          <a:prstGeom prst="rect">
            <a:avLst/>
          </a:prstGeom>
        </p:spPr>
      </p:pic>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2E0F56CC-3E20-E355-DF18-8F7F0A6E20C6}"/>
              </a:ext>
            </a:extLst>
          </p:cNvPr>
          <p:cNvSpPr txBox="1">
            <a:spLocks noChangeArrowheads="1"/>
          </p:cNvSpPr>
          <p:nvPr/>
        </p:nvSpPr>
        <p:spPr>
          <a:xfrm>
            <a:off x="685800" y="381000"/>
            <a:ext cx="11326978"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dirty="0"/>
              <a:t>Core tags</a:t>
            </a:r>
          </a:p>
        </p:txBody>
      </p:sp>
      <p:sp>
        <p:nvSpPr>
          <p:cNvPr id="5" name="Rectangle 3">
            <a:extLst>
              <a:ext uri="{FF2B5EF4-FFF2-40B4-BE49-F238E27FC236}">
                <a16:creationId xmlns:a16="http://schemas.microsoft.com/office/drawing/2014/main" id="{AAAC3FC6-C304-67CF-F1AB-6D1F80250B61}"/>
              </a:ext>
            </a:extLst>
          </p:cNvPr>
          <p:cNvSpPr txBox="1">
            <a:spLocks noChangeArrowheads="1"/>
          </p:cNvSpPr>
          <p:nvPr/>
        </p:nvSpPr>
        <p:spPr>
          <a:xfrm>
            <a:off x="685800" y="1361440"/>
            <a:ext cx="11326978" cy="465836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tabLst>
                <a:tab pos="457200" algn="l"/>
                <a:tab pos="685800" algn="l"/>
                <a:tab pos="1028700" algn="l"/>
                <a:tab pos="1371600" algn="l"/>
                <a:tab pos="1600200" algn="l"/>
              </a:tabLst>
            </a:pPr>
            <a:endParaRPr lang="en-US" altLang="en-US" dirty="0"/>
          </a:p>
        </p:txBody>
      </p:sp>
      <p:sp>
        <p:nvSpPr>
          <p:cNvPr id="2" name="TextBox 1">
            <a:extLst>
              <a:ext uri="{FF2B5EF4-FFF2-40B4-BE49-F238E27FC236}">
                <a16:creationId xmlns:a16="http://schemas.microsoft.com/office/drawing/2014/main" id="{08795E1C-67B0-470E-A7E3-7A4DAC1CBB38}"/>
              </a:ext>
            </a:extLst>
          </p:cNvPr>
          <p:cNvSpPr txBox="1"/>
          <p:nvPr/>
        </p:nvSpPr>
        <p:spPr>
          <a:xfrm>
            <a:off x="1411529" y="1534160"/>
            <a:ext cx="9875520" cy="4832092"/>
          </a:xfrm>
          <a:prstGeom prst="rect">
            <a:avLst/>
          </a:prstGeom>
          <a:noFill/>
        </p:spPr>
        <p:txBody>
          <a:bodyPr wrap="square" rtlCol="0">
            <a:spAutoFit/>
          </a:bodyPr>
          <a:lstStyle/>
          <a:p>
            <a:pPr marL="285750" indent="-285750">
              <a:buFont typeface="Arial" panose="020B0604020202020204" pitchFamily="34" charset="0"/>
              <a:buChar char="•"/>
            </a:pPr>
            <a:r>
              <a:rPr lang="en-SG" sz="2800" b="1" dirty="0"/>
              <a:t>Document Structure:</a:t>
            </a:r>
            <a:r>
              <a:rPr lang="en-SG" sz="2800" dirty="0"/>
              <a:t> &lt;!DOCTYPE html&gt;, &lt;html&gt;, &lt;head&gt;, &lt;body&gt;</a:t>
            </a:r>
          </a:p>
          <a:p>
            <a:pPr marL="285750" indent="-285750">
              <a:buFont typeface="Arial" panose="020B0604020202020204" pitchFamily="34" charset="0"/>
              <a:buChar char="•"/>
            </a:pPr>
            <a:r>
              <a:rPr lang="en-SG" sz="2800" b="1" dirty="0"/>
              <a:t>Sectioning:</a:t>
            </a:r>
            <a:r>
              <a:rPr lang="en-SG" sz="2800" dirty="0"/>
              <a:t> &lt;header&gt;, &lt;nav&gt;, &lt;main&gt;, &lt;section&gt;, &lt;article&gt;, &lt;aside&gt;, &lt;footer&gt;</a:t>
            </a:r>
          </a:p>
          <a:p>
            <a:pPr marL="285750" indent="-285750">
              <a:buFont typeface="Arial" panose="020B0604020202020204" pitchFamily="34" charset="0"/>
              <a:buChar char="•"/>
            </a:pPr>
            <a:r>
              <a:rPr lang="en-SG" sz="2800" b="1" dirty="0"/>
              <a:t>Grouping/Layout:</a:t>
            </a:r>
            <a:r>
              <a:rPr lang="en-SG" sz="2800" dirty="0"/>
              <a:t> &lt;div&gt; (block), &lt;span&gt; (inline)</a:t>
            </a:r>
          </a:p>
          <a:p>
            <a:pPr marL="285750" indent="-285750">
              <a:buFont typeface="Arial" panose="020B0604020202020204" pitchFamily="34" charset="0"/>
              <a:buChar char="•"/>
            </a:pPr>
            <a:r>
              <a:rPr lang="en-SG" sz="2800" b="1" dirty="0"/>
              <a:t>Text Content:</a:t>
            </a:r>
            <a:r>
              <a:rPr lang="en-SG" sz="2800" dirty="0"/>
              <a:t> &lt;h1&gt;–&lt;h6&gt;, &lt;p&gt;, &lt;ul&gt;/&lt;</a:t>
            </a:r>
            <a:r>
              <a:rPr lang="en-SG" sz="2800" dirty="0" err="1"/>
              <a:t>ol</a:t>
            </a:r>
            <a:r>
              <a:rPr lang="en-SG" sz="2800" dirty="0"/>
              <a:t>&gt;, &lt;li&gt;, &lt;blockquote&gt;, &lt;hr&gt;</a:t>
            </a:r>
          </a:p>
          <a:p>
            <a:endParaRPr lang="en-SG" sz="2800" dirty="0"/>
          </a:p>
          <a:p>
            <a:r>
              <a:rPr lang="en-SG" sz="2800" dirty="0"/>
              <a:t>These tags define the </a:t>
            </a:r>
            <a:r>
              <a:rPr lang="en-SG" sz="2800" b="1" dirty="0"/>
              <a:t>semantic structure</a:t>
            </a:r>
            <a:r>
              <a:rPr lang="en-SG" sz="2800" dirty="0"/>
              <a:t> of a web page rather than its style.</a:t>
            </a:r>
          </a:p>
          <a:p>
            <a:endParaRPr lang="en-SG" sz="2800" dirty="0"/>
          </a:p>
        </p:txBody>
      </p:sp>
    </p:spTree>
    <p:extLst>
      <p:ext uri="{BB962C8B-B14F-4D97-AF65-F5344CB8AC3E}">
        <p14:creationId xmlns:p14="http://schemas.microsoft.com/office/powerpoint/2010/main" val="18591551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3185" y="-99695"/>
            <a:ext cx="12440920" cy="7056755"/>
          </a:xfrm>
          <a:prstGeom prst="rect">
            <a:avLst/>
          </a:prstGeom>
          <a:solidFill>
            <a:srgbClr val="161616"/>
          </a:solidFill>
          <a:ln/>
        </p:spPr>
      </p:sp>
      <p:sp>
        <p:nvSpPr>
          <p:cNvPr id="3" name="Text 1"/>
          <p:cNvSpPr/>
          <p:nvPr/>
        </p:nvSpPr>
        <p:spPr>
          <a:xfrm>
            <a:off x="-83185" y="-99695"/>
            <a:ext cx="12440920" cy="7056755"/>
          </a:xfrm>
          <a:prstGeom prst="rect">
            <a:avLst/>
          </a:prstGeom>
          <a:noFill/>
          <a:ln/>
        </p:spPr>
        <p:txBody>
          <a:bodyPr wrap="square" lIns="45720" tIns="91440" rIns="91440" bIns="45720" rtlCol="0" anchor="ctr"/>
          <a:lstStyle/>
          <a:p>
            <a:pPr>
              <a:lnSpc>
                <a:spcPct val="100000"/>
              </a:lnSpc>
            </a:pPr>
            <a:endParaRPr lang="en-US" sz="1600" dirty="0"/>
          </a:p>
        </p:txBody>
      </p:sp>
      <p:sp>
        <p:nvSpPr>
          <p:cNvPr id="4" name="Shape 2"/>
          <p:cNvSpPr/>
          <p:nvPr/>
        </p:nvSpPr>
        <p:spPr>
          <a:xfrm>
            <a:off x="2135505" y="546100"/>
            <a:ext cx="3051810" cy="3366770"/>
          </a:xfrm>
          <a:prstGeom prst="rect">
            <a:avLst/>
          </a:prstGeom>
          <a:solidFill>
            <a:srgbClr val="FFFFFF"/>
          </a:solidFill>
          <a:ln/>
        </p:spPr>
      </p:sp>
      <p:sp>
        <p:nvSpPr>
          <p:cNvPr id="5" name="Text 3"/>
          <p:cNvSpPr/>
          <p:nvPr/>
        </p:nvSpPr>
        <p:spPr>
          <a:xfrm>
            <a:off x="2135505" y="546100"/>
            <a:ext cx="3051810" cy="3366770"/>
          </a:xfrm>
          <a:prstGeom prst="rect">
            <a:avLst/>
          </a:prstGeom>
          <a:noFill/>
          <a:ln/>
        </p:spPr>
        <p:txBody>
          <a:bodyPr wrap="square" lIns="45720" tIns="91440" rIns="91440" bIns="45720" rtlCol="0" anchor="ctr"/>
          <a:lstStyle/>
          <a:p>
            <a:pPr>
              <a:lnSpc>
                <a:spcPct val="100000"/>
              </a:lnSpc>
            </a:pPr>
            <a:endParaRPr lang="en-US" sz="1600" dirty="0"/>
          </a:p>
        </p:txBody>
      </p:sp>
      <p:pic>
        <p:nvPicPr>
          <p:cNvPr id="6" name="Image 0" descr="https://kimi-img.moonshot.cn/pub/slides/slides_tmpl/image/25-08-27-20:09:11-d2nfapp8bjvh7rlj0ij0.jpg"/>
          <p:cNvPicPr>
            <a:picLocks noChangeAspect="1"/>
          </p:cNvPicPr>
          <p:nvPr/>
        </p:nvPicPr>
        <p:blipFill>
          <a:blip r:embed="rId3"/>
          <a:srcRect/>
          <a:stretch/>
        </p:blipFill>
        <p:spPr>
          <a:xfrm>
            <a:off x="-165752" y="832007"/>
            <a:ext cx="2254593" cy="2706833"/>
          </a:xfrm>
          <a:prstGeom prst="rect">
            <a:avLst/>
          </a:prstGeom>
        </p:spPr>
      </p:pic>
      <p:pic>
        <p:nvPicPr>
          <p:cNvPr id="7" name="Image 1" descr="https://kimi-img.moonshot.cn/pub/slides/slides_tmpl/image/25-08-27-20:09:11-d2nfapp8bjvh7rlj0ijg.jpg"/>
          <p:cNvPicPr>
            <a:picLocks noChangeAspect="1"/>
          </p:cNvPicPr>
          <p:nvPr/>
        </p:nvPicPr>
        <p:blipFill>
          <a:blip r:embed="rId4"/>
          <a:srcRect/>
          <a:stretch/>
        </p:blipFill>
        <p:spPr>
          <a:xfrm>
            <a:off x="5230462" y="832007"/>
            <a:ext cx="2254593" cy="2706833"/>
          </a:xfrm>
          <a:prstGeom prst="rect">
            <a:avLst/>
          </a:prstGeom>
        </p:spPr>
      </p:pic>
      <p:pic>
        <p:nvPicPr>
          <p:cNvPr id="8" name="Image 2" descr="https://kimi-img.moonshot.cn/pub/slides/slides_tmpl/image/25-08-27-20:09:11-d2nfapp8bjvh7rlj0ikg.jpg"/>
          <p:cNvPicPr>
            <a:picLocks noChangeAspect="1"/>
          </p:cNvPicPr>
          <p:nvPr/>
        </p:nvPicPr>
        <p:blipFill>
          <a:blip r:embed="rId5"/>
          <a:srcRect/>
          <a:stretch/>
        </p:blipFill>
        <p:spPr>
          <a:xfrm>
            <a:off x="7544745" y="832007"/>
            <a:ext cx="2254250" cy="2706834"/>
          </a:xfrm>
          <a:prstGeom prst="rect">
            <a:avLst/>
          </a:prstGeom>
        </p:spPr>
      </p:pic>
      <p:pic>
        <p:nvPicPr>
          <p:cNvPr id="9" name="Image 3" descr="https://kimi-img.moonshot.cn/pub/slides/slides_tmpl/image/25-08-27-20:09:11-d2nfapp8bjvh7rlj0il0.jpg"/>
          <p:cNvPicPr>
            <a:picLocks noChangeAspect="1"/>
          </p:cNvPicPr>
          <p:nvPr/>
        </p:nvPicPr>
        <p:blipFill>
          <a:blip r:embed="rId6"/>
          <a:srcRect/>
          <a:stretch/>
        </p:blipFill>
        <p:spPr>
          <a:xfrm>
            <a:off x="9858685" y="832007"/>
            <a:ext cx="2254250" cy="2706833"/>
          </a:xfrm>
          <a:prstGeom prst="rect">
            <a:avLst/>
          </a:prstGeom>
        </p:spPr>
      </p:pic>
      <p:sp>
        <p:nvSpPr>
          <p:cNvPr id="10" name="Shape 4"/>
          <p:cNvSpPr/>
          <p:nvPr/>
        </p:nvSpPr>
        <p:spPr>
          <a:xfrm>
            <a:off x="2178798" y="819083"/>
            <a:ext cx="2961707" cy="2719757"/>
          </a:xfrm>
          <a:prstGeom prst="rect">
            <a:avLst/>
          </a:prstGeom>
          <a:solidFill>
            <a:srgbClr val="FFFFFF">
              <a:alpha val="90980"/>
            </a:srgbClr>
          </a:solidFill>
          <a:ln/>
        </p:spPr>
      </p:sp>
      <p:sp>
        <p:nvSpPr>
          <p:cNvPr id="11" name="Text 5"/>
          <p:cNvSpPr/>
          <p:nvPr/>
        </p:nvSpPr>
        <p:spPr>
          <a:xfrm>
            <a:off x="2178798" y="819083"/>
            <a:ext cx="2961707" cy="2719757"/>
          </a:xfrm>
          <a:prstGeom prst="rect">
            <a:avLst/>
          </a:prstGeom>
          <a:noFill/>
          <a:ln/>
        </p:spPr>
        <p:txBody>
          <a:bodyPr wrap="square" lIns="45720" tIns="91440" rIns="91440" bIns="45720" rtlCol="0" anchor="ctr"/>
          <a:lstStyle/>
          <a:p>
            <a:pPr>
              <a:lnSpc>
                <a:spcPct val="100000"/>
              </a:lnSpc>
            </a:pPr>
            <a:endParaRPr lang="en-US" sz="1600" dirty="0"/>
          </a:p>
        </p:txBody>
      </p:sp>
      <p:sp>
        <p:nvSpPr>
          <p:cNvPr id="12" name="Text 6"/>
          <p:cNvSpPr/>
          <p:nvPr/>
        </p:nvSpPr>
        <p:spPr>
          <a:xfrm>
            <a:off x="592465" y="4391794"/>
            <a:ext cx="3896724" cy="1477328"/>
          </a:xfrm>
          <a:prstGeom prst="rect">
            <a:avLst/>
          </a:prstGeom>
          <a:noFill/>
          <a:ln/>
        </p:spPr>
        <p:txBody>
          <a:bodyPr wrap="square" lIns="91440" tIns="45720" rIns="91440" bIns="45720" rtlCol="0" anchor="t">
            <a:spAutoFit/>
          </a:bodyPr>
          <a:lstStyle/>
          <a:p>
            <a:pPr>
              <a:lnSpc>
                <a:spcPct val="100000"/>
              </a:lnSpc>
            </a:pPr>
            <a:r>
              <a:rPr lang="en-US" sz="3600" dirty="0">
                <a:solidFill>
                  <a:srgbClr val="C2F5E1"/>
                </a:solidFill>
                <a:latin typeface="Source Han Sans SC" pitchFamily="34" charset="0"/>
                <a:ea typeface="Source Han Sans SC" pitchFamily="34" charset="-122"/>
                <a:cs typeface="Source Han Sans SC" pitchFamily="34" charset="-120"/>
              </a:rPr>
              <a:t>Text &amp; Headings</a:t>
            </a:r>
            <a:endParaRPr lang="en-US" sz="1600" dirty="0"/>
          </a:p>
        </p:txBody>
      </p:sp>
      <p:sp>
        <p:nvSpPr>
          <p:cNvPr id="13" name="Shape 7"/>
          <p:cNvSpPr/>
          <p:nvPr/>
        </p:nvSpPr>
        <p:spPr>
          <a:xfrm>
            <a:off x="4439563" y="3320027"/>
            <a:ext cx="747408" cy="578224"/>
          </a:xfrm>
          <a:prstGeom prst="rect">
            <a:avLst/>
          </a:prstGeom>
          <a:solidFill>
            <a:srgbClr val="C2F5E1"/>
          </a:solidFill>
          <a:ln/>
        </p:spPr>
      </p:sp>
      <p:sp>
        <p:nvSpPr>
          <p:cNvPr id="14" name="Text 8"/>
          <p:cNvSpPr/>
          <p:nvPr/>
        </p:nvSpPr>
        <p:spPr>
          <a:xfrm>
            <a:off x="4439563" y="3320027"/>
            <a:ext cx="747408" cy="578224"/>
          </a:xfrm>
          <a:prstGeom prst="rect">
            <a:avLst/>
          </a:prstGeom>
          <a:noFill/>
          <a:ln/>
        </p:spPr>
        <p:txBody>
          <a:bodyPr wrap="square" lIns="45720" tIns="91440" rIns="91440" bIns="45720" rtlCol="0" anchor="ctr"/>
          <a:lstStyle/>
          <a:p>
            <a:pPr>
              <a:lnSpc>
                <a:spcPct val="100000"/>
              </a:lnSpc>
            </a:pPr>
            <a:endParaRPr lang="en-US" sz="1600" dirty="0"/>
          </a:p>
        </p:txBody>
      </p:sp>
      <p:sp>
        <p:nvSpPr>
          <p:cNvPr id="15" name="Shape 9"/>
          <p:cNvSpPr/>
          <p:nvPr/>
        </p:nvSpPr>
        <p:spPr>
          <a:xfrm>
            <a:off x="4707858" y="3623227"/>
            <a:ext cx="288032" cy="0"/>
          </a:xfrm>
          <a:prstGeom prst="straightConnector1">
            <a:avLst/>
          </a:prstGeom>
          <a:noFill/>
          <a:ln w="19050">
            <a:solidFill>
              <a:srgbClr val="000000"/>
            </a:solidFill>
            <a:prstDash val="solid"/>
            <a:headEnd type="none"/>
            <a:tailEnd type="triangle"/>
          </a:ln>
        </p:spPr>
      </p:sp>
      <p:sp>
        <p:nvSpPr>
          <p:cNvPr id="16" name="Text 10"/>
          <p:cNvSpPr/>
          <p:nvPr/>
        </p:nvSpPr>
        <p:spPr>
          <a:xfrm>
            <a:off x="2237411" y="755209"/>
            <a:ext cx="2831340" cy="338554"/>
          </a:xfrm>
          <a:prstGeom prst="rect">
            <a:avLst/>
          </a:prstGeom>
          <a:noFill/>
          <a:ln/>
        </p:spPr>
        <p:txBody>
          <a:bodyPr wrap="square" lIns="91440" tIns="45720" rIns="91440" bIns="45720" rtlCol="0" anchor="t">
            <a:spAutoFit/>
          </a:bodyPr>
          <a:lstStyle/>
          <a:p>
            <a:pPr>
              <a:lnSpc>
                <a:spcPct val="100000"/>
              </a:lnSpc>
            </a:pPr>
            <a:r>
              <a:rPr lang="en-US" sz="1600" dirty="0">
                <a:solidFill>
                  <a:srgbClr val="000000"/>
                </a:solidFill>
                <a:latin typeface="Source Han Sans SC" pitchFamily="34" charset="0"/>
                <a:ea typeface="Source Han Sans SC" pitchFamily="34" charset="-122"/>
                <a:cs typeface="Source Han Sans SC" pitchFamily="34" charset="-120"/>
              </a:rPr>
              <a:t>Headings</a:t>
            </a:r>
            <a:endParaRPr lang="en-US" sz="1600" dirty="0"/>
          </a:p>
        </p:txBody>
      </p:sp>
      <p:sp>
        <p:nvSpPr>
          <p:cNvPr id="17" name="Text 11"/>
          <p:cNvSpPr/>
          <p:nvPr/>
        </p:nvSpPr>
        <p:spPr>
          <a:xfrm>
            <a:off x="2237105" y="1228090"/>
            <a:ext cx="2679065" cy="1941195"/>
          </a:xfrm>
          <a:prstGeom prst="rect">
            <a:avLst/>
          </a:prstGeom>
          <a:noFill/>
          <a:ln/>
        </p:spPr>
        <p:txBody>
          <a:bodyPr wrap="square" lIns="91440" tIns="45720" rIns="91440" bIns="45720" rtlCol="0" anchor="t"/>
          <a:lstStyle/>
          <a:p>
            <a:pPr>
              <a:lnSpc>
                <a:spcPct val="100000"/>
              </a:lnSpc>
            </a:pPr>
            <a:r>
              <a:rPr lang="en-US" sz="1600" dirty="0">
                <a:solidFill>
                  <a:srgbClr val="000000"/>
                </a:solidFill>
                <a:latin typeface="Source Han Sans SC Normal" pitchFamily="34" charset="0"/>
                <a:ea typeface="Source Han Sans SC Normal" pitchFamily="34" charset="-122"/>
                <a:cs typeface="Source Han Sans SC Normal" pitchFamily="34" charset="-120"/>
              </a:rPr>
              <a:t>Use headings to structure your content. HTML provides six levels of headings, from &lt;h1&gt; to &lt;h6&gt;. &lt;h1&gt; is the most important and &lt;h6&gt; is the least.</a:t>
            </a:r>
            <a:endParaRPr lang="en-US" sz="1600" dirty="0"/>
          </a:p>
        </p:txBody>
      </p:sp>
      <p:sp>
        <p:nvSpPr>
          <p:cNvPr id="18" name="Text 12"/>
          <p:cNvSpPr/>
          <p:nvPr/>
        </p:nvSpPr>
        <p:spPr>
          <a:xfrm>
            <a:off x="4932963" y="3962809"/>
            <a:ext cx="6482734" cy="337185"/>
          </a:xfrm>
          <a:prstGeom prst="rect">
            <a:avLst/>
          </a:prstGeom>
          <a:noFill/>
          <a:ln/>
        </p:spPr>
        <p:txBody>
          <a:bodyPr wrap="square" lIns="91440" tIns="45720" rIns="91440" bIns="45720" rtlCol="0" anchor="t">
            <a:spAutoFit/>
          </a:bodyPr>
          <a:lstStyle/>
          <a:p>
            <a:pPr algn="r">
              <a:lnSpc>
                <a:spcPct val="100000"/>
              </a:lnSpc>
            </a:pPr>
            <a:r>
              <a:rPr lang="en-US" sz="1600" dirty="0">
                <a:solidFill>
                  <a:srgbClr val="C2F5E1"/>
                </a:solidFill>
                <a:latin typeface="Source Han Sans SC" pitchFamily="34" charset="0"/>
                <a:ea typeface="Source Han Sans SC" pitchFamily="34" charset="-122"/>
                <a:cs typeface="Source Han Sans SC" pitchFamily="34" charset="-120"/>
              </a:rPr>
              <a:t>Paragraphs</a:t>
            </a:r>
            <a:endParaRPr lang="en-US" sz="1600" dirty="0"/>
          </a:p>
        </p:txBody>
      </p:sp>
      <p:sp>
        <p:nvSpPr>
          <p:cNvPr id="19" name="Text 13"/>
          <p:cNvSpPr/>
          <p:nvPr/>
        </p:nvSpPr>
        <p:spPr>
          <a:xfrm>
            <a:off x="5069205" y="4277360"/>
            <a:ext cx="6346190" cy="1076325"/>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Normal" pitchFamily="34" charset="0"/>
                <a:ea typeface="Source Han Sans SC Normal" pitchFamily="34" charset="-122"/>
                <a:cs typeface="Source Han Sans SC Normal" pitchFamily="34" charset="-120"/>
              </a:rPr>
              <a:t>Paragraphs are defined with the &lt;p&gt; tag. They are used to group text into logical blocks, making your content easier to read and understand.</a:t>
            </a:r>
            <a:endParaRPr lang="en-US" sz="1600" dirty="0"/>
          </a:p>
        </p:txBody>
      </p:sp>
      <p:sp>
        <p:nvSpPr>
          <p:cNvPr id="20" name="Text 14"/>
          <p:cNvSpPr/>
          <p:nvPr/>
        </p:nvSpPr>
        <p:spPr>
          <a:xfrm>
            <a:off x="5004214" y="5309475"/>
            <a:ext cx="6482735" cy="337185"/>
          </a:xfrm>
          <a:prstGeom prst="rect">
            <a:avLst/>
          </a:prstGeom>
          <a:noFill/>
          <a:ln/>
        </p:spPr>
        <p:txBody>
          <a:bodyPr wrap="square" lIns="91440" tIns="45720" rIns="91440" bIns="45720" rtlCol="0" anchor="t">
            <a:spAutoFit/>
          </a:bodyPr>
          <a:lstStyle/>
          <a:p>
            <a:pPr algn="r">
              <a:lnSpc>
                <a:spcPct val="100000"/>
              </a:lnSpc>
            </a:pPr>
            <a:r>
              <a:rPr lang="en-US" sz="1600" dirty="0">
                <a:solidFill>
                  <a:srgbClr val="C2F5E1"/>
                </a:solidFill>
                <a:latin typeface="Source Han Sans SC" pitchFamily="34" charset="0"/>
                <a:ea typeface="Source Han Sans SC" pitchFamily="34" charset="-122"/>
                <a:cs typeface="Source Han Sans SC" pitchFamily="34" charset="-120"/>
              </a:rPr>
              <a:t>Formatting</a:t>
            </a:r>
            <a:endParaRPr lang="en-US" sz="1600" dirty="0"/>
          </a:p>
        </p:txBody>
      </p:sp>
      <p:sp>
        <p:nvSpPr>
          <p:cNvPr id="21" name="Text 15"/>
          <p:cNvSpPr/>
          <p:nvPr/>
        </p:nvSpPr>
        <p:spPr>
          <a:xfrm>
            <a:off x="5172075" y="5572760"/>
            <a:ext cx="6314440" cy="1076325"/>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Normal" pitchFamily="34" charset="0"/>
                <a:ea typeface="Source Han Sans SC Normal" pitchFamily="34" charset="-122"/>
                <a:cs typeface="Source Han Sans SC Normal" pitchFamily="34" charset="-120"/>
              </a:rPr>
              <a:t>Enhance your text with &lt;strong&gt; for bold, &lt;em&gt; for italics, and &lt;mark&gt; for highlighted text. These tags help emphasize important information.</a:t>
            </a:r>
            <a:endParaRPr lang="en-US" sz="1600" dirty="0"/>
          </a:p>
        </p:txBody>
      </p:sp>
    </p:spTree>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8DB28659-B92E-0F62-F9B1-7075BE8F157F}"/>
              </a:ext>
            </a:extLst>
          </p:cNvPr>
          <p:cNvSpPr txBox="1">
            <a:spLocks noChangeArrowheads="1"/>
          </p:cNvSpPr>
          <p:nvPr/>
        </p:nvSpPr>
        <p:spPr>
          <a:xfrm>
            <a:off x="685800" y="381000"/>
            <a:ext cx="10172770"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Breaking Lines and Paragraphs</a:t>
            </a:r>
          </a:p>
        </p:txBody>
      </p:sp>
      <p:sp>
        <p:nvSpPr>
          <p:cNvPr id="5" name="Rectangle 3">
            <a:extLst>
              <a:ext uri="{FF2B5EF4-FFF2-40B4-BE49-F238E27FC236}">
                <a16:creationId xmlns:a16="http://schemas.microsoft.com/office/drawing/2014/main" id="{B440384B-3353-4E2E-55EE-9136581B3107}"/>
              </a:ext>
            </a:extLst>
          </p:cNvPr>
          <p:cNvSpPr txBox="1">
            <a:spLocks noChangeArrowheads="1"/>
          </p:cNvSpPr>
          <p:nvPr/>
        </p:nvSpPr>
        <p:spPr>
          <a:xfrm>
            <a:off x="381000" y="1828800"/>
            <a:ext cx="11369566" cy="441960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174625" indent="-174625"/>
            <a:r>
              <a:rPr lang="en-US" altLang="en-US" sz="2400">
                <a:latin typeface="Arial Narrow" panose="020B0606020202030204" pitchFamily="34" charset="0"/>
              </a:rPr>
              <a:t>&lt;P&gt; text &lt;/P&gt;</a:t>
            </a:r>
            <a:endParaRPr lang="en-US" altLang="en-US" sz="2000">
              <a:latin typeface="Arial Narrow" panose="020B0606020202030204" pitchFamily="34" charset="0"/>
            </a:endParaRPr>
          </a:p>
          <a:p>
            <a:pPr marL="398463" lvl="1" indent="-49213"/>
            <a:r>
              <a:rPr lang="en-US" altLang="en-US" sz="2000">
                <a:latin typeface="Arial Narrow" panose="020B0606020202030204" pitchFamily="34" charset="0"/>
              </a:rPr>
              <a:t>Paragraph tag</a:t>
            </a:r>
          </a:p>
          <a:p>
            <a:pPr marL="398463" lvl="1" indent="-49213"/>
            <a:r>
              <a:rPr lang="en-US" altLang="en-US" sz="2000">
                <a:latin typeface="Arial Narrow" panose="020B0606020202030204" pitchFamily="34" charset="0"/>
              </a:rPr>
              <a:t>Most browsers render (process) this with blank lines between each paragraph</a:t>
            </a:r>
            <a:br>
              <a:rPr lang="en-US" altLang="en-US" sz="2000">
                <a:latin typeface="Arial Narrow" panose="020B0606020202030204" pitchFamily="34" charset="0"/>
              </a:rPr>
            </a:br>
            <a:endParaRPr lang="en-US" altLang="en-US" sz="2000">
              <a:latin typeface="Arial Narrow" panose="020B0606020202030204" pitchFamily="34" charset="0"/>
            </a:endParaRPr>
          </a:p>
          <a:p>
            <a:pPr marL="174625" indent="-174625"/>
            <a:r>
              <a:rPr lang="en-US" altLang="en-US" sz="2400">
                <a:latin typeface="Arial Narrow" panose="020B0606020202030204" pitchFamily="34" charset="0"/>
              </a:rPr>
              <a:t>&lt;BR&gt;</a:t>
            </a:r>
            <a:endParaRPr lang="en-US" altLang="en-US" sz="2000">
              <a:latin typeface="Arial Narrow" panose="020B0606020202030204" pitchFamily="34" charset="0"/>
            </a:endParaRPr>
          </a:p>
          <a:p>
            <a:pPr marL="398463" lvl="1" indent="-49213"/>
            <a:r>
              <a:rPr lang="en-US" altLang="en-US" sz="2000">
                <a:latin typeface="Arial Narrow" panose="020B0606020202030204" pitchFamily="34" charset="0"/>
              </a:rPr>
              <a:t>Line break tag.  Used when the webmaster wants a carriage return but doesn't want a blank line to follow</a:t>
            </a:r>
          </a:p>
          <a:p>
            <a:pPr marL="398463" lvl="1" indent="-49213"/>
            <a:r>
              <a:rPr lang="en-US" altLang="en-US" sz="2000">
                <a:latin typeface="Arial Narrow" panose="020B0606020202030204" pitchFamily="34" charset="0"/>
              </a:rPr>
              <a:t>A singlet tag</a:t>
            </a:r>
            <a:br>
              <a:rPr lang="en-US" altLang="en-US" sz="2000">
                <a:latin typeface="Arial Narrow" panose="020B0606020202030204" pitchFamily="34" charset="0"/>
              </a:rPr>
            </a:br>
            <a:endParaRPr lang="en-US" altLang="en-US" sz="2000">
              <a:latin typeface="Arial Narrow" panose="020B0606020202030204" pitchFamily="34" charset="0"/>
            </a:endParaRPr>
          </a:p>
          <a:p>
            <a:pPr marL="174625" indent="-174625"/>
            <a:r>
              <a:rPr lang="en-US" altLang="en-US" sz="2400">
                <a:latin typeface="Arial Narrow" panose="020B0606020202030204" pitchFamily="34" charset="0"/>
              </a:rPr>
              <a:t>&lt;HR&gt;</a:t>
            </a:r>
            <a:endParaRPr lang="en-US" altLang="en-US" sz="2000">
              <a:latin typeface="Arial Narrow" panose="020B0606020202030204" pitchFamily="34" charset="0"/>
            </a:endParaRPr>
          </a:p>
          <a:p>
            <a:pPr marL="398463" lvl="1" indent="-49213"/>
            <a:r>
              <a:rPr lang="en-US" altLang="en-US" sz="2000">
                <a:latin typeface="Arial Narrow" panose="020B0606020202030204" pitchFamily="34" charset="0"/>
              </a:rPr>
              <a:t>Horizontal Rule.  Used to place a straight line across the page.  A singlet tag.</a:t>
            </a:r>
            <a:endParaRPr lang="en-US" altLang="en-US">
              <a:latin typeface="Arial Narrow" panose="020B0606020202030204" pitchFamily="34" charset="0"/>
            </a:endParaRPr>
          </a:p>
        </p:txBody>
      </p:sp>
    </p:spTree>
    <p:extLst>
      <p:ext uri="{BB962C8B-B14F-4D97-AF65-F5344CB8AC3E}">
        <p14:creationId xmlns:p14="http://schemas.microsoft.com/office/powerpoint/2010/main" val="28681161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AC9D8EE7-AAAB-8229-93E6-C71E36B14C11}"/>
              </a:ext>
            </a:extLst>
          </p:cNvPr>
          <p:cNvSpPr txBox="1">
            <a:spLocks noChangeArrowheads="1"/>
          </p:cNvSpPr>
          <p:nvPr/>
        </p:nvSpPr>
        <p:spPr>
          <a:xfrm>
            <a:off x="2220305" y="381000"/>
            <a:ext cx="7980247"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Examples of Breaking Lines</a:t>
            </a:r>
          </a:p>
        </p:txBody>
      </p:sp>
      <p:sp>
        <p:nvSpPr>
          <p:cNvPr id="5" name="Rectangle 3">
            <a:extLst>
              <a:ext uri="{FF2B5EF4-FFF2-40B4-BE49-F238E27FC236}">
                <a16:creationId xmlns:a16="http://schemas.microsoft.com/office/drawing/2014/main" id="{C9121E17-FA23-E194-3618-C0AFB37FD1FC}"/>
              </a:ext>
            </a:extLst>
          </p:cNvPr>
          <p:cNvSpPr txBox="1">
            <a:spLocks noChangeArrowheads="1"/>
          </p:cNvSpPr>
          <p:nvPr/>
        </p:nvSpPr>
        <p:spPr>
          <a:xfrm>
            <a:off x="1610705" y="2819400"/>
            <a:ext cx="4616025" cy="2057400"/>
          </a:xfrm>
          <a:prstGeom prst="rect">
            <a:avLst/>
          </a:prstGeom>
          <a:ln>
            <a:solidFill>
              <a:schemeClr val="tx1"/>
            </a:solidFill>
            <a:miter lim="800000"/>
            <a:headEnd/>
            <a:tailEnd/>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Tx/>
              <a:buNone/>
            </a:pPr>
            <a:r>
              <a:rPr lang="en-US" altLang="en-US" sz="2000">
                <a:latin typeface="Geneva" charset="0"/>
              </a:rPr>
              <a:t>&lt;p&gt;This is an example of how&lt;/p&gt;</a:t>
            </a:r>
          </a:p>
          <a:p>
            <a:pPr marL="0" indent="0">
              <a:buFontTx/>
              <a:buNone/>
            </a:pPr>
            <a:r>
              <a:rPr lang="en-US" altLang="en-US" sz="2000">
                <a:latin typeface="Geneva" charset="0"/>
              </a:rPr>
              <a:t>&lt;p&gt;paragraph tags work.&lt;/p&gt;</a:t>
            </a:r>
          </a:p>
          <a:p>
            <a:pPr marL="0" indent="0">
              <a:buFontTx/>
              <a:buNone/>
            </a:pPr>
            <a:r>
              <a:rPr lang="en-US" altLang="en-US" sz="2000">
                <a:latin typeface="Geneva" charset="0"/>
              </a:rPr>
              <a:t>&lt;hr&gt;</a:t>
            </a:r>
          </a:p>
          <a:p>
            <a:pPr marL="0" indent="0">
              <a:buFontTx/>
              <a:buNone/>
            </a:pPr>
            <a:r>
              <a:rPr lang="en-US" altLang="en-US" sz="2000">
                <a:latin typeface="Geneva" charset="0"/>
              </a:rPr>
              <a:t>&lt;br&gt;This is an example of how</a:t>
            </a:r>
          </a:p>
          <a:p>
            <a:pPr marL="0" indent="0">
              <a:buFontTx/>
              <a:buNone/>
            </a:pPr>
            <a:r>
              <a:rPr lang="en-US" altLang="en-US" sz="2000">
                <a:latin typeface="Geneva" charset="0"/>
              </a:rPr>
              <a:t>&lt;br&gt;line breaking tags work</a:t>
            </a:r>
            <a:r>
              <a:rPr lang="en-US" altLang="en-US" sz="1200">
                <a:latin typeface="Geneva" charset="0"/>
              </a:rPr>
              <a:t>.</a:t>
            </a:r>
            <a:endParaRPr lang="en-US" altLang="en-US" sz="1200">
              <a:solidFill>
                <a:srgbClr val="000000"/>
              </a:solidFill>
              <a:latin typeface="Geneva" charset="0"/>
            </a:endParaRPr>
          </a:p>
        </p:txBody>
      </p:sp>
      <p:sp>
        <p:nvSpPr>
          <p:cNvPr id="6" name="AutoShape 5">
            <a:extLst>
              <a:ext uri="{FF2B5EF4-FFF2-40B4-BE49-F238E27FC236}">
                <a16:creationId xmlns:a16="http://schemas.microsoft.com/office/drawing/2014/main" id="{AD53ED13-089C-7189-F749-21C0BBB583C7}"/>
              </a:ext>
            </a:extLst>
          </p:cNvPr>
          <p:cNvSpPr>
            <a:spLocks noChangeArrowheads="1"/>
          </p:cNvSpPr>
          <p:nvPr/>
        </p:nvSpPr>
        <p:spPr bwMode="auto">
          <a:xfrm>
            <a:off x="6455973" y="3733800"/>
            <a:ext cx="469426" cy="257175"/>
          </a:xfrm>
          <a:prstGeom prst="rightArrow">
            <a:avLst>
              <a:gd name="adj1" fmla="val 50000"/>
              <a:gd name="adj2" fmla="val 44444"/>
            </a:avLst>
          </a:prstGeom>
          <a:solidFill>
            <a:schemeClr val="accent1"/>
          </a:solidFill>
          <a:ln w="12700">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
        <p:nvSpPr>
          <p:cNvPr id="7" name="Text Box 9">
            <a:extLst>
              <a:ext uri="{FF2B5EF4-FFF2-40B4-BE49-F238E27FC236}">
                <a16:creationId xmlns:a16="http://schemas.microsoft.com/office/drawing/2014/main" id="{1141F3AE-C396-9180-901E-0EAAEC8D7D8E}"/>
              </a:ext>
            </a:extLst>
          </p:cNvPr>
          <p:cNvSpPr txBox="1">
            <a:spLocks noChangeArrowheads="1"/>
          </p:cNvSpPr>
          <p:nvPr/>
        </p:nvSpPr>
        <p:spPr bwMode="auto">
          <a:xfrm>
            <a:off x="7275779" y="2667000"/>
            <a:ext cx="3833648" cy="1892826"/>
          </a:xfrm>
          <a:prstGeom prst="rect">
            <a:avLst/>
          </a:prstGeom>
          <a:solidFill>
            <a:srgbClr val="C0C0C0"/>
          </a:solidFill>
          <a:ln w="12700">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en-US">
                <a:solidFill>
                  <a:schemeClr val="bg1"/>
                </a:solidFill>
                <a:latin typeface="Arial" panose="020B0604020202020204" pitchFamily="34" charset="0"/>
              </a:rPr>
              <a:t>This is an example of how</a:t>
            </a:r>
          </a:p>
          <a:p>
            <a:pPr>
              <a:spcBef>
                <a:spcPct val="50000"/>
              </a:spcBef>
            </a:pPr>
            <a:r>
              <a:rPr lang="en-US" altLang="en-US">
                <a:solidFill>
                  <a:schemeClr val="bg1"/>
                </a:solidFill>
                <a:latin typeface="Arial" panose="020B0604020202020204" pitchFamily="34" charset="0"/>
              </a:rPr>
              <a:t>paragraph tags work.</a:t>
            </a:r>
          </a:p>
          <a:p>
            <a:pPr>
              <a:spcBef>
                <a:spcPct val="50000"/>
              </a:spcBef>
            </a:pPr>
            <a:endParaRPr lang="en-US" altLang="en-US">
              <a:solidFill>
                <a:schemeClr val="bg1"/>
              </a:solidFill>
              <a:latin typeface="Arial" panose="020B0604020202020204" pitchFamily="34" charset="0"/>
            </a:endParaRPr>
          </a:p>
          <a:p>
            <a:pPr>
              <a:spcBef>
                <a:spcPct val="50000"/>
              </a:spcBef>
            </a:pPr>
            <a:r>
              <a:rPr lang="en-US" altLang="en-US">
                <a:solidFill>
                  <a:schemeClr val="bg1"/>
                </a:solidFill>
                <a:latin typeface="Arial" panose="020B0604020202020204" pitchFamily="34" charset="0"/>
              </a:rPr>
              <a:t>This is an example of how</a:t>
            </a:r>
            <a:br>
              <a:rPr lang="en-US" altLang="en-US">
                <a:solidFill>
                  <a:schemeClr val="bg1"/>
                </a:solidFill>
                <a:latin typeface="Arial" panose="020B0604020202020204" pitchFamily="34" charset="0"/>
              </a:rPr>
            </a:br>
            <a:r>
              <a:rPr lang="en-US" altLang="en-US">
                <a:solidFill>
                  <a:schemeClr val="bg1"/>
                </a:solidFill>
                <a:latin typeface="Arial" panose="020B0604020202020204" pitchFamily="34" charset="0"/>
              </a:rPr>
              <a:t>line breaking tags work.</a:t>
            </a:r>
            <a:endParaRPr lang="en-US" altLang="en-US">
              <a:latin typeface="Times" panose="02020603050405020304" pitchFamily="18" charset="0"/>
            </a:endParaRPr>
          </a:p>
        </p:txBody>
      </p:sp>
      <p:sp>
        <p:nvSpPr>
          <p:cNvPr id="8" name="Line 10">
            <a:extLst>
              <a:ext uri="{FF2B5EF4-FFF2-40B4-BE49-F238E27FC236}">
                <a16:creationId xmlns:a16="http://schemas.microsoft.com/office/drawing/2014/main" id="{F3873697-2C97-5449-F3F8-0CB9B5D76498}"/>
              </a:ext>
            </a:extLst>
          </p:cNvPr>
          <p:cNvSpPr>
            <a:spLocks noChangeShapeType="1"/>
          </p:cNvSpPr>
          <p:nvPr/>
        </p:nvSpPr>
        <p:spPr bwMode="auto">
          <a:xfrm>
            <a:off x="7275779" y="3962400"/>
            <a:ext cx="3833648" cy="0"/>
          </a:xfrm>
          <a:prstGeom prst="line">
            <a:avLst/>
          </a:prstGeom>
          <a:noFill/>
          <a:ln w="38100" cmpd="dbl">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Tree>
    <p:extLst>
      <p:ext uri="{BB962C8B-B14F-4D97-AF65-F5344CB8AC3E}">
        <p14:creationId xmlns:p14="http://schemas.microsoft.com/office/powerpoint/2010/main" val="6111616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8C152B3B-4B2D-531D-BF48-974D670734D8}"/>
              </a:ext>
            </a:extLst>
          </p:cNvPr>
          <p:cNvSpPr txBox="1">
            <a:spLocks noChangeArrowheads="1"/>
          </p:cNvSpPr>
          <p:nvPr/>
        </p:nvSpPr>
        <p:spPr>
          <a:xfrm>
            <a:off x="685800" y="381000"/>
            <a:ext cx="10700256"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Header Tags</a:t>
            </a:r>
          </a:p>
        </p:txBody>
      </p:sp>
      <p:sp>
        <p:nvSpPr>
          <p:cNvPr id="5" name="Rectangle 3">
            <a:extLst>
              <a:ext uri="{FF2B5EF4-FFF2-40B4-BE49-F238E27FC236}">
                <a16:creationId xmlns:a16="http://schemas.microsoft.com/office/drawing/2014/main" id="{18D32647-3E76-AE02-9E64-32E4352695FC}"/>
              </a:ext>
            </a:extLst>
          </p:cNvPr>
          <p:cNvSpPr txBox="1">
            <a:spLocks noChangeArrowheads="1"/>
          </p:cNvSpPr>
          <p:nvPr/>
        </p:nvSpPr>
        <p:spPr>
          <a:xfrm>
            <a:off x="685800" y="2133600"/>
            <a:ext cx="10805160" cy="396240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Tx/>
              <a:buNone/>
              <a:tabLst>
                <a:tab pos="457200" algn="l"/>
                <a:tab pos="685800" algn="l"/>
              </a:tabLst>
            </a:pPr>
            <a:r>
              <a:rPr lang="en-US" altLang="en-US" sz="2400" dirty="0">
                <a:latin typeface="Arial Narrow" panose="020B0606020202030204" pitchFamily="34" charset="0"/>
              </a:rPr>
              <a:t>Header Tags --	Used for marking sections and </a:t>
            </a:r>
            <a:br>
              <a:rPr lang="en-US" altLang="en-US" sz="2400" dirty="0">
                <a:latin typeface="Arial Narrow" panose="020B0606020202030204" pitchFamily="34" charset="0"/>
              </a:rPr>
            </a:br>
            <a:r>
              <a:rPr lang="en-US" altLang="en-US" sz="2400" dirty="0">
                <a:latin typeface="Arial Narrow" panose="020B0606020202030204" pitchFamily="34" charset="0"/>
              </a:rPr>
              <a:t>				subsections in a document.</a:t>
            </a:r>
          </a:p>
          <a:p>
            <a:pPr marL="0" indent="0">
              <a:buFontTx/>
              <a:buNone/>
              <a:tabLst>
                <a:tab pos="457200" algn="l"/>
                <a:tab pos="685800" algn="l"/>
              </a:tabLst>
            </a:pPr>
            <a:endParaRPr lang="en-US" altLang="en-US" sz="2400" dirty="0">
              <a:latin typeface="Arial Narrow" panose="020B0606020202030204" pitchFamily="34" charset="0"/>
            </a:endParaRPr>
          </a:p>
          <a:p>
            <a:pPr marL="0" indent="0">
              <a:buFontTx/>
              <a:buNone/>
              <a:tabLst>
                <a:tab pos="457200" algn="l"/>
                <a:tab pos="685800" algn="l"/>
              </a:tabLst>
            </a:pPr>
            <a:r>
              <a:rPr lang="en-US" altLang="en-US" sz="2400" dirty="0">
                <a:latin typeface="Arial Narrow" panose="020B0606020202030204" pitchFamily="34" charset="0"/>
              </a:rPr>
              <a:t>&lt;H1&gt;	Header 1 -- Giant-sized and bold &lt;/H1&gt;</a:t>
            </a:r>
          </a:p>
          <a:p>
            <a:pPr marL="0" indent="0">
              <a:buFontTx/>
              <a:buNone/>
              <a:tabLst>
                <a:tab pos="457200" algn="l"/>
                <a:tab pos="685800" algn="l"/>
              </a:tabLst>
            </a:pPr>
            <a:r>
              <a:rPr lang="en-US" altLang="en-US" sz="2400" dirty="0">
                <a:latin typeface="Arial Narrow" panose="020B0606020202030204" pitchFamily="34" charset="0"/>
              </a:rPr>
              <a:t>&lt;H2&gt;	Header 2 -- Large and bold &lt;/H2&gt;</a:t>
            </a:r>
          </a:p>
          <a:p>
            <a:pPr marL="0" indent="0">
              <a:buFontTx/>
              <a:buNone/>
              <a:tabLst>
                <a:tab pos="457200" algn="l"/>
                <a:tab pos="685800" algn="l"/>
              </a:tabLst>
            </a:pPr>
            <a:r>
              <a:rPr lang="en-US" altLang="en-US" sz="2400" dirty="0">
                <a:latin typeface="Arial Narrow" panose="020B0606020202030204" pitchFamily="34" charset="0"/>
              </a:rPr>
              <a:t>&lt;H3&gt;	Header 3 -- Normal-sized and bold &lt;/H3&gt;</a:t>
            </a:r>
          </a:p>
          <a:p>
            <a:pPr marL="0" indent="0">
              <a:buFontTx/>
              <a:buNone/>
              <a:tabLst>
                <a:tab pos="457200" algn="l"/>
                <a:tab pos="685800" algn="l"/>
              </a:tabLst>
            </a:pPr>
            <a:r>
              <a:rPr lang="en-US" altLang="en-US" sz="2400" dirty="0">
                <a:latin typeface="Arial Narrow" panose="020B0606020202030204" pitchFamily="34" charset="0"/>
              </a:rPr>
              <a:t>&lt;H4&gt;	Header 4 -- Small and bold &lt;/H4&gt;</a:t>
            </a:r>
          </a:p>
          <a:p>
            <a:pPr marL="0" indent="0">
              <a:buFontTx/>
              <a:buNone/>
              <a:tabLst>
                <a:tab pos="457200" algn="l"/>
                <a:tab pos="685800" algn="l"/>
              </a:tabLst>
            </a:pPr>
            <a:r>
              <a:rPr lang="en-US" altLang="en-US" sz="2400" dirty="0">
                <a:latin typeface="Arial Narrow" panose="020B0606020202030204" pitchFamily="34" charset="0"/>
              </a:rPr>
              <a:t>&lt;H5&gt;	Header 5 -- Very Small and bold &lt;/H5&gt;</a:t>
            </a:r>
          </a:p>
          <a:p>
            <a:pPr marL="0" indent="0">
              <a:buFontTx/>
              <a:buNone/>
              <a:tabLst>
                <a:tab pos="457200" algn="l"/>
                <a:tab pos="685800" algn="l"/>
              </a:tabLst>
            </a:pPr>
            <a:r>
              <a:rPr lang="en-US" altLang="en-US" sz="2400" dirty="0">
                <a:latin typeface="Arial Narrow" panose="020B0606020202030204" pitchFamily="34" charset="0"/>
              </a:rPr>
              <a:t>&lt;H6&gt;	Header 6 -- Tiny and bold &lt;/H6&gt;</a:t>
            </a:r>
          </a:p>
        </p:txBody>
      </p:sp>
    </p:spTree>
    <p:extLst>
      <p:ext uri="{BB962C8B-B14F-4D97-AF65-F5344CB8AC3E}">
        <p14:creationId xmlns:p14="http://schemas.microsoft.com/office/powerpoint/2010/main" val="9125118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2237956C-5037-E49D-A926-60F422EAA338}"/>
              </a:ext>
            </a:extLst>
          </p:cNvPr>
          <p:cNvSpPr txBox="1">
            <a:spLocks noChangeArrowheads="1"/>
          </p:cNvSpPr>
          <p:nvPr/>
        </p:nvSpPr>
        <p:spPr>
          <a:xfrm>
            <a:off x="685799" y="381000"/>
            <a:ext cx="10632245"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Header Tags (cont.)</a:t>
            </a:r>
          </a:p>
        </p:txBody>
      </p:sp>
      <p:sp>
        <p:nvSpPr>
          <p:cNvPr id="5" name="Rectangle 3">
            <a:extLst>
              <a:ext uri="{FF2B5EF4-FFF2-40B4-BE49-F238E27FC236}">
                <a16:creationId xmlns:a16="http://schemas.microsoft.com/office/drawing/2014/main" id="{B3A5AA70-BCD8-376A-216C-FCCA01A15133}"/>
              </a:ext>
            </a:extLst>
          </p:cNvPr>
          <p:cNvSpPr txBox="1">
            <a:spLocks noChangeArrowheads="1"/>
          </p:cNvSpPr>
          <p:nvPr/>
        </p:nvSpPr>
        <p:spPr>
          <a:xfrm>
            <a:off x="609600" y="2133600"/>
            <a:ext cx="10840720" cy="381000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Tx/>
              <a:buNone/>
            </a:pPr>
            <a:r>
              <a:rPr lang="en-US" altLang="en-US" sz="5400" b="1">
                <a:latin typeface="Times New Roman" panose="02020603050405020304" pitchFamily="18" charset="0"/>
              </a:rPr>
              <a:t>H1 = Giant-sized and bold</a:t>
            </a:r>
            <a:endParaRPr lang="en-US" altLang="en-US" sz="1600" b="1">
              <a:latin typeface="Times New Roman" panose="02020603050405020304" pitchFamily="18" charset="0"/>
            </a:endParaRPr>
          </a:p>
          <a:p>
            <a:pPr marL="0" indent="0">
              <a:buFontTx/>
              <a:buNone/>
            </a:pPr>
            <a:r>
              <a:rPr lang="en-US" altLang="en-US" sz="4400" b="1">
                <a:latin typeface="Times New Roman" panose="02020603050405020304" pitchFamily="18" charset="0"/>
              </a:rPr>
              <a:t>H2 = Large and bold</a:t>
            </a:r>
            <a:endParaRPr lang="en-US" altLang="en-US" sz="1600" b="1">
              <a:latin typeface="Times New Roman" panose="02020603050405020304" pitchFamily="18" charset="0"/>
            </a:endParaRPr>
          </a:p>
          <a:p>
            <a:pPr marL="0" indent="0">
              <a:buFontTx/>
              <a:buNone/>
            </a:pPr>
            <a:r>
              <a:rPr lang="en-US" altLang="en-US" b="1">
                <a:latin typeface="Times New Roman" panose="02020603050405020304" pitchFamily="18" charset="0"/>
              </a:rPr>
              <a:t>H3 = Normal-sized and bold</a:t>
            </a:r>
            <a:endParaRPr lang="en-US" altLang="en-US" sz="1600" b="1">
              <a:latin typeface="Times New Roman" panose="02020603050405020304" pitchFamily="18" charset="0"/>
            </a:endParaRPr>
          </a:p>
          <a:p>
            <a:pPr marL="0" indent="0">
              <a:buFontTx/>
              <a:buNone/>
            </a:pPr>
            <a:r>
              <a:rPr lang="en-US" altLang="en-US" sz="2400" b="1">
                <a:latin typeface="Times New Roman" panose="02020603050405020304" pitchFamily="18" charset="0"/>
              </a:rPr>
              <a:t>H4 = Small and bold</a:t>
            </a:r>
            <a:endParaRPr lang="en-US" altLang="en-US" sz="1600" b="1">
              <a:latin typeface="Times New Roman" panose="02020603050405020304" pitchFamily="18" charset="0"/>
            </a:endParaRPr>
          </a:p>
          <a:p>
            <a:pPr marL="0" indent="0">
              <a:buFontTx/>
              <a:buNone/>
            </a:pPr>
            <a:r>
              <a:rPr lang="en-US" altLang="en-US" sz="1800" b="1">
                <a:latin typeface="Times New Roman" panose="02020603050405020304" pitchFamily="18" charset="0"/>
              </a:rPr>
              <a:t>H5 = Very Small and bold</a:t>
            </a:r>
            <a:endParaRPr lang="en-US" altLang="en-US" sz="1600" b="1">
              <a:latin typeface="Times New Roman" panose="02020603050405020304" pitchFamily="18" charset="0"/>
            </a:endParaRPr>
          </a:p>
          <a:p>
            <a:pPr marL="0" indent="0">
              <a:buFontTx/>
              <a:buNone/>
            </a:pPr>
            <a:r>
              <a:rPr lang="en-US" altLang="en-US" sz="1600" b="1">
                <a:latin typeface="Times New Roman" panose="02020603050405020304" pitchFamily="18" charset="0"/>
              </a:rPr>
              <a:t>H6 = Tiny and bold</a:t>
            </a:r>
            <a:endParaRPr lang="en-US" altLang="en-US" sz="1600" b="1">
              <a:latin typeface="Arial Narrow" panose="020B0606020202030204" pitchFamily="34" charset="0"/>
            </a:endParaRPr>
          </a:p>
        </p:txBody>
      </p:sp>
    </p:spTree>
    <p:extLst>
      <p:ext uri="{BB962C8B-B14F-4D97-AF65-F5344CB8AC3E}">
        <p14:creationId xmlns:p14="http://schemas.microsoft.com/office/powerpoint/2010/main" val="13772731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14301529-547D-9C52-C5EA-CEC5055177CC}"/>
              </a:ext>
            </a:extLst>
          </p:cNvPr>
          <p:cNvSpPr txBox="1">
            <a:spLocks noChangeArrowheads="1"/>
          </p:cNvSpPr>
          <p:nvPr/>
        </p:nvSpPr>
        <p:spPr>
          <a:xfrm>
            <a:off x="685800" y="381000"/>
            <a:ext cx="10652760"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Formatting text</a:t>
            </a:r>
          </a:p>
        </p:txBody>
      </p:sp>
      <p:sp>
        <p:nvSpPr>
          <p:cNvPr id="3" name="Rectangle 3">
            <a:extLst>
              <a:ext uri="{FF2B5EF4-FFF2-40B4-BE49-F238E27FC236}">
                <a16:creationId xmlns:a16="http://schemas.microsoft.com/office/drawing/2014/main" id="{1EADF710-A83B-4BFE-E05C-784923295462}"/>
              </a:ext>
            </a:extLst>
          </p:cNvPr>
          <p:cNvSpPr txBox="1">
            <a:spLocks noChangeArrowheads="1"/>
          </p:cNvSpPr>
          <p:nvPr/>
        </p:nvSpPr>
        <p:spPr>
          <a:xfrm>
            <a:off x="685800" y="2057400"/>
            <a:ext cx="10652760" cy="411480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Bolding and Italicizing:</a:t>
            </a:r>
          </a:p>
          <a:p>
            <a:pPr lvl="1"/>
            <a:r>
              <a:rPr lang="en-US" altLang="en-US"/>
              <a:t>&lt;B&gt;text you want bold&lt;/B&gt;</a:t>
            </a:r>
          </a:p>
          <a:p>
            <a:pPr lvl="1"/>
            <a:r>
              <a:rPr lang="en-US" altLang="en-US"/>
              <a:t>&lt;I&gt;text you want in italics&lt;/I&gt;</a:t>
            </a:r>
            <a:br>
              <a:rPr lang="en-US" altLang="en-US"/>
            </a:br>
            <a:endParaRPr lang="en-US" altLang="en-US"/>
          </a:p>
          <a:p>
            <a:r>
              <a:rPr lang="en-US" altLang="en-US"/>
              <a:t>Aligning text or graphics left/center/right:</a:t>
            </a:r>
          </a:p>
          <a:p>
            <a:pPr lvl="1"/>
            <a:r>
              <a:rPr lang="en-US" altLang="en-US"/>
              <a:t>&lt;p align="left"&gt;new paragraph justified left&lt;/p&gt;</a:t>
            </a:r>
          </a:p>
          <a:p>
            <a:pPr lvl="1"/>
            <a:r>
              <a:rPr lang="en-US" altLang="en-US"/>
              <a:t>&lt;p align="center"&gt;new paragraph centered&lt;/p&gt;</a:t>
            </a:r>
          </a:p>
          <a:p>
            <a:pPr lvl="1"/>
            <a:r>
              <a:rPr lang="en-US" altLang="en-US"/>
              <a:t>&lt;p align="right"&gt;new paragraph justified right&lt;/p&gt;</a:t>
            </a:r>
          </a:p>
        </p:txBody>
      </p:sp>
    </p:spTree>
    <p:extLst>
      <p:ext uri="{BB962C8B-B14F-4D97-AF65-F5344CB8AC3E}">
        <p14:creationId xmlns:p14="http://schemas.microsoft.com/office/powerpoint/2010/main" val="28951631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41728"/>
          </a:xfrm>
          <a:prstGeom prst="rect">
            <a:avLst/>
          </a:prstGeom>
          <a:gradFill flip="none" rotWithShape="1">
            <a:gsLst>
              <a:gs pos="0">
                <a:srgbClr val="2F5596"/>
              </a:gs>
              <a:gs pos="27000">
                <a:srgbClr val="7095BC"/>
              </a:gs>
              <a:gs pos="72000">
                <a:srgbClr val="B0D5E1"/>
              </a:gs>
              <a:gs pos="100000">
                <a:srgbClr val="C2F5E1"/>
              </a:gs>
            </a:gsLst>
            <a:lin ang="4800000" scaled="1"/>
          </a:gradFill>
          <a:ln w="12700">
            <a:solidFill>
              <a:srgbClr val="09111E"/>
            </a:solidFill>
            <a:prstDash val="solid"/>
          </a:ln>
        </p:spPr>
      </p:sp>
      <p:sp>
        <p:nvSpPr>
          <p:cNvPr id="3" name="Text 1"/>
          <p:cNvSpPr/>
          <p:nvPr/>
        </p:nvSpPr>
        <p:spPr>
          <a:xfrm>
            <a:off x="0" y="0"/>
            <a:ext cx="12192000" cy="6841728"/>
          </a:xfrm>
          <a:prstGeom prst="rect">
            <a:avLst/>
          </a:prstGeom>
          <a:noFill/>
          <a:ln/>
        </p:spPr>
        <p:txBody>
          <a:bodyPr wrap="square" lIns="45720" tIns="91440" rIns="91440" bIns="45720" rtlCol="0" anchor="ctr"/>
          <a:lstStyle/>
          <a:p>
            <a:pPr>
              <a:lnSpc>
                <a:spcPct val="100000"/>
              </a:lnSpc>
            </a:pPr>
            <a:endParaRPr lang="en-US" sz="1600" dirty="0"/>
          </a:p>
        </p:txBody>
      </p:sp>
      <p:pic>
        <p:nvPicPr>
          <p:cNvPr id="4" name="Image 0" descr="https://kimi-img.moonshot.cn/pub/slides/slides_tmpl/image/25-08-27-20:09:10-d2nfaph8bjvh7rlj0ii0.png"/>
          <p:cNvPicPr>
            <a:picLocks noChangeAspect="1"/>
          </p:cNvPicPr>
          <p:nvPr/>
        </p:nvPicPr>
        <p:blipFill>
          <a:blip r:embed="rId3"/>
          <a:stretch>
            <a:fillRect/>
          </a:stretch>
        </p:blipFill>
        <p:spPr>
          <a:xfrm>
            <a:off x="0" y="4216202"/>
            <a:ext cx="12192000" cy="2625526"/>
          </a:xfrm>
          <a:prstGeom prst="rect">
            <a:avLst/>
          </a:prstGeom>
        </p:spPr>
      </p:pic>
      <p:sp>
        <p:nvSpPr>
          <p:cNvPr id="5" name="Text 2"/>
          <p:cNvSpPr/>
          <p:nvPr/>
        </p:nvSpPr>
        <p:spPr>
          <a:xfrm>
            <a:off x="695960" y="738505"/>
            <a:ext cx="9124950" cy="645160"/>
          </a:xfrm>
          <a:prstGeom prst="rect">
            <a:avLst/>
          </a:prstGeom>
          <a:noFill/>
          <a:ln/>
        </p:spPr>
        <p:txBody>
          <a:bodyPr wrap="square" lIns="91440" tIns="45720" rIns="91440" bIns="45720" rtlCol="0" anchor="t">
            <a:spAutoFit/>
          </a:bodyPr>
          <a:lstStyle/>
          <a:p>
            <a:pPr>
              <a:lnSpc>
                <a:spcPct val="100000"/>
              </a:lnSpc>
            </a:pPr>
            <a:r>
              <a:rPr lang="en-US" sz="3600" dirty="0">
                <a:solidFill>
                  <a:srgbClr val="FFFFFF"/>
                </a:solidFill>
                <a:latin typeface="Source Han Sans SC" pitchFamily="34" charset="0"/>
                <a:ea typeface="Source Han Sans SC" pitchFamily="34" charset="-122"/>
                <a:cs typeface="Source Han Sans SC" pitchFamily="34" charset="-120"/>
              </a:rPr>
              <a:t>Lists &amp; Links</a:t>
            </a:r>
            <a:endParaRPr lang="en-US" sz="1600" dirty="0"/>
          </a:p>
        </p:txBody>
      </p:sp>
      <p:sp>
        <p:nvSpPr>
          <p:cNvPr id="6" name="Shape 3"/>
          <p:cNvSpPr/>
          <p:nvPr/>
        </p:nvSpPr>
        <p:spPr>
          <a:xfrm>
            <a:off x="10056440" y="983258"/>
            <a:ext cx="1106564" cy="0"/>
          </a:xfrm>
          <a:prstGeom prst="straightConnector1">
            <a:avLst/>
          </a:prstGeom>
          <a:noFill/>
          <a:ln w="15875">
            <a:solidFill>
              <a:srgbClr val="FFFFFF"/>
            </a:solidFill>
            <a:prstDash val="solid"/>
            <a:headEnd type="none"/>
            <a:tailEnd type="triangle"/>
          </a:ln>
        </p:spPr>
      </p:sp>
      <p:sp>
        <p:nvSpPr>
          <p:cNvPr id="7" name="Text 4"/>
          <p:cNvSpPr/>
          <p:nvPr/>
        </p:nvSpPr>
        <p:spPr>
          <a:xfrm>
            <a:off x="695960" y="1735455"/>
            <a:ext cx="5632450" cy="460375"/>
          </a:xfrm>
          <a:prstGeom prst="rect">
            <a:avLst/>
          </a:prstGeom>
          <a:noFill/>
          <a:ln/>
        </p:spPr>
        <p:txBody>
          <a:bodyPr wrap="square" lIns="91440" tIns="45720" rIns="91440" bIns="45720" rtlCol="0" anchor="t">
            <a:spAutoFit/>
          </a:bodyPr>
          <a:lstStyle/>
          <a:p>
            <a:pPr>
              <a:lnSpc>
                <a:spcPct val="100000"/>
              </a:lnSpc>
            </a:pPr>
            <a:r>
              <a:rPr lang="en-US" sz="2400" dirty="0">
                <a:solidFill>
                  <a:srgbClr val="FFFFFF"/>
                </a:solidFill>
                <a:latin typeface="Source Han Sans SC" pitchFamily="34" charset="0"/>
                <a:ea typeface="Source Han Sans SC" pitchFamily="34" charset="-122"/>
                <a:cs typeface="Source Han Sans SC" pitchFamily="34" charset="-120"/>
              </a:rPr>
              <a:t>Lists</a:t>
            </a:r>
            <a:endParaRPr lang="en-US" sz="1600" dirty="0"/>
          </a:p>
        </p:txBody>
      </p:sp>
      <p:sp>
        <p:nvSpPr>
          <p:cNvPr id="8" name="Text 5"/>
          <p:cNvSpPr/>
          <p:nvPr/>
        </p:nvSpPr>
        <p:spPr>
          <a:xfrm>
            <a:off x="695960" y="2493010"/>
            <a:ext cx="5067935" cy="1753235"/>
          </a:xfrm>
          <a:prstGeom prst="rect">
            <a:avLst/>
          </a:prstGeom>
          <a:noFill/>
          <a:ln/>
        </p:spPr>
        <p:txBody>
          <a:bodyPr wrap="square" lIns="91440" tIns="45720" rIns="91440" bIns="45720" rtlCol="0" anchor="t">
            <a:spAutoFit/>
          </a:bodyPr>
          <a:lstStyle/>
          <a:p>
            <a:pPr>
              <a:lnSpc>
                <a:spcPct val="100000"/>
              </a:lnSpc>
            </a:pPr>
            <a:r>
              <a:rPr lang="en-US" sz="1800" dirty="0">
                <a:solidFill>
                  <a:srgbClr val="000000"/>
                </a:solidFill>
                <a:latin typeface="Source Han Sans SC Light" pitchFamily="34" charset="0"/>
                <a:ea typeface="Source Han Sans SC Light" pitchFamily="34" charset="-122"/>
                <a:cs typeface="Source Han Sans SC Light" pitchFamily="34" charset="-120"/>
              </a:rPr>
              <a:t>Create lists with &lt;ul&gt; for unordered lists and &lt;ol&gt; for ordered lists. Each item in the list is wrapped in &lt;li&gt; tags. Lists help organize information clearly.</a:t>
            </a:r>
            <a:endParaRPr lang="en-US" sz="1600" dirty="0"/>
          </a:p>
        </p:txBody>
      </p:sp>
      <p:sp>
        <p:nvSpPr>
          <p:cNvPr id="9" name="Text 6"/>
          <p:cNvSpPr/>
          <p:nvPr/>
        </p:nvSpPr>
        <p:spPr>
          <a:xfrm>
            <a:off x="6456045" y="1749425"/>
            <a:ext cx="5152390" cy="460375"/>
          </a:xfrm>
          <a:prstGeom prst="rect">
            <a:avLst/>
          </a:prstGeom>
          <a:noFill/>
          <a:ln/>
        </p:spPr>
        <p:txBody>
          <a:bodyPr wrap="square" lIns="91440" tIns="45720" rIns="91440" bIns="45720" rtlCol="0" anchor="t">
            <a:spAutoFit/>
          </a:bodyPr>
          <a:lstStyle/>
          <a:p>
            <a:pPr>
              <a:lnSpc>
                <a:spcPct val="100000"/>
              </a:lnSpc>
            </a:pPr>
            <a:r>
              <a:rPr lang="en-US" sz="2400" dirty="0">
                <a:solidFill>
                  <a:srgbClr val="FFFFFF"/>
                </a:solidFill>
                <a:latin typeface="Source Han Sans SC" pitchFamily="34" charset="0"/>
                <a:ea typeface="Source Han Sans SC" pitchFamily="34" charset="-122"/>
                <a:cs typeface="Source Han Sans SC" pitchFamily="34" charset="-120"/>
              </a:rPr>
              <a:t>Links</a:t>
            </a:r>
            <a:endParaRPr lang="en-US" sz="1600" dirty="0"/>
          </a:p>
        </p:txBody>
      </p:sp>
      <p:sp>
        <p:nvSpPr>
          <p:cNvPr id="10" name="Text 7"/>
          <p:cNvSpPr/>
          <p:nvPr/>
        </p:nvSpPr>
        <p:spPr>
          <a:xfrm>
            <a:off x="6456045" y="2493010"/>
            <a:ext cx="5067935" cy="1753235"/>
          </a:xfrm>
          <a:prstGeom prst="rect">
            <a:avLst/>
          </a:prstGeom>
          <a:noFill/>
          <a:ln/>
        </p:spPr>
        <p:txBody>
          <a:bodyPr wrap="square" lIns="91440" tIns="45720" rIns="91440" bIns="45720" rtlCol="0" anchor="t">
            <a:spAutoFit/>
          </a:bodyPr>
          <a:lstStyle/>
          <a:p>
            <a:pPr>
              <a:lnSpc>
                <a:spcPct val="100000"/>
              </a:lnSpc>
            </a:pPr>
            <a:r>
              <a:rPr lang="en-US" sz="1800" dirty="0">
                <a:solidFill>
                  <a:srgbClr val="000000"/>
                </a:solidFill>
                <a:latin typeface="Source Han Sans SC Light" pitchFamily="34" charset="0"/>
                <a:ea typeface="Source Han Sans SC Light" pitchFamily="34" charset="-122"/>
                <a:cs typeface="Source Han Sans SC Light" pitchFamily="34" charset="-120"/>
              </a:rPr>
              <a:t>Add links using the &lt;a&gt; tag with the href attribute. Links can be internal, pointing to other sections of your page, or external, linking to other websites.</a:t>
            </a:r>
            <a:endParaRPr lang="en-US" sz="1600" dirty="0"/>
          </a:p>
        </p:txBody>
      </p:sp>
    </p:spTree>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3D3E9346-FA46-D58E-35BD-3822286B4AB5}"/>
              </a:ext>
            </a:extLst>
          </p:cNvPr>
          <p:cNvSpPr txBox="1">
            <a:spLocks noChangeArrowheads="1"/>
          </p:cNvSpPr>
          <p:nvPr/>
        </p:nvSpPr>
        <p:spPr>
          <a:xfrm>
            <a:off x="685800" y="381000"/>
            <a:ext cx="10970172"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dirty="0"/>
              <a:t>Ordered Lists</a:t>
            </a:r>
          </a:p>
        </p:txBody>
      </p:sp>
      <p:sp>
        <p:nvSpPr>
          <p:cNvPr id="7" name="Rectangle 3">
            <a:extLst>
              <a:ext uri="{FF2B5EF4-FFF2-40B4-BE49-F238E27FC236}">
                <a16:creationId xmlns:a16="http://schemas.microsoft.com/office/drawing/2014/main" id="{21D62DB2-E7BC-60F4-C9FB-2C162C875D43}"/>
              </a:ext>
            </a:extLst>
          </p:cNvPr>
          <p:cNvSpPr txBox="1">
            <a:spLocks noChangeArrowheads="1"/>
          </p:cNvSpPr>
          <p:nvPr/>
        </p:nvSpPr>
        <p:spPr>
          <a:xfrm>
            <a:off x="1442720" y="2057400"/>
            <a:ext cx="10213252" cy="411480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it-IT" altLang="en-US" dirty="0"/>
              <a:t>&lt;ol&gt;</a:t>
            </a:r>
          </a:p>
          <a:p>
            <a:pPr marL="0" indent="0">
              <a:buNone/>
            </a:pPr>
            <a:r>
              <a:rPr lang="it-IT" altLang="en-US" dirty="0"/>
              <a:t>    &lt;li&gt;First item&lt;/li&gt;</a:t>
            </a:r>
          </a:p>
          <a:p>
            <a:pPr marL="0" indent="0">
              <a:buNone/>
            </a:pPr>
            <a:r>
              <a:rPr lang="it-IT" altLang="en-US" dirty="0"/>
              <a:t>    &lt;li&gt;Second item&lt;/li&gt;</a:t>
            </a:r>
          </a:p>
          <a:p>
            <a:pPr marL="0" indent="0">
              <a:buNone/>
            </a:pPr>
            <a:r>
              <a:rPr lang="it-IT" altLang="en-US" dirty="0"/>
              <a:t>    &lt;li&gt;Third item&lt;/li&gt;</a:t>
            </a:r>
          </a:p>
          <a:p>
            <a:pPr marL="0" indent="0">
              <a:buNone/>
            </a:pPr>
            <a:r>
              <a:rPr lang="it-IT" altLang="en-US" dirty="0"/>
              <a:t>&lt;/ol&gt;</a:t>
            </a:r>
          </a:p>
          <a:p>
            <a:pPr marL="0" indent="0">
              <a:buNone/>
            </a:pPr>
            <a:endParaRPr lang="en-US" altLang="en-US" dirty="0"/>
          </a:p>
        </p:txBody>
      </p:sp>
      <p:pic>
        <p:nvPicPr>
          <p:cNvPr id="9" name="Picture 8">
            <a:extLst>
              <a:ext uri="{FF2B5EF4-FFF2-40B4-BE49-F238E27FC236}">
                <a16:creationId xmlns:a16="http://schemas.microsoft.com/office/drawing/2014/main" id="{5BF60B0F-8D46-6635-A440-319647FA784A}"/>
              </a:ext>
            </a:extLst>
          </p:cNvPr>
          <p:cNvPicPr>
            <a:picLocks noChangeAspect="1"/>
          </p:cNvPicPr>
          <p:nvPr/>
        </p:nvPicPr>
        <p:blipFill>
          <a:blip r:embed="rId2"/>
          <a:stretch>
            <a:fillRect/>
          </a:stretch>
        </p:blipFill>
        <p:spPr>
          <a:xfrm>
            <a:off x="7128471" y="2605382"/>
            <a:ext cx="3182344" cy="1885338"/>
          </a:xfrm>
          <a:prstGeom prst="rect">
            <a:avLst/>
          </a:prstGeom>
        </p:spPr>
      </p:pic>
    </p:spTree>
    <p:extLst>
      <p:ext uri="{BB962C8B-B14F-4D97-AF65-F5344CB8AC3E}">
        <p14:creationId xmlns:p14="http://schemas.microsoft.com/office/powerpoint/2010/main" val="2685134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04B7D-ACFB-8202-DB89-DDC7809AB037}"/>
            </a:ext>
          </a:extLst>
        </p:cNvPr>
        <p:cNvGrpSpPr/>
        <p:nvPr/>
      </p:nvGrpSpPr>
      <p:grpSpPr>
        <a:xfrm>
          <a:off x="0" y="0"/>
          <a:ext cx="0" cy="0"/>
          <a:chOff x="0" y="0"/>
          <a:chExt cx="0" cy="0"/>
        </a:xfrm>
      </p:grpSpPr>
      <p:sp>
        <p:nvSpPr>
          <p:cNvPr id="6" name="Rectangle 2">
            <a:extLst>
              <a:ext uri="{FF2B5EF4-FFF2-40B4-BE49-F238E27FC236}">
                <a16:creationId xmlns:a16="http://schemas.microsoft.com/office/drawing/2014/main" id="{D1DCD05E-EAB5-E3A7-6F8E-A714B379116C}"/>
              </a:ext>
            </a:extLst>
          </p:cNvPr>
          <p:cNvSpPr txBox="1">
            <a:spLocks noChangeArrowheads="1"/>
          </p:cNvSpPr>
          <p:nvPr/>
        </p:nvSpPr>
        <p:spPr>
          <a:xfrm>
            <a:off x="685800" y="381000"/>
            <a:ext cx="10970172"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dirty="0" err="1"/>
              <a:t>UnOrdered</a:t>
            </a:r>
            <a:r>
              <a:rPr lang="en-US" altLang="en-US" dirty="0"/>
              <a:t> Lists</a:t>
            </a:r>
          </a:p>
        </p:txBody>
      </p:sp>
      <p:sp>
        <p:nvSpPr>
          <p:cNvPr id="7" name="Rectangle 3">
            <a:extLst>
              <a:ext uri="{FF2B5EF4-FFF2-40B4-BE49-F238E27FC236}">
                <a16:creationId xmlns:a16="http://schemas.microsoft.com/office/drawing/2014/main" id="{FD793C37-9902-C950-508E-89BC8DE2BDAC}"/>
              </a:ext>
            </a:extLst>
          </p:cNvPr>
          <p:cNvSpPr txBox="1">
            <a:spLocks noChangeArrowheads="1"/>
          </p:cNvSpPr>
          <p:nvPr/>
        </p:nvSpPr>
        <p:spPr>
          <a:xfrm>
            <a:off x="1351280" y="2057400"/>
            <a:ext cx="10304692" cy="411480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it-IT" altLang="en-US" dirty="0"/>
              <a:t>&lt;ul&gt;</a:t>
            </a:r>
          </a:p>
          <a:p>
            <a:pPr marL="0" indent="0">
              <a:buNone/>
            </a:pPr>
            <a:r>
              <a:rPr lang="it-IT" altLang="en-US" dirty="0"/>
              <a:t>    &lt;li&gt;Item 1&lt;/li&gt;</a:t>
            </a:r>
          </a:p>
          <a:p>
            <a:pPr marL="0" indent="0">
              <a:buNone/>
            </a:pPr>
            <a:r>
              <a:rPr lang="it-IT" altLang="en-US" dirty="0"/>
              <a:t>    &lt;li&gt;Item 2&lt;/li&gt;</a:t>
            </a:r>
          </a:p>
          <a:p>
            <a:pPr marL="0" indent="0">
              <a:buNone/>
            </a:pPr>
            <a:r>
              <a:rPr lang="it-IT" altLang="en-US" dirty="0"/>
              <a:t>    &lt;li&gt;Item 3&lt;/li&gt;</a:t>
            </a:r>
          </a:p>
          <a:p>
            <a:pPr marL="0" indent="0">
              <a:buNone/>
            </a:pPr>
            <a:r>
              <a:rPr lang="it-IT" altLang="en-US" dirty="0"/>
              <a:t>&lt;/ul&gt;</a:t>
            </a:r>
          </a:p>
          <a:p>
            <a:pPr marL="0" indent="0">
              <a:buNone/>
            </a:pPr>
            <a:endParaRPr lang="en-US" altLang="en-US" dirty="0"/>
          </a:p>
        </p:txBody>
      </p:sp>
      <p:pic>
        <p:nvPicPr>
          <p:cNvPr id="3" name="Picture 2">
            <a:extLst>
              <a:ext uri="{FF2B5EF4-FFF2-40B4-BE49-F238E27FC236}">
                <a16:creationId xmlns:a16="http://schemas.microsoft.com/office/drawing/2014/main" id="{5CB1DAAD-C7A1-AB3C-EB7C-031F34EA460D}"/>
              </a:ext>
            </a:extLst>
          </p:cNvPr>
          <p:cNvPicPr>
            <a:picLocks noChangeAspect="1"/>
          </p:cNvPicPr>
          <p:nvPr/>
        </p:nvPicPr>
        <p:blipFill>
          <a:blip r:embed="rId2"/>
          <a:stretch>
            <a:fillRect/>
          </a:stretch>
        </p:blipFill>
        <p:spPr>
          <a:xfrm>
            <a:off x="6845902" y="2277087"/>
            <a:ext cx="3527458" cy="2517080"/>
          </a:xfrm>
          <a:prstGeom prst="rect">
            <a:avLst/>
          </a:prstGeom>
        </p:spPr>
      </p:pic>
    </p:spTree>
    <p:extLst>
      <p:ext uri="{BB962C8B-B14F-4D97-AF65-F5344CB8AC3E}">
        <p14:creationId xmlns:p14="http://schemas.microsoft.com/office/powerpoint/2010/main" val="15186491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28881EAC-D401-1080-85B5-2C49C6E9848C}"/>
              </a:ext>
            </a:extLst>
          </p:cNvPr>
          <p:cNvSpPr txBox="1">
            <a:spLocks noChangeArrowheads="1"/>
          </p:cNvSpPr>
          <p:nvPr/>
        </p:nvSpPr>
        <p:spPr>
          <a:xfrm>
            <a:off x="1024382" y="381000"/>
            <a:ext cx="10292627"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Linking Documents</a:t>
            </a:r>
          </a:p>
        </p:txBody>
      </p:sp>
      <p:sp>
        <p:nvSpPr>
          <p:cNvPr id="3" name="Rectangle 3">
            <a:extLst>
              <a:ext uri="{FF2B5EF4-FFF2-40B4-BE49-F238E27FC236}">
                <a16:creationId xmlns:a16="http://schemas.microsoft.com/office/drawing/2014/main" id="{ADBAB78F-1319-AA2E-DB50-38A0D8DC2EA9}"/>
              </a:ext>
            </a:extLst>
          </p:cNvPr>
          <p:cNvSpPr txBox="1">
            <a:spLocks noChangeArrowheads="1"/>
          </p:cNvSpPr>
          <p:nvPr/>
        </p:nvSpPr>
        <p:spPr>
          <a:xfrm>
            <a:off x="451944" y="2209800"/>
            <a:ext cx="12008065" cy="411480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28600" indent="-228600"/>
            <a:r>
              <a:rPr lang="en-US" altLang="en-US" sz="2400"/>
              <a:t>One of the really exciting things webmasters can do is link their web page to another's.</a:t>
            </a:r>
          </a:p>
          <a:p>
            <a:pPr marL="228600" indent="-228600"/>
            <a:r>
              <a:rPr lang="en-US" altLang="en-US" sz="2400"/>
              <a:t>To do this, webmasters use a pair of anchor tags:</a:t>
            </a:r>
            <a:endParaRPr lang="en-US" altLang="en-US"/>
          </a:p>
          <a:p>
            <a:pPr marL="228600" indent="-228600">
              <a:buFontTx/>
              <a:buNone/>
            </a:pPr>
            <a:r>
              <a:rPr lang="en-US" altLang="en-US" sz="1800">
                <a:latin typeface="Courier" charset="0"/>
              </a:rPr>
              <a:t>		&lt;A HREF="URL"&gt;text to become clickable hotlink&lt;/A&gt;</a:t>
            </a:r>
          </a:p>
          <a:p>
            <a:pPr marL="228600" indent="-228600">
              <a:buFontTx/>
              <a:buNone/>
            </a:pPr>
            <a:endParaRPr lang="en-US" altLang="en-US" sz="2400"/>
          </a:p>
          <a:p>
            <a:pPr marL="228600" indent="-228600">
              <a:buFontTx/>
              <a:buNone/>
            </a:pPr>
            <a:r>
              <a:rPr lang="en-US" altLang="en-US" sz="2400"/>
              <a:t>A = Anchor</a:t>
            </a:r>
          </a:p>
          <a:p>
            <a:pPr marL="228600" indent="-228600">
              <a:buFontTx/>
              <a:buNone/>
            </a:pPr>
            <a:r>
              <a:rPr lang="en-US" altLang="en-US" sz="2400"/>
              <a:t>HREF = hypertext reference</a:t>
            </a:r>
          </a:p>
          <a:p>
            <a:pPr marL="228600" indent="-228600">
              <a:buFontTx/>
              <a:buNone/>
            </a:pPr>
            <a:r>
              <a:rPr lang="en-US" altLang="en-US" sz="2400"/>
              <a:t>URL = Uniform Resource Locator (a web address, such as http://www.stanford.edu/)</a:t>
            </a:r>
            <a:endParaRPr lang="en-US" altLang="en-US"/>
          </a:p>
        </p:txBody>
      </p:sp>
    </p:spTree>
    <p:extLst>
      <p:ext uri="{BB962C8B-B14F-4D97-AF65-F5344CB8AC3E}">
        <p14:creationId xmlns:p14="http://schemas.microsoft.com/office/powerpoint/2010/main" val="2484820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4172D530-8A1D-5B4C-8EE3-2BD24CCF03F4}"/>
              </a:ext>
            </a:extLst>
          </p:cNvPr>
          <p:cNvSpPr txBox="1">
            <a:spLocks noChangeArrowheads="1"/>
          </p:cNvSpPr>
          <p:nvPr/>
        </p:nvSpPr>
        <p:spPr>
          <a:xfrm>
            <a:off x="685800" y="381000"/>
            <a:ext cx="10970172"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More on linking documents</a:t>
            </a:r>
          </a:p>
        </p:txBody>
      </p:sp>
      <p:sp>
        <p:nvSpPr>
          <p:cNvPr id="5" name="Rectangle 3">
            <a:extLst>
              <a:ext uri="{FF2B5EF4-FFF2-40B4-BE49-F238E27FC236}">
                <a16:creationId xmlns:a16="http://schemas.microsoft.com/office/drawing/2014/main" id="{CE677B3B-4F9E-22A4-E2BC-5B62B302F3AF}"/>
              </a:ext>
            </a:extLst>
          </p:cNvPr>
          <p:cNvSpPr txBox="1">
            <a:spLocks noChangeArrowheads="1"/>
          </p:cNvSpPr>
          <p:nvPr/>
        </p:nvSpPr>
        <p:spPr>
          <a:xfrm>
            <a:off x="685800" y="2057400"/>
            <a:ext cx="10970172" cy="411480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Things to know about links:</a:t>
            </a:r>
          </a:p>
          <a:p>
            <a:pPr lvl="1"/>
            <a:r>
              <a:rPr lang="en-US" altLang="en-US"/>
              <a:t>Case counts for the URL</a:t>
            </a:r>
          </a:p>
          <a:p>
            <a:pPr lvl="1"/>
            <a:r>
              <a:rPr lang="en-US" altLang="en-US"/>
              <a:t>The URL must be exact</a:t>
            </a:r>
          </a:p>
          <a:p>
            <a:pPr lvl="1"/>
            <a:r>
              <a:rPr lang="en-US" altLang="en-US"/>
              <a:t>You must have something in the "text to become clickable hotlink" section for the link to work</a:t>
            </a:r>
          </a:p>
        </p:txBody>
      </p:sp>
    </p:spTree>
    <p:extLst>
      <p:ext uri="{BB962C8B-B14F-4D97-AF65-F5344CB8AC3E}">
        <p14:creationId xmlns:p14="http://schemas.microsoft.com/office/powerpoint/2010/main" val="37225570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
            <a:ext cx="12192000" cy="6858001"/>
          </a:xfrm>
          <a:prstGeom prst="rect">
            <a:avLst/>
          </a:prstGeom>
          <a:solidFill>
            <a:srgbClr val="0D0D0D"/>
          </a:solidFill>
          <a:ln/>
        </p:spPr>
      </p:sp>
      <p:sp>
        <p:nvSpPr>
          <p:cNvPr id="3" name="Text 1"/>
          <p:cNvSpPr/>
          <p:nvPr/>
        </p:nvSpPr>
        <p:spPr>
          <a:xfrm>
            <a:off x="0" y="-1"/>
            <a:ext cx="12192000" cy="6858001"/>
          </a:xfrm>
          <a:prstGeom prst="rect">
            <a:avLst/>
          </a:prstGeom>
          <a:noFill/>
          <a:ln/>
        </p:spPr>
        <p:txBody>
          <a:bodyPr wrap="square" lIns="45720" tIns="91440" rIns="91440" bIns="45720" rtlCol="0" anchor="ctr"/>
          <a:lstStyle/>
          <a:p>
            <a:pPr>
              <a:lnSpc>
                <a:spcPct val="100000"/>
              </a:lnSpc>
            </a:pPr>
            <a:endParaRPr lang="en-US" sz="1600" dirty="0"/>
          </a:p>
        </p:txBody>
      </p:sp>
      <p:pic>
        <p:nvPicPr>
          <p:cNvPr id="4" name="Image 0" descr="https://kimi-img.moonshot.cn/pub/slides/slides_tmpl/image/25-08-27-20:09:12-d2nfaq18bjvh7rlj0ir0.jpeg"/>
          <p:cNvPicPr>
            <a:picLocks noChangeAspect="1"/>
          </p:cNvPicPr>
          <p:nvPr/>
        </p:nvPicPr>
        <p:blipFill>
          <a:blip r:embed="rId3"/>
          <a:srcRect/>
          <a:stretch/>
        </p:blipFill>
        <p:spPr>
          <a:xfrm flipH="1">
            <a:off x="408127" y="2521292"/>
            <a:ext cx="6341541" cy="3473039"/>
          </a:xfrm>
          <a:prstGeom prst="rect">
            <a:avLst/>
          </a:prstGeom>
        </p:spPr>
      </p:pic>
      <p:sp>
        <p:nvSpPr>
          <p:cNvPr id="5" name="Text 2"/>
          <p:cNvSpPr/>
          <p:nvPr/>
        </p:nvSpPr>
        <p:spPr>
          <a:xfrm>
            <a:off x="551180" y="492760"/>
            <a:ext cx="6088380" cy="1285875"/>
          </a:xfrm>
          <a:prstGeom prst="rect">
            <a:avLst/>
          </a:prstGeom>
          <a:noFill/>
          <a:ln/>
        </p:spPr>
        <p:txBody>
          <a:bodyPr wrap="square" lIns="91440" tIns="45720" rIns="91440" bIns="45720" rtlCol="0" anchor="t"/>
          <a:lstStyle/>
          <a:p>
            <a:pPr>
              <a:lnSpc>
                <a:spcPct val="100000"/>
              </a:lnSpc>
            </a:pPr>
            <a:r>
              <a:rPr lang="en-US" sz="3400" dirty="0">
                <a:solidFill>
                  <a:srgbClr val="FFFFFF"/>
                </a:solidFill>
                <a:latin typeface="Source Han Sans SC" pitchFamily="34" charset="0"/>
                <a:ea typeface="Source Han Sans SC" pitchFamily="34" charset="-122"/>
                <a:cs typeface="Source Han Sans SC" pitchFamily="34" charset="-120"/>
              </a:rPr>
              <a:t>Images &amp; Multimedia</a:t>
            </a:r>
            <a:endParaRPr lang="en-US" sz="1600" dirty="0"/>
          </a:p>
        </p:txBody>
      </p:sp>
      <p:sp>
        <p:nvSpPr>
          <p:cNvPr id="6" name="Text 3"/>
          <p:cNvSpPr/>
          <p:nvPr/>
        </p:nvSpPr>
        <p:spPr>
          <a:xfrm>
            <a:off x="408305" y="1774825"/>
            <a:ext cx="5563870" cy="368300"/>
          </a:xfrm>
          <a:prstGeom prst="rect">
            <a:avLst/>
          </a:prstGeom>
          <a:noFill/>
          <a:ln/>
        </p:spPr>
        <p:txBody>
          <a:bodyPr wrap="square" lIns="91440" tIns="45720" rIns="91440" bIns="45720" rtlCol="0" anchor="t">
            <a:spAutoFit/>
          </a:bodyPr>
          <a:lstStyle/>
          <a:p>
            <a:pPr>
              <a:lnSpc>
                <a:spcPct val="100000"/>
              </a:lnSpc>
            </a:pPr>
            <a:r>
              <a:rPr lang="en-US" sz="1800" dirty="0">
                <a:solidFill>
                  <a:srgbClr val="9DB4E1"/>
                </a:solidFill>
                <a:latin typeface="Source Han Sans SC" pitchFamily="34" charset="0"/>
                <a:ea typeface="Source Han Sans SC" pitchFamily="34" charset="-122"/>
                <a:cs typeface="Source Han Sans SC" pitchFamily="34" charset="-120"/>
              </a:rPr>
              <a:t>Images</a:t>
            </a:r>
            <a:endParaRPr lang="en-US" sz="1600" dirty="0"/>
          </a:p>
        </p:txBody>
      </p:sp>
      <p:sp>
        <p:nvSpPr>
          <p:cNvPr id="7" name="Text 4"/>
          <p:cNvSpPr/>
          <p:nvPr/>
        </p:nvSpPr>
        <p:spPr>
          <a:xfrm>
            <a:off x="336119" y="2097392"/>
            <a:ext cx="5423544"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Light" pitchFamily="34" charset="0"/>
                <a:ea typeface="Source Han Sans SC Light" pitchFamily="34" charset="-122"/>
                <a:cs typeface="Source Han Sans SC Light" pitchFamily="34" charset="-120"/>
              </a:rPr>
              <a:t>Insert images with the &lt;img&gt; tag. Use the src attribute to specify the image file and alt attribute for alternative text, which is important for accessibility.</a:t>
            </a:r>
            <a:endParaRPr lang="en-US" sz="1600" dirty="0"/>
          </a:p>
        </p:txBody>
      </p:sp>
      <p:sp>
        <p:nvSpPr>
          <p:cNvPr id="8" name="Text 5"/>
          <p:cNvSpPr/>
          <p:nvPr/>
        </p:nvSpPr>
        <p:spPr>
          <a:xfrm>
            <a:off x="6861810" y="676275"/>
            <a:ext cx="4965065" cy="368300"/>
          </a:xfrm>
          <a:prstGeom prst="rect">
            <a:avLst/>
          </a:prstGeom>
          <a:noFill/>
          <a:ln/>
        </p:spPr>
        <p:txBody>
          <a:bodyPr wrap="square" lIns="91440" tIns="45720" rIns="91440" bIns="45720" rtlCol="0" anchor="t">
            <a:spAutoFit/>
          </a:bodyPr>
          <a:lstStyle/>
          <a:p>
            <a:pPr>
              <a:lnSpc>
                <a:spcPct val="100000"/>
              </a:lnSpc>
            </a:pPr>
            <a:r>
              <a:rPr lang="en-US" sz="1800" dirty="0">
                <a:solidFill>
                  <a:srgbClr val="9DB4E1"/>
                </a:solidFill>
                <a:latin typeface="Source Han Sans SC" pitchFamily="34" charset="0"/>
                <a:ea typeface="Source Han Sans SC" pitchFamily="34" charset="-122"/>
                <a:cs typeface="Source Han Sans SC" pitchFamily="34" charset="-120"/>
              </a:rPr>
              <a:t>Audio</a:t>
            </a:r>
            <a:endParaRPr lang="en-US" sz="1600" dirty="0"/>
          </a:p>
        </p:txBody>
      </p:sp>
      <p:sp>
        <p:nvSpPr>
          <p:cNvPr id="9" name="Text 6"/>
          <p:cNvSpPr/>
          <p:nvPr/>
        </p:nvSpPr>
        <p:spPr>
          <a:xfrm>
            <a:off x="6861810" y="998855"/>
            <a:ext cx="4965700"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Light" pitchFamily="34" charset="0"/>
                <a:ea typeface="Source Han Sans SC Light" pitchFamily="34" charset="-122"/>
                <a:cs typeface="Source Han Sans SC Light" pitchFamily="34" charset="-120"/>
              </a:rPr>
              <a:t>Add audio files using the &lt;audio&gt; tag with the controls attribute. This allows users to play and pause the audio directly on your webpage.</a:t>
            </a:r>
            <a:endParaRPr lang="en-US" sz="1600" dirty="0"/>
          </a:p>
        </p:txBody>
      </p:sp>
      <p:sp>
        <p:nvSpPr>
          <p:cNvPr id="10" name="Text 7"/>
          <p:cNvSpPr/>
          <p:nvPr/>
        </p:nvSpPr>
        <p:spPr>
          <a:xfrm>
            <a:off x="6857365" y="2708910"/>
            <a:ext cx="4959350" cy="368300"/>
          </a:xfrm>
          <a:prstGeom prst="rect">
            <a:avLst/>
          </a:prstGeom>
          <a:noFill/>
          <a:ln/>
        </p:spPr>
        <p:txBody>
          <a:bodyPr wrap="square" lIns="91440" tIns="45720" rIns="91440" bIns="45720" rtlCol="0" anchor="t">
            <a:spAutoFit/>
          </a:bodyPr>
          <a:lstStyle/>
          <a:p>
            <a:pPr>
              <a:lnSpc>
                <a:spcPct val="100000"/>
              </a:lnSpc>
            </a:pPr>
            <a:r>
              <a:rPr lang="en-US" sz="1800" dirty="0">
                <a:solidFill>
                  <a:srgbClr val="9DB4E1"/>
                </a:solidFill>
                <a:latin typeface="Source Han Sans SC" pitchFamily="34" charset="0"/>
                <a:ea typeface="Source Han Sans SC" pitchFamily="34" charset="-122"/>
                <a:cs typeface="Source Han Sans SC" pitchFamily="34" charset="-120"/>
              </a:rPr>
              <a:t>Video</a:t>
            </a:r>
            <a:endParaRPr lang="en-US" sz="1600" dirty="0"/>
          </a:p>
        </p:txBody>
      </p:sp>
      <p:sp>
        <p:nvSpPr>
          <p:cNvPr id="11" name="Text 8"/>
          <p:cNvSpPr/>
          <p:nvPr/>
        </p:nvSpPr>
        <p:spPr>
          <a:xfrm>
            <a:off x="6861810" y="3049905"/>
            <a:ext cx="4965700"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Light" pitchFamily="34" charset="0"/>
                <a:ea typeface="Source Han Sans SC Light" pitchFamily="34" charset="-122"/>
                <a:cs typeface="Source Han Sans SC Light" pitchFamily="34" charset="-120"/>
              </a:rPr>
              <a:t>Embed videos with the &lt;video&gt; tag. Like audio, use the controls attribute to provide playback controls. This is a great way to enrich your content.</a:t>
            </a:r>
            <a:endParaRPr lang="en-US" sz="1600" dirty="0"/>
          </a:p>
        </p:txBody>
      </p:sp>
      <p:sp>
        <p:nvSpPr>
          <p:cNvPr id="12" name="Text 9"/>
          <p:cNvSpPr/>
          <p:nvPr/>
        </p:nvSpPr>
        <p:spPr>
          <a:xfrm>
            <a:off x="6857365" y="4645660"/>
            <a:ext cx="5042535" cy="368300"/>
          </a:xfrm>
          <a:prstGeom prst="rect">
            <a:avLst/>
          </a:prstGeom>
          <a:noFill/>
          <a:ln/>
        </p:spPr>
        <p:txBody>
          <a:bodyPr wrap="square" lIns="91440" tIns="45720" rIns="91440" bIns="45720" rtlCol="0" anchor="t">
            <a:spAutoFit/>
          </a:bodyPr>
          <a:lstStyle/>
          <a:p>
            <a:pPr>
              <a:lnSpc>
                <a:spcPct val="100000"/>
              </a:lnSpc>
            </a:pPr>
            <a:r>
              <a:rPr lang="en-US" sz="1800" dirty="0">
                <a:solidFill>
                  <a:srgbClr val="9DB4E1"/>
                </a:solidFill>
                <a:latin typeface="Source Han Sans SC" pitchFamily="34" charset="0"/>
                <a:ea typeface="Source Han Sans SC" pitchFamily="34" charset="-122"/>
                <a:cs typeface="Source Han Sans SC" pitchFamily="34" charset="-120"/>
              </a:rPr>
              <a:t>Multimedia Tips</a:t>
            </a:r>
            <a:endParaRPr lang="en-US" sz="1600" dirty="0"/>
          </a:p>
        </p:txBody>
      </p:sp>
      <p:sp>
        <p:nvSpPr>
          <p:cNvPr id="13" name="Text 10"/>
          <p:cNvSpPr/>
          <p:nvPr/>
        </p:nvSpPr>
        <p:spPr>
          <a:xfrm>
            <a:off x="6861810" y="5039995"/>
            <a:ext cx="4965700"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Light" pitchFamily="34" charset="0"/>
                <a:ea typeface="Source Han Sans SC Light" pitchFamily="34" charset="-122"/>
                <a:cs typeface="Source Han Sans SC Light" pitchFamily="34" charset="-120"/>
              </a:rPr>
              <a:t>Ensure your multimedia files are optimized for the web to avoid slow loading times. Always provide fallback content for users who cannot access the media.</a:t>
            </a:r>
            <a:endParaRPr lang="en-US" sz="1600" dirty="0"/>
          </a:p>
        </p:txBody>
      </p:sp>
    </p:spTree>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35BAE91B-9A74-E4BB-81D4-9806091F9E62}"/>
              </a:ext>
            </a:extLst>
          </p:cNvPr>
          <p:cNvSpPr txBox="1">
            <a:spLocks noChangeArrowheads="1"/>
          </p:cNvSpPr>
          <p:nvPr/>
        </p:nvSpPr>
        <p:spPr>
          <a:xfrm>
            <a:off x="885763" y="623888"/>
            <a:ext cx="10604485"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Inserting Images  </a:t>
            </a:r>
          </a:p>
        </p:txBody>
      </p:sp>
      <p:sp>
        <p:nvSpPr>
          <p:cNvPr id="3" name="Rectangle 3">
            <a:extLst>
              <a:ext uri="{FF2B5EF4-FFF2-40B4-BE49-F238E27FC236}">
                <a16:creationId xmlns:a16="http://schemas.microsoft.com/office/drawing/2014/main" id="{7D23A2A0-52F6-F779-1C8C-5C4459F683F0}"/>
              </a:ext>
            </a:extLst>
          </p:cNvPr>
          <p:cNvSpPr txBox="1">
            <a:spLocks noChangeArrowheads="1"/>
          </p:cNvSpPr>
          <p:nvPr/>
        </p:nvSpPr>
        <p:spPr>
          <a:xfrm>
            <a:off x="883920" y="2133600"/>
            <a:ext cx="1060704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Type &lt;IMG SRC = “image.ext”&gt;, where image.ext indicates the location of the image file</a:t>
            </a:r>
          </a:p>
          <a:p>
            <a:r>
              <a:rPr lang="en-US" altLang="en-US"/>
              <a:t>The WIDTH=n and HEIGHT=n attributes can be used to adjust the size of an image</a:t>
            </a:r>
          </a:p>
          <a:p>
            <a:r>
              <a:rPr lang="en-US" altLang="en-US"/>
              <a:t>The attribute BORDER=n can be used to add a border n pixels thick around the image</a:t>
            </a:r>
          </a:p>
        </p:txBody>
      </p:sp>
    </p:spTree>
    <p:extLst>
      <p:ext uri="{BB962C8B-B14F-4D97-AF65-F5344CB8AC3E}">
        <p14:creationId xmlns:p14="http://schemas.microsoft.com/office/powerpoint/2010/main" val="9348592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474AA-B8B1-7109-4128-DFF6DDF3A8B1}"/>
            </a:ext>
          </a:extLst>
        </p:cNvPr>
        <p:cNvGrpSpPr/>
        <p:nvPr/>
      </p:nvGrpSpPr>
      <p:grpSpPr>
        <a:xfrm>
          <a:off x="0" y="0"/>
          <a:ext cx="0" cy="0"/>
          <a:chOff x="0" y="0"/>
          <a:chExt cx="0" cy="0"/>
        </a:xfrm>
      </p:grpSpPr>
      <p:sp>
        <p:nvSpPr>
          <p:cNvPr id="2" name="Rectangle 2">
            <a:extLst>
              <a:ext uri="{FF2B5EF4-FFF2-40B4-BE49-F238E27FC236}">
                <a16:creationId xmlns:a16="http://schemas.microsoft.com/office/drawing/2014/main" id="{ECE20E85-5894-7E86-6DBA-E18995782634}"/>
              </a:ext>
            </a:extLst>
          </p:cNvPr>
          <p:cNvSpPr txBox="1">
            <a:spLocks noChangeArrowheads="1"/>
          </p:cNvSpPr>
          <p:nvPr/>
        </p:nvSpPr>
        <p:spPr>
          <a:xfrm>
            <a:off x="885763" y="623888"/>
            <a:ext cx="10604485"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dirty="0"/>
              <a:t>Inserting Video  </a:t>
            </a:r>
          </a:p>
        </p:txBody>
      </p:sp>
      <p:sp>
        <p:nvSpPr>
          <p:cNvPr id="3" name="Rectangle 3">
            <a:extLst>
              <a:ext uri="{FF2B5EF4-FFF2-40B4-BE49-F238E27FC236}">
                <a16:creationId xmlns:a16="http://schemas.microsoft.com/office/drawing/2014/main" id="{FCB76F3D-19A9-4304-A70E-86D146A91F61}"/>
              </a:ext>
            </a:extLst>
          </p:cNvPr>
          <p:cNvSpPr txBox="1">
            <a:spLocks noChangeArrowheads="1"/>
          </p:cNvSpPr>
          <p:nvPr/>
        </p:nvSpPr>
        <p:spPr>
          <a:xfrm>
            <a:off x="883920" y="2133600"/>
            <a:ext cx="1060704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altLang="en-US" dirty="0"/>
              <a:t>&lt;video width="640" height="360" controls&gt;</a:t>
            </a:r>
          </a:p>
          <a:p>
            <a:pPr marL="0" indent="0">
              <a:buNone/>
            </a:pPr>
            <a:r>
              <a:rPr lang="en-US" altLang="en-US" dirty="0"/>
              <a:t>    &lt;source </a:t>
            </a:r>
            <a:r>
              <a:rPr lang="en-US" altLang="en-US" dirty="0" err="1"/>
              <a:t>src</a:t>
            </a:r>
            <a:r>
              <a:rPr lang="en-US" altLang="en-US" dirty="0"/>
              <a:t>="video.mp4" type="video/mp4"&gt;</a:t>
            </a:r>
          </a:p>
          <a:p>
            <a:pPr marL="0" indent="0">
              <a:buNone/>
            </a:pPr>
            <a:r>
              <a:rPr lang="en-US" altLang="en-US" dirty="0"/>
              <a:t>    Your browser does not support the video tag.</a:t>
            </a:r>
          </a:p>
          <a:p>
            <a:pPr marL="0" indent="0">
              <a:buNone/>
            </a:pPr>
            <a:r>
              <a:rPr lang="en-US" altLang="en-US" dirty="0"/>
              <a:t>&lt;/video&gt;</a:t>
            </a:r>
          </a:p>
          <a:p>
            <a:pPr marL="0" indent="0">
              <a:buNone/>
            </a:pPr>
            <a:endParaRPr lang="en-US" altLang="en-US" dirty="0"/>
          </a:p>
        </p:txBody>
      </p:sp>
    </p:spTree>
    <p:extLst>
      <p:ext uri="{BB962C8B-B14F-4D97-AF65-F5344CB8AC3E}">
        <p14:creationId xmlns:p14="http://schemas.microsoft.com/office/powerpoint/2010/main" val="28607954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69B6A-A400-3380-4A1B-CC9ED91752CC}"/>
            </a:ext>
          </a:extLst>
        </p:cNvPr>
        <p:cNvGrpSpPr/>
        <p:nvPr/>
      </p:nvGrpSpPr>
      <p:grpSpPr>
        <a:xfrm>
          <a:off x="0" y="0"/>
          <a:ext cx="0" cy="0"/>
          <a:chOff x="0" y="0"/>
          <a:chExt cx="0" cy="0"/>
        </a:xfrm>
      </p:grpSpPr>
      <p:sp>
        <p:nvSpPr>
          <p:cNvPr id="2" name="Rectangle 2">
            <a:extLst>
              <a:ext uri="{FF2B5EF4-FFF2-40B4-BE49-F238E27FC236}">
                <a16:creationId xmlns:a16="http://schemas.microsoft.com/office/drawing/2014/main" id="{4E351E60-32DA-9568-1F44-F6ACF43906B9}"/>
              </a:ext>
            </a:extLst>
          </p:cNvPr>
          <p:cNvSpPr txBox="1">
            <a:spLocks noChangeArrowheads="1"/>
          </p:cNvSpPr>
          <p:nvPr/>
        </p:nvSpPr>
        <p:spPr>
          <a:xfrm>
            <a:off x="885763" y="623888"/>
            <a:ext cx="10604485"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dirty="0"/>
              <a:t>Inserting Audio  </a:t>
            </a:r>
          </a:p>
        </p:txBody>
      </p:sp>
      <p:sp>
        <p:nvSpPr>
          <p:cNvPr id="3" name="Rectangle 3">
            <a:extLst>
              <a:ext uri="{FF2B5EF4-FFF2-40B4-BE49-F238E27FC236}">
                <a16:creationId xmlns:a16="http://schemas.microsoft.com/office/drawing/2014/main" id="{58D05071-5E3D-02E3-5290-C9ECAD43CACA}"/>
              </a:ext>
            </a:extLst>
          </p:cNvPr>
          <p:cNvSpPr txBox="1">
            <a:spLocks noChangeArrowheads="1"/>
          </p:cNvSpPr>
          <p:nvPr/>
        </p:nvSpPr>
        <p:spPr>
          <a:xfrm>
            <a:off x="883920" y="2133600"/>
            <a:ext cx="1060704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altLang="en-US" dirty="0"/>
              <a:t>&lt;audio controls&gt;</a:t>
            </a:r>
          </a:p>
          <a:p>
            <a:pPr marL="0" indent="0">
              <a:buNone/>
            </a:pPr>
            <a:r>
              <a:rPr lang="en-US" altLang="en-US" dirty="0"/>
              <a:t>    &lt;source </a:t>
            </a:r>
            <a:r>
              <a:rPr lang="en-US" altLang="en-US" dirty="0" err="1"/>
              <a:t>src</a:t>
            </a:r>
            <a:r>
              <a:rPr lang="en-US" altLang="en-US" dirty="0"/>
              <a:t>="audio.mp3" type="audio/mpeg"&gt;</a:t>
            </a:r>
          </a:p>
          <a:p>
            <a:pPr marL="0" indent="0">
              <a:buNone/>
            </a:pPr>
            <a:r>
              <a:rPr lang="en-US" altLang="en-US" dirty="0"/>
              <a:t>    Your browser does not support the audio element.</a:t>
            </a:r>
          </a:p>
          <a:p>
            <a:pPr marL="0" indent="0">
              <a:buNone/>
            </a:pPr>
            <a:r>
              <a:rPr lang="en-US" altLang="en-US" dirty="0"/>
              <a:t>&lt;/audio&gt;</a:t>
            </a:r>
          </a:p>
        </p:txBody>
      </p:sp>
    </p:spTree>
    <p:extLst>
      <p:ext uri="{BB962C8B-B14F-4D97-AF65-F5344CB8AC3E}">
        <p14:creationId xmlns:p14="http://schemas.microsoft.com/office/powerpoint/2010/main" val="9029373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51180" y="2952115"/>
            <a:ext cx="5887085" cy="953135"/>
          </a:xfrm>
          <a:prstGeom prst="rect">
            <a:avLst/>
          </a:prstGeom>
          <a:noFill/>
          <a:ln/>
        </p:spPr>
        <p:txBody>
          <a:bodyPr wrap="square" lIns="91440" tIns="45720" rIns="91440" bIns="45720" rtlCol="0" anchor="t">
            <a:spAutoFit/>
          </a:bodyPr>
          <a:lstStyle/>
          <a:p>
            <a:pPr>
              <a:lnSpc>
                <a:spcPct val="100000"/>
              </a:lnSpc>
            </a:pPr>
            <a:r>
              <a:rPr lang="en-US" sz="2800" dirty="0">
                <a:solidFill>
                  <a:srgbClr val="000000"/>
                </a:solidFill>
                <a:latin typeface="Source Han Sans SC" pitchFamily="34" charset="0"/>
                <a:ea typeface="Source Han Sans SC" pitchFamily="34" charset="-122"/>
                <a:cs typeface="Source Han Sans SC" pitchFamily="34" charset="-120"/>
              </a:rPr>
              <a:t>Structured Data</a:t>
            </a:r>
            <a:endParaRPr lang="en-US" sz="1600" dirty="0"/>
          </a:p>
        </p:txBody>
      </p:sp>
      <p:sp>
        <p:nvSpPr>
          <p:cNvPr id="3" name="Shape 1"/>
          <p:cNvSpPr/>
          <p:nvPr/>
        </p:nvSpPr>
        <p:spPr>
          <a:xfrm>
            <a:off x="711202" y="786574"/>
            <a:ext cx="3434078" cy="0"/>
          </a:xfrm>
          <a:prstGeom prst="line">
            <a:avLst/>
          </a:prstGeom>
          <a:noFill/>
          <a:ln w="15875">
            <a:solidFill>
              <a:srgbClr val="000000"/>
            </a:solidFill>
            <a:prstDash val="solid"/>
            <a:headEnd type="none"/>
            <a:tailEnd type="none"/>
          </a:ln>
        </p:spPr>
      </p:sp>
      <p:pic>
        <p:nvPicPr>
          <p:cNvPr id="4" name="Image 0" descr="https://kimi-img.moonshot.cn/pub/slides/slides_tmpl/image/25-08-27-20:09:03-d2nfanp8bjvh7rlj0i40.jpg"/>
          <p:cNvPicPr>
            <a:picLocks noChangeAspect="1"/>
          </p:cNvPicPr>
          <p:nvPr/>
        </p:nvPicPr>
        <p:blipFill>
          <a:blip r:embed="rId3"/>
          <a:stretch>
            <a:fillRect/>
          </a:stretch>
        </p:blipFill>
        <p:spPr>
          <a:xfrm>
            <a:off x="8046721" y="1008555"/>
            <a:ext cx="3553129" cy="5196386"/>
          </a:xfrm>
          <a:prstGeom prst="rect">
            <a:avLst/>
          </a:prstGeom>
        </p:spPr>
      </p:pic>
      <p:pic>
        <p:nvPicPr>
          <p:cNvPr id="5" name="Image 1" descr="https://kimi-img.moonshot.cn/pub/slides/slides_tmpl/image/25-08-27-20:09:03-d2nfanp8bjvh7rlj0i3g.png"/>
          <p:cNvPicPr>
            <a:picLocks noChangeAspect="1"/>
          </p:cNvPicPr>
          <p:nvPr/>
        </p:nvPicPr>
        <p:blipFill>
          <a:blip r:embed="rId4"/>
          <a:srcRect r="60768" b="-4844"/>
          <a:stretch/>
        </p:blipFill>
        <p:spPr>
          <a:xfrm>
            <a:off x="551180" y="404495"/>
            <a:ext cx="4320336" cy="503981"/>
          </a:xfrm>
          <a:prstGeom prst="rect">
            <a:avLst/>
          </a:prstGeom>
        </p:spPr>
      </p:pic>
    </p:spTree>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https://kimi-img.moonshot.cn/pub/slides/slides_tmpl/image/25-08-27-20:09:16-d2nfar18bjvh7rlj0iu0.jpg"/>
          <p:cNvPicPr>
            <a:picLocks noChangeAspect="1"/>
          </p:cNvPicPr>
          <p:nvPr/>
        </p:nvPicPr>
        <p:blipFill>
          <a:blip r:embed="rId3"/>
          <a:srcRect/>
          <a:stretch/>
        </p:blipFill>
        <p:spPr>
          <a:xfrm>
            <a:off x="0" y="-1"/>
            <a:ext cx="12192000" cy="6858001"/>
          </a:xfrm>
          <a:prstGeom prst="rect">
            <a:avLst/>
          </a:prstGeom>
        </p:spPr>
      </p:pic>
      <p:sp>
        <p:nvSpPr>
          <p:cNvPr id="3" name="Shape 0"/>
          <p:cNvSpPr/>
          <p:nvPr/>
        </p:nvSpPr>
        <p:spPr>
          <a:xfrm>
            <a:off x="-24680" y="-27384"/>
            <a:ext cx="12232332" cy="6959798"/>
          </a:xfrm>
          <a:prstGeom prst="rect">
            <a:avLst/>
          </a:prstGeom>
          <a:solidFill>
            <a:srgbClr val="333F4F">
              <a:alpha val="47843"/>
            </a:srgbClr>
          </a:solidFill>
          <a:ln/>
        </p:spPr>
      </p:sp>
      <p:sp>
        <p:nvSpPr>
          <p:cNvPr id="4" name="Text 1"/>
          <p:cNvSpPr/>
          <p:nvPr/>
        </p:nvSpPr>
        <p:spPr>
          <a:xfrm>
            <a:off x="-24680" y="-27384"/>
            <a:ext cx="12232332" cy="6959798"/>
          </a:xfrm>
          <a:prstGeom prst="rect">
            <a:avLst/>
          </a:prstGeom>
          <a:noFill/>
          <a:ln/>
        </p:spPr>
        <p:txBody>
          <a:bodyPr wrap="square" lIns="45720" tIns="91440" rIns="91440" bIns="45720" rtlCol="0" anchor="ctr"/>
          <a:lstStyle/>
          <a:p>
            <a:pPr>
              <a:lnSpc>
                <a:spcPct val="100000"/>
              </a:lnSpc>
            </a:pPr>
            <a:endParaRPr lang="en-US" sz="1600" dirty="0"/>
          </a:p>
        </p:txBody>
      </p:sp>
      <p:pic>
        <p:nvPicPr>
          <p:cNvPr id="5" name="Image 1" descr="https://kimi-img.moonshot.cn/pub/slides/slides_tmpl/image/25-08-27-20:09:12-d2nfaq18bjvh7rlj0ing.png"/>
          <p:cNvPicPr>
            <a:picLocks noChangeAspect="1"/>
          </p:cNvPicPr>
          <p:nvPr/>
        </p:nvPicPr>
        <p:blipFill>
          <a:blip r:embed="rId4"/>
          <a:stretch>
            <a:fillRect/>
          </a:stretch>
        </p:blipFill>
        <p:spPr>
          <a:xfrm>
            <a:off x="0" y="4149080"/>
            <a:ext cx="12192000" cy="1561981"/>
          </a:xfrm>
          <a:prstGeom prst="rect">
            <a:avLst/>
          </a:prstGeom>
        </p:spPr>
      </p:pic>
      <p:sp>
        <p:nvSpPr>
          <p:cNvPr id="6" name="Shape 2"/>
          <p:cNvSpPr/>
          <p:nvPr/>
        </p:nvSpPr>
        <p:spPr>
          <a:xfrm rot="10800000">
            <a:off x="1948002" y="4932990"/>
            <a:ext cx="360039" cy="296210"/>
          </a:xfrm>
          <a:prstGeom prst="triangle">
            <a:avLst>
              <a:gd name="adj" fmla="val 50000"/>
            </a:avLst>
          </a:prstGeom>
          <a:solidFill>
            <a:srgbClr val="FFFFFF"/>
          </a:solidFill>
          <a:ln/>
        </p:spPr>
      </p:sp>
      <p:sp>
        <p:nvSpPr>
          <p:cNvPr id="7" name="Text 3"/>
          <p:cNvSpPr/>
          <p:nvPr/>
        </p:nvSpPr>
        <p:spPr>
          <a:xfrm rot="10800000">
            <a:off x="1948002" y="4932990"/>
            <a:ext cx="360039" cy="296210"/>
          </a:xfrm>
          <a:prstGeom prst="rect">
            <a:avLst/>
          </a:prstGeom>
          <a:noFill/>
          <a:ln/>
        </p:spPr>
        <p:txBody>
          <a:bodyPr wrap="square" lIns="45720" tIns="91440" rIns="91440" bIns="45720" rtlCol="0" anchor="ctr"/>
          <a:lstStyle/>
          <a:p>
            <a:pPr>
              <a:lnSpc>
                <a:spcPct val="100000"/>
              </a:lnSpc>
            </a:pPr>
            <a:endParaRPr lang="en-US" sz="1600" dirty="0"/>
          </a:p>
        </p:txBody>
      </p:sp>
      <p:sp>
        <p:nvSpPr>
          <p:cNvPr id="8" name="Shape 4"/>
          <p:cNvSpPr/>
          <p:nvPr/>
        </p:nvSpPr>
        <p:spPr>
          <a:xfrm>
            <a:off x="1948003" y="4767462"/>
            <a:ext cx="360039" cy="63731"/>
          </a:xfrm>
          <a:prstGeom prst="rect">
            <a:avLst/>
          </a:prstGeom>
          <a:solidFill>
            <a:srgbClr val="C2F5E0"/>
          </a:solidFill>
          <a:ln/>
        </p:spPr>
      </p:sp>
      <p:sp>
        <p:nvSpPr>
          <p:cNvPr id="9" name="Text 5"/>
          <p:cNvSpPr/>
          <p:nvPr/>
        </p:nvSpPr>
        <p:spPr>
          <a:xfrm>
            <a:off x="1948003" y="4767462"/>
            <a:ext cx="360039" cy="63731"/>
          </a:xfrm>
          <a:prstGeom prst="rect">
            <a:avLst/>
          </a:prstGeom>
          <a:noFill/>
          <a:ln/>
        </p:spPr>
        <p:txBody>
          <a:bodyPr wrap="square" lIns="45720" tIns="91440" rIns="91440" bIns="45720" rtlCol="0" anchor="ctr"/>
          <a:lstStyle/>
          <a:p>
            <a:pPr>
              <a:lnSpc>
                <a:spcPct val="100000"/>
              </a:lnSpc>
            </a:pPr>
            <a:endParaRPr lang="en-US" sz="1600" dirty="0"/>
          </a:p>
        </p:txBody>
      </p:sp>
      <p:sp>
        <p:nvSpPr>
          <p:cNvPr id="10" name="Shape 6"/>
          <p:cNvSpPr/>
          <p:nvPr/>
        </p:nvSpPr>
        <p:spPr>
          <a:xfrm rot="10800000">
            <a:off x="5928324" y="3759222"/>
            <a:ext cx="360039" cy="296210"/>
          </a:xfrm>
          <a:prstGeom prst="triangle">
            <a:avLst>
              <a:gd name="adj" fmla="val 50000"/>
            </a:avLst>
          </a:prstGeom>
          <a:solidFill>
            <a:srgbClr val="FFFFFF"/>
          </a:solidFill>
          <a:ln/>
        </p:spPr>
      </p:sp>
      <p:sp>
        <p:nvSpPr>
          <p:cNvPr id="11" name="Text 7"/>
          <p:cNvSpPr/>
          <p:nvPr/>
        </p:nvSpPr>
        <p:spPr>
          <a:xfrm rot="10800000">
            <a:off x="5928324" y="3759222"/>
            <a:ext cx="360039" cy="296210"/>
          </a:xfrm>
          <a:prstGeom prst="rect">
            <a:avLst/>
          </a:prstGeom>
          <a:noFill/>
          <a:ln/>
        </p:spPr>
        <p:txBody>
          <a:bodyPr wrap="square" lIns="45720" tIns="91440" rIns="91440" bIns="45720" rtlCol="0" anchor="ctr"/>
          <a:lstStyle/>
          <a:p>
            <a:pPr>
              <a:lnSpc>
                <a:spcPct val="100000"/>
              </a:lnSpc>
            </a:pPr>
            <a:endParaRPr lang="en-US" sz="1600" dirty="0"/>
          </a:p>
        </p:txBody>
      </p:sp>
      <p:sp>
        <p:nvSpPr>
          <p:cNvPr id="12" name="Shape 8"/>
          <p:cNvSpPr/>
          <p:nvPr/>
        </p:nvSpPr>
        <p:spPr>
          <a:xfrm>
            <a:off x="5928325" y="3593694"/>
            <a:ext cx="360039" cy="63731"/>
          </a:xfrm>
          <a:prstGeom prst="rect">
            <a:avLst/>
          </a:prstGeom>
          <a:solidFill>
            <a:srgbClr val="C2F5E0"/>
          </a:solidFill>
          <a:ln/>
        </p:spPr>
      </p:sp>
      <p:sp>
        <p:nvSpPr>
          <p:cNvPr id="13" name="Text 9"/>
          <p:cNvSpPr/>
          <p:nvPr/>
        </p:nvSpPr>
        <p:spPr>
          <a:xfrm>
            <a:off x="5928325" y="3593694"/>
            <a:ext cx="360039" cy="63731"/>
          </a:xfrm>
          <a:prstGeom prst="rect">
            <a:avLst/>
          </a:prstGeom>
          <a:noFill/>
          <a:ln/>
        </p:spPr>
        <p:txBody>
          <a:bodyPr wrap="square" lIns="45720" tIns="91440" rIns="91440" bIns="45720" rtlCol="0" anchor="ctr"/>
          <a:lstStyle/>
          <a:p>
            <a:pPr>
              <a:lnSpc>
                <a:spcPct val="100000"/>
              </a:lnSpc>
            </a:pPr>
            <a:endParaRPr lang="en-US" sz="1600" dirty="0"/>
          </a:p>
        </p:txBody>
      </p:sp>
      <p:sp>
        <p:nvSpPr>
          <p:cNvPr id="14" name="Shape 10"/>
          <p:cNvSpPr/>
          <p:nvPr/>
        </p:nvSpPr>
        <p:spPr>
          <a:xfrm rot="10800000">
            <a:off x="9908654" y="4386616"/>
            <a:ext cx="360039" cy="296210"/>
          </a:xfrm>
          <a:prstGeom prst="triangle">
            <a:avLst>
              <a:gd name="adj" fmla="val 50000"/>
            </a:avLst>
          </a:prstGeom>
          <a:solidFill>
            <a:srgbClr val="FFFFFF"/>
          </a:solidFill>
          <a:ln/>
        </p:spPr>
      </p:sp>
      <p:sp>
        <p:nvSpPr>
          <p:cNvPr id="15" name="Text 11"/>
          <p:cNvSpPr/>
          <p:nvPr/>
        </p:nvSpPr>
        <p:spPr>
          <a:xfrm rot="10800000">
            <a:off x="9908654" y="4386616"/>
            <a:ext cx="360039" cy="296210"/>
          </a:xfrm>
          <a:prstGeom prst="rect">
            <a:avLst/>
          </a:prstGeom>
          <a:noFill/>
          <a:ln/>
        </p:spPr>
        <p:txBody>
          <a:bodyPr wrap="square" lIns="45720" tIns="91440" rIns="91440" bIns="45720" rtlCol="0" anchor="ctr"/>
          <a:lstStyle/>
          <a:p>
            <a:pPr>
              <a:lnSpc>
                <a:spcPct val="100000"/>
              </a:lnSpc>
            </a:pPr>
            <a:endParaRPr lang="en-US" sz="1600" dirty="0"/>
          </a:p>
        </p:txBody>
      </p:sp>
      <p:sp>
        <p:nvSpPr>
          <p:cNvPr id="16" name="Shape 12"/>
          <p:cNvSpPr/>
          <p:nvPr/>
        </p:nvSpPr>
        <p:spPr>
          <a:xfrm>
            <a:off x="9908655" y="4221088"/>
            <a:ext cx="360039" cy="63731"/>
          </a:xfrm>
          <a:prstGeom prst="rect">
            <a:avLst/>
          </a:prstGeom>
          <a:solidFill>
            <a:srgbClr val="C2F5E0"/>
          </a:solidFill>
          <a:ln/>
        </p:spPr>
      </p:sp>
      <p:sp>
        <p:nvSpPr>
          <p:cNvPr id="17" name="Text 13"/>
          <p:cNvSpPr/>
          <p:nvPr/>
        </p:nvSpPr>
        <p:spPr>
          <a:xfrm>
            <a:off x="9908655" y="4221088"/>
            <a:ext cx="360039" cy="63731"/>
          </a:xfrm>
          <a:prstGeom prst="rect">
            <a:avLst/>
          </a:prstGeom>
          <a:noFill/>
          <a:ln/>
        </p:spPr>
        <p:txBody>
          <a:bodyPr wrap="square" lIns="45720" tIns="91440" rIns="91440" bIns="45720" rtlCol="0" anchor="ctr"/>
          <a:lstStyle/>
          <a:p>
            <a:pPr>
              <a:lnSpc>
                <a:spcPct val="100000"/>
              </a:lnSpc>
            </a:pPr>
            <a:endParaRPr lang="en-US" sz="1600" dirty="0"/>
          </a:p>
        </p:txBody>
      </p:sp>
      <p:sp>
        <p:nvSpPr>
          <p:cNvPr id="18" name="Text 14"/>
          <p:cNvSpPr/>
          <p:nvPr/>
        </p:nvSpPr>
        <p:spPr>
          <a:xfrm>
            <a:off x="1858496" y="5783053"/>
            <a:ext cx="8352928" cy="706755"/>
          </a:xfrm>
          <a:prstGeom prst="rect">
            <a:avLst/>
          </a:prstGeom>
          <a:noFill/>
          <a:ln/>
        </p:spPr>
        <p:txBody>
          <a:bodyPr wrap="square" lIns="91440" tIns="45720" rIns="91440" bIns="45720" rtlCol="0" anchor="t">
            <a:spAutoFit/>
          </a:bodyPr>
          <a:lstStyle/>
          <a:p>
            <a:pPr algn="ctr">
              <a:lnSpc>
                <a:spcPct val="100000"/>
              </a:lnSpc>
            </a:pPr>
            <a:r>
              <a:rPr lang="en-US" sz="4000" dirty="0">
                <a:solidFill>
                  <a:srgbClr val="FFFFFF"/>
                </a:solidFill>
                <a:latin typeface="Source Han Sans SC Medium" pitchFamily="34" charset="0"/>
                <a:ea typeface="Source Han Sans SC Medium" pitchFamily="34" charset="-122"/>
                <a:cs typeface="Source Han Sans SC Medium" pitchFamily="34" charset="-120"/>
              </a:rPr>
              <a:t>Building Tables</a:t>
            </a:r>
            <a:endParaRPr lang="en-US" sz="1600" dirty="0"/>
          </a:p>
        </p:txBody>
      </p:sp>
      <p:sp>
        <p:nvSpPr>
          <p:cNvPr id="19" name="Shape 15"/>
          <p:cNvSpPr/>
          <p:nvPr/>
        </p:nvSpPr>
        <p:spPr>
          <a:xfrm>
            <a:off x="5699956" y="5462750"/>
            <a:ext cx="792088" cy="53532"/>
          </a:xfrm>
          <a:prstGeom prst="rect">
            <a:avLst/>
          </a:prstGeom>
          <a:solidFill>
            <a:srgbClr val="FFFFFF"/>
          </a:solidFill>
          <a:ln/>
        </p:spPr>
      </p:sp>
      <p:sp>
        <p:nvSpPr>
          <p:cNvPr id="20" name="Text 16"/>
          <p:cNvSpPr/>
          <p:nvPr/>
        </p:nvSpPr>
        <p:spPr>
          <a:xfrm>
            <a:off x="5699956" y="5462750"/>
            <a:ext cx="792088" cy="53532"/>
          </a:xfrm>
          <a:prstGeom prst="rect">
            <a:avLst/>
          </a:prstGeom>
          <a:noFill/>
          <a:ln/>
        </p:spPr>
        <p:txBody>
          <a:bodyPr wrap="square" lIns="45720" tIns="91440" rIns="91440" bIns="45720" rtlCol="0" anchor="ctr"/>
          <a:lstStyle/>
          <a:p>
            <a:pPr>
              <a:lnSpc>
                <a:spcPct val="100000"/>
              </a:lnSpc>
            </a:pPr>
            <a:endParaRPr lang="en-US" sz="1600" dirty="0"/>
          </a:p>
        </p:txBody>
      </p:sp>
      <p:sp>
        <p:nvSpPr>
          <p:cNvPr id="21" name="Shape 17"/>
          <p:cNvSpPr/>
          <p:nvPr/>
        </p:nvSpPr>
        <p:spPr>
          <a:xfrm>
            <a:off x="4079776" y="1107270"/>
            <a:ext cx="0" cy="2740316"/>
          </a:xfrm>
          <a:prstGeom prst="straightConnector1">
            <a:avLst/>
          </a:prstGeom>
          <a:noFill/>
          <a:ln w="31750">
            <a:solidFill>
              <a:srgbClr val="C2F5E1">
                <a:alpha val="38824"/>
              </a:srgbClr>
            </a:solidFill>
            <a:prstDash val="solid"/>
            <a:headEnd type="none"/>
            <a:tailEnd type="triangle"/>
          </a:ln>
        </p:spPr>
      </p:sp>
      <p:sp>
        <p:nvSpPr>
          <p:cNvPr id="22" name="Shape 18"/>
          <p:cNvSpPr/>
          <p:nvPr/>
        </p:nvSpPr>
        <p:spPr>
          <a:xfrm>
            <a:off x="8060105" y="963760"/>
            <a:ext cx="0" cy="2740316"/>
          </a:xfrm>
          <a:prstGeom prst="straightConnector1">
            <a:avLst/>
          </a:prstGeom>
          <a:noFill/>
          <a:ln w="31750">
            <a:solidFill>
              <a:srgbClr val="C2F5E1">
                <a:alpha val="38824"/>
              </a:srgbClr>
            </a:solidFill>
            <a:prstDash val="solid"/>
            <a:headEnd type="none"/>
            <a:tailEnd type="triangle"/>
          </a:ln>
        </p:spPr>
      </p:sp>
      <p:pic>
        <p:nvPicPr>
          <p:cNvPr id="23" name="Image 2" descr="https://kimi-img.moonshot.cn/pub/slides/slides_tmpl/image/25-08-27-20:09:11-d2nfapp8bjvh7rlj0ilg.png"/>
          <p:cNvPicPr>
            <a:picLocks noChangeAspect="1"/>
          </p:cNvPicPr>
          <p:nvPr/>
        </p:nvPicPr>
        <p:blipFill>
          <a:blip r:embed="rId5"/>
          <a:stretch>
            <a:fillRect/>
          </a:stretch>
        </p:blipFill>
        <p:spPr>
          <a:xfrm>
            <a:off x="1784985" y="1536700"/>
            <a:ext cx="718185" cy="546100"/>
          </a:xfrm>
          <a:prstGeom prst="rect">
            <a:avLst/>
          </a:prstGeom>
        </p:spPr>
      </p:pic>
      <p:pic>
        <p:nvPicPr>
          <p:cNvPr id="24" name="Image 3" descr="https://kimi-img.moonshot.cn/pub/slides/slides_tmpl/image/25-08-27-20:09:11-d2nfapp8bjvh7rlj0im0.png"/>
          <p:cNvPicPr>
            <a:picLocks noChangeAspect="1"/>
          </p:cNvPicPr>
          <p:nvPr/>
        </p:nvPicPr>
        <p:blipFill>
          <a:blip r:embed="rId6"/>
          <a:stretch>
            <a:fillRect/>
          </a:stretch>
        </p:blipFill>
        <p:spPr>
          <a:xfrm>
            <a:off x="5716270" y="234950"/>
            <a:ext cx="764540" cy="581025"/>
          </a:xfrm>
          <a:prstGeom prst="rect">
            <a:avLst/>
          </a:prstGeom>
        </p:spPr>
      </p:pic>
      <p:pic>
        <p:nvPicPr>
          <p:cNvPr id="25" name="Image 4" descr="https://kimi-img.moonshot.cn/pub/slides/slides_tmpl/image/25-08-27-20:09:11-d2nfapp8bjvh7rlj0img.png"/>
          <p:cNvPicPr>
            <a:picLocks noChangeAspect="1"/>
          </p:cNvPicPr>
          <p:nvPr/>
        </p:nvPicPr>
        <p:blipFill>
          <a:blip r:embed="rId7"/>
          <a:stretch>
            <a:fillRect/>
          </a:stretch>
        </p:blipFill>
        <p:spPr>
          <a:xfrm>
            <a:off x="9665335" y="982980"/>
            <a:ext cx="717550" cy="545465"/>
          </a:xfrm>
          <a:prstGeom prst="rect">
            <a:avLst/>
          </a:prstGeom>
        </p:spPr>
      </p:pic>
      <p:sp>
        <p:nvSpPr>
          <p:cNvPr id="26" name="Text 19"/>
          <p:cNvSpPr/>
          <p:nvPr/>
        </p:nvSpPr>
        <p:spPr>
          <a:xfrm>
            <a:off x="354330" y="2011045"/>
            <a:ext cx="3538220" cy="398780"/>
          </a:xfrm>
          <a:prstGeom prst="rect">
            <a:avLst/>
          </a:prstGeom>
          <a:noFill/>
          <a:ln/>
        </p:spPr>
        <p:txBody>
          <a:bodyPr wrap="square" lIns="91440" tIns="45720" rIns="91440" bIns="45720" rtlCol="0" anchor="t">
            <a:spAutoFit/>
          </a:bodyPr>
          <a:lstStyle/>
          <a:p>
            <a:pPr algn="ctr">
              <a:lnSpc>
                <a:spcPct val="100000"/>
              </a:lnSpc>
            </a:pPr>
            <a:r>
              <a:rPr lang="en-US" sz="2000" dirty="0">
                <a:solidFill>
                  <a:srgbClr val="C2F5E1"/>
                </a:solidFill>
                <a:latin typeface="Source Han Sans SC" pitchFamily="34" charset="0"/>
                <a:ea typeface="Source Han Sans SC" pitchFamily="34" charset="-122"/>
                <a:cs typeface="Source Han Sans SC" pitchFamily="34" charset="-120"/>
              </a:rPr>
              <a:t>Table Structure</a:t>
            </a:r>
            <a:endParaRPr lang="en-US" sz="1600" dirty="0"/>
          </a:p>
        </p:txBody>
      </p:sp>
      <p:sp>
        <p:nvSpPr>
          <p:cNvPr id="27" name="Text 20"/>
          <p:cNvSpPr/>
          <p:nvPr/>
        </p:nvSpPr>
        <p:spPr>
          <a:xfrm>
            <a:off x="577850" y="2434590"/>
            <a:ext cx="3090545" cy="206121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Light" pitchFamily="34" charset="0"/>
                <a:ea typeface="Source Han Sans SC Light" pitchFamily="34" charset="-122"/>
                <a:cs typeface="Source Han Sans SC Light" pitchFamily="34" charset="-120"/>
              </a:rPr>
              <a:t>Tables are used to display tabular data. They consist of rows (&lt;tr&gt;), headers (&lt;th&gt;), and data cells (&lt;td&gt;). Properly structured tables make data easy to read.</a:t>
            </a:r>
            <a:endParaRPr lang="en-US" sz="1600" dirty="0"/>
          </a:p>
        </p:txBody>
      </p:sp>
      <p:sp>
        <p:nvSpPr>
          <p:cNvPr id="28" name="Text 21"/>
          <p:cNvSpPr/>
          <p:nvPr/>
        </p:nvSpPr>
        <p:spPr>
          <a:xfrm>
            <a:off x="4079875" y="765810"/>
            <a:ext cx="3979545" cy="398780"/>
          </a:xfrm>
          <a:prstGeom prst="rect">
            <a:avLst/>
          </a:prstGeom>
          <a:noFill/>
          <a:ln/>
        </p:spPr>
        <p:txBody>
          <a:bodyPr wrap="square" lIns="91440" tIns="45720" rIns="91440" bIns="45720" rtlCol="0" anchor="t">
            <a:spAutoFit/>
          </a:bodyPr>
          <a:lstStyle/>
          <a:p>
            <a:pPr algn="ctr">
              <a:lnSpc>
                <a:spcPct val="100000"/>
              </a:lnSpc>
            </a:pPr>
            <a:r>
              <a:rPr lang="en-US" sz="2000" dirty="0">
                <a:solidFill>
                  <a:srgbClr val="C2F5E1"/>
                </a:solidFill>
                <a:latin typeface="Source Han Sans SC" pitchFamily="34" charset="0"/>
                <a:ea typeface="Source Han Sans SC" pitchFamily="34" charset="-122"/>
                <a:cs typeface="Source Han Sans SC" pitchFamily="34" charset="-120"/>
              </a:rPr>
              <a:t>Creating a Table</a:t>
            </a:r>
            <a:endParaRPr lang="en-US" sz="1600" dirty="0"/>
          </a:p>
        </p:txBody>
      </p:sp>
      <p:sp>
        <p:nvSpPr>
          <p:cNvPr id="29" name="Text 22"/>
          <p:cNvSpPr/>
          <p:nvPr/>
        </p:nvSpPr>
        <p:spPr>
          <a:xfrm>
            <a:off x="4468495" y="1188720"/>
            <a:ext cx="3231515" cy="206121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Light" pitchFamily="34" charset="0"/>
                <a:ea typeface="Source Han Sans SC Light" pitchFamily="34" charset="-122"/>
                <a:cs typeface="Source Han Sans SC Light" pitchFamily="34" charset="-120"/>
              </a:rPr>
              <a:t>Start with the &lt;table&gt; tag. Add rows with &lt;tr&gt;, headers with &lt;th&gt; in the first row, and data cells with &lt;td&gt; in subsequent rows.</a:t>
            </a:r>
            <a:endParaRPr lang="en-US" sz="1600" dirty="0"/>
          </a:p>
        </p:txBody>
      </p:sp>
      <p:sp>
        <p:nvSpPr>
          <p:cNvPr id="30" name="Text 23"/>
          <p:cNvSpPr/>
          <p:nvPr/>
        </p:nvSpPr>
        <p:spPr>
          <a:xfrm>
            <a:off x="8275320" y="1451610"/>
            <a:ext cx="3448685" cy="398780"/>
          </a:xfrm>
          <a:prstGeom prst="rect">
            <a:avLst/>
          </a:prstGeom>
          <a:noFill/>
          <a:ln/>
        </p:spPr>
        <p:txBody>
          <a:bodyPr wrap="square" lIns="91440" tIns="45720" rIns="91440" bIns="45720" rtlCol="0" anchor="t">
            <a:spAutoFit/>
          </a:bodyPr>
          <a:lstStyle/>
          <a:p>
            <a:pPr algn="ctr">
              <a:lnSpc>
                <a:spcPct val="100000"/>
              </a:lnSpc>
            </a:pPr>
            <a:r>
              <a:rPr lang="en-US" sz="2000" dirty="0">
                <a:solidFill>
                  <a:srgbClr val="C2F5E1"/>
                </a:solidFill>
                <a:latin typeface="Source Han Sans SC" pitchFamily="34" charset="0"/>
                <a:ea typeface="Source Han Sans SC" pitchFamily="34" charset="-122"/>
                <a:cs typeface="Source Han Sans SC" pitchFamily="34" charset="-120"/>
              </a:rPr>
              <a:t>Tips for Tables</a:t>
            </a:r>
            <a:endParaRPr lang="en-US" sz="1600" dirty="0"/>
          </a:p>
        </p:txBody>
      </p:sp>
      <p:sp>
        <p:nvSpPr>
          <p:cNvPr id="31" name="Text 24"/>
          <p:cNvSpPr/>
          <p:nvPr/>
        </p:nvSpPr>
        <p:spPr>
          <a:xfrm>
            <a:off x="8431530" y="1874520"/>
            <a:ext cx="3185160" cy="206121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Light" pitchFamily="34" charset="0"/>
                <a:ea typeface="Source Han Sans SC Light" pitchFamily="34" charset="-122"/>
                <a:cs typeface="Source Han Sans SC Light" pitchFamily="34" charset="-120"/>
              </a:rPr>
              <a:t>Use the scope attribute in &lt;th&gt; tags to define whether a header is for a row or column. This improves accessibility and clarity.</a:t>
            </a:r>
            <a:endParaRPr lang="en-US" sz="1600" dirty="0"/>
          </a:p>
        </p:txBody>
      </p:sp>
    </p:spTree>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7BD5B5C9-55DA-6247-69E1-0B9F15EFC732}"/>
              </a:ext>
            </a:extLst>
          </p:cNvPr>
          <p:cNvSpPr txBox="1">
            <a:spLocks noChangeArrowheads="1"/>
          </p:cNvSpPr>
          <p:nvPr/>
        </p:nvSpPr>
        <p:spPr>
          <a:xfrm>
            <a:off x="834975" y="623888"/>
            <a:ext cx="10269286"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Tables</a:t>
            </a:r>
          </a:p>
        </p:txBody>
      </p:sp>
      <p:sp>
        <p:nvSpPr>
          <p:cNvPr id="3" name="Rectangle 3">
            <a:extLst>
              <a:ext uri="{FF2B5EF4-FFF2-40B4-BE49-F238E27FC236}">
                <a16:creationId xmlns:a16="http://schemas.microsoft.com/office/drawing/2014/main" id="{DA0255DA-EA01-B646-002A-761E2EA6AD56}"/>
              </a:ext>
            </a:extLst>
          </p:cNvPr>
          <p:cNvSpPr txBox="1">
            <a:spLocks noChangeArrowheads="1"/>
          </p:cNvSpPr>
          <p:nvPr/>
        </p:nvSpPr>
        <p:spPr>
          <a:xfrm>
            <a:off x="833120" y="2133600"/>
            <a:ext cx="1027176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Tables can be used to display rows and columns of data, create multi-column text, captions for images, and sidebars</a:t>
            </a:r>
          </a:p>
          <a:p>
            <a:r>
              <a:rPr lang="en-US" altLang="en-US"/>
              <a:t>The &lt;TABLE&gt; tag is used to create a table; the &lt;TR&gt; tag defines the beginning of a row while the &lt;TD&gt; tag defines the beginning of a cell</a:t>
            </a:r>
          </a:p>
        </p:txBody>
      </p:sp>
    </p:spTree>
    <p:extLst>
      <p:ext uri="{BB962C8B-B14F-4D97-AF65-F5344CB8AC3E}">
        <p14:creationId xmlns:p14="http://schemas.microsoft.com/office/powerpoint/2010/main" val="37203541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E90058B2-A363-2402-A705-A3C90185D0A4}"/>
              </a:ext>
            </a:extLst>
          </p:cNvPr>
          <p:cNvSpPr txBox="1">
            <a:spLocks noChangeArrowheads="1"/>
          </p:cNvSpPr>
          <p:nvPr/>
        </p:nvSpPr>
        <p:spPr>
          <a:xfrm>
            <a:off x="1139702" y="623888"/>
            <a:ext cx="10299758"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Adding a Border</a:t>
            </a:r>
          </a:p>
        </p:txBody>
      </p:sp>
      <p:sp>
        <p:nvSpPr>
          <p:cNvPr id="3" name="Rectangle 3">
            <a:extLst>
              <a:ext uri="{FF2B5EF4-FFF2-40B4-BE49-F238E27FC236}">
                <a16:creationId xmlns:a16="http://schemas.microsoft.com/office/drawing/2014/main" id="{B603FC96-0618-4516-B2E4-1D512B741654}"/>
              </a:ext>
            </a:extLst>
          </p:cNvPr>
          <p:cNvSpPr txBox="1">
            <a:spLocks noChangeArrowheads="1"/>
          </p:cNvSpPr>
          <p:nvPr/>
        </p:nvSpPr>
        <p:spPr>
          <a:xfrm>
            <a:off x="1137920" y="2133600"/>
            <a:ext cx="1030224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The BORDER=n attribute allows you to add a border n pixels thick around the table</a:t>
            </a:r>
          </a:p>
          <a:p>
            <a:r>
              <a:rPr lang="en-US" altLang="en-US"/>
              <a:t>To make a solid border color, use the BORDERCOLOR=“color” attribute</a:t>
            </a:r>
          </a:p>
          <a:p>
            <a:r>
              <a:rPr lang="en-US" altLang="en-US"/>
              <a:t>To make a shaded colored border, use BODERCOLORDARK=“color” and BORDERCOLORLIGHT=“color”</a:t>
            </a:r>
          </a:p>
          <a:p>
            <a:pPr>
              <a:lnSpc>
                <a:spcPct val="90000"/>
              </a:lnSpc>
            </a:pPr>
            <a:endParaRPr lang="en-US" altLang="en-US"/>
          </a:p>
        </p:txBody>
      </p:sp>
    </p:spTree>
    <p:extLst>
      <p:ext uri="{BB962C8B-B14F-4D97-AF65-F5344CB8AC3E}">
        <p14:creationId xmlns:p14="http://schemas.microsoft.com/office/powerpoint/2010/main" val="5206919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6">
            <a:extLst>
              <a:ext uri="{FF2B5EF4-FFF2-40B4-BE49-F238E27FC236}">
                <a16:creationId xmlns:a16="http://schemas.microsoft.com/office/drawing/2014/main" id="{8F8C748A-0A34-D875-FC8C-85CF63FE2428}"/>
              </a:ext>
            </a:extLst>
          </p:cNvPr>
          <p:cNvSpPr txBox="1">
            <a:spLocks noChangeArrowheads="1"/>
          </p:cNvSpPr>
          <p:nvPr/>
        </p:nvSpPr>
        <p:spPr>
          <a:xfrm>
            <a:off x="2889568" y="623888"/>
            <a:ext cx="6589712"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Creating Simple Table</a:t>
            </a:r>
          </a:p>
        </p:txBody>
      </p:sp>
      <p:sp>
        <p:nvSpPr>
          <p:cNvPr id="3" name="Rectangle 1027">
            <a:extLst>
              <a:ext uri="{FF2B5EF4-FFF2-40B4-BE49-F238E27FC236}">
                <a16:creationId xmlns:a16="http://schemas.microsoft.com/office/drawing/2014/main" id="{5D13F5CA-7401-A6A0-6B25-ECCF46E529F1}"/>
              </a:ext>
            </a:extLst>
          </p:cNvPr>
          <p:cNvSpPr txBox="1">
            <a:spLocks noChangeArrowheads="1"/>
          </p:cNvSpPr>
          <p:nvPr/>
        </p:nvSpPr>
        <p:spPr>
          <a:xfrm>
            <a:off x="2887980" y="2136775"/>
            <a:ext cx="3197225" cy="3767138"/>
          </a:xfrm>
          <a:prstGeom prst="rect">
            <a:avLst/>
          </a:prstGeom>
        </p:spPr>
        <p:txBody>
          <a:bodyPr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nSpc>
                <a:spcPct val="90000"/>
              </a:lnSpc>
              <a:buFontTx/>
              <a:buNone/>
              <a:defRPr/>
            </a:pPr>
            <a:r>
              <a:rPr lang="en-US" altLang="en-US" sz="2100">
                <a:solidFill>
                  <a:schemeClr val="tx1">
                    <a:lumMod val="75000"/>
                    <a:lumOff val="25000"/>
                  </a:schemeClr>
                </a:solidFill>
              </a:rPr>
              <a:t>&lt;TABLE BORDER=10&gt;</a:t>
            </a:r>
          </a:p>
          <a:p>
            <a:pPr>
              <a:lnSpc>
                <a:spcPct val="90000"/>
              </a:lnSpc>
              <a:buFontTx/>
              <a:buNone/>
              <a:defRPr/>
            </a:pPr>
            <a:r>
              <a:rPr lang="en-US" altLang="en-US" sz="2100">
                <a:solidFill>
                  <a:schemeClr val="tx1">
                    <a:lumMod val="75000"/>
                    <a:lumOff val="25000"/>
                  </a:schemeClr>
                </a:solidFill>
              </a:rPr>
              <a:t>	&lt;TR&gt;</a:t>
            </a:r>
          </a:p>
          <a:p>
            <a:pPr>
              <a:lnSpc>
                <a:spcPct val="90000"/>
              </a:lnSpc>
              <a:buFontTx/>
              <a:buNone/>
              <a:defRPr/>
            </a:pPr>
            <a:r>
              <a:rPr lang="en-US" altLang="en-US" sz="2100">
                <a:solidFill>
                  <a:schemeClr val="tx1">
                    <a:lumMod val="75000"/>
                    <a:lumOff val="25000"/>
                  </a:schemeClr>
                </a:solidFill>
              </a:rPr>
              <a:t>		&lt;TD&gt;One&lt;/TD&gt;</a:t>
            </a:r>
          </a:p>
          <a:p>
            <a:pPr>
              <a:lnSpc>
                <a:spcPct val="90000"/>
              </a:lnSpc>
              <a:buFontTx/>
              <a:buNone/>
              <a:defRPr/>
            </a:pPr>
            <a:r>
              <a:rPr lang="en-US" altLang="en-US" sz="2100">
                <a:solidFill>
                  <a:schemeClr val="tx1">
                    <a:lumMod val="75000"/>
                    <a:lumOff val="25000"/>
                  </a:schemeClr>
                </a:solidFill>
              </a:rPr>
              <a:t>		&lt;TD&gt;Two&lt;/TD&gt;</a:t>
            </a:r>
          </a:p>
          <a:p>
            <a:pPr>
              <a:lnSpc>
                <a:spcPct val="90000"/>
              </a:lnSpc>
              <a:buFontTx/>
              <a:buNone/>
              <a:defRPr/>
            </a:pPr>
            <a:r>
              <a:rPr lang="en-US" altLang="en-US" sz="2100">
                <a:solidFill>
                  <a:schemeClr val="tx1">
                    <a:lumMod val="75000"/>
                    <a:lumOff val="25000"/>
                  </a:schemeClr>
                </a:solidFill>
              </a:rPr>
              <a:t>	&lt;/TR&gt;</a:t>
            </a:r>
          </a:p>
          <a:p>
            <a:pPr>
              <a:lnSpc>
                <a:spcPct val="90000"/>
              </a:lnSpc>
              <a:buFontTx/>
              <a:buNone/>
              <a:defRPr/>
            </a:pPr>
            <a:r>
              <a:rPr lang="en-US" altLang="en-US" sz="2100">
                <a:solidFill>
                  <a:schemeClr val="tx1">
                    <a:lumMod val="75000"/>
                    <a:lumOff val="25000"/>
                  </a:schemeClr>
                </a:solidFill>
              </a:rPr>
              <a:t>	&lt;TR&gt;</a:t>
            </a:r>
          </a:p>
          <a:p>
            <a:pPr>
              <a:lnSpc>
                <a:spcPct val="90000"/>
              </a:lnSpc>
              <a:buFontTx/>
              <a:buNone/>
              <a:defRPr/>
            </a:pPr>
            <a:r>
              <a:rPr lang="en-US" altLang="en-US" sz="2100">
                <a:solidFill>
                  <a:schemeClr val="tx1">
                    <a:lumMod val="75000"/>
                    <a:lumOff val="25000"/>
                  </a:schemeClr>
                </a:solidFill>
              </a:rPr>
              <a:t>		&lt;TD&gt;Three&lt;/TD&gt;</a:t>
            </a:r>
          </a:p>
          <a:p>
            <a:pPr>
              <a:lnSpc>
                <a:spcPct val="90000"/>
              </a:lnSpc>
              <a:buFontTx/>
              <a:buNone/>
              <a:defRPr/>
            </a:pPr>
            <a:r>
              <a:rPr lang="en-US" altLang="en-US" sz="2100">
                <a:solidFill>
                  <a:schemeClr val="tx1">
                    <a:lumMod val="75000"/>
                    <a:lumOff val="25000"/>
                  </a:schemeClr>
                </a:solidFill>
              </a:rPr>
              <a:t>		&lt;TD&gt;Four&lt;/TD&gt;</a:t>
            </a:r>
          </a:p>
          <a:p>
            <a:pPr>
              <a:lnSpc>
                <a:spcPct val="90000"/>
              </a:lnSpc>
              <a:buFontTx/>
              <a:buNone/>
              <a:defRPr/>
            </a:pPr>
            <a:r>
              <a:rPr lang="en-US" altLang="en-US" sz="2100">
                <a:solidFill>
                  <a:schemeClr val="tx1">
                    <a:lumMod val="75000"/>
                    <a:lumOff val="25000"/>
                  </a:schemeClr>
                </a:solidFill>
              </a:rPr>
              <a:t>	&lt;/TR&gt;</a:t>
            </a:r>
          </a:p>
          <a:p>
            <a:pPr>
              <a:lnSpc>
                <a:spcPct val="90000"/>
              </a:lnSpc>
              <a:buFontTx/>
              <a:buNone/>
              <a:defRPr/>
            </a:pPr>
            <a:r>
              <a:rPr lang="en-US" altLang="en-US" sz="2100">
                <a:solidFill>
                  <a:schemeClr val="tx1">
                    <a:lumMod val="75000"/>
                    <a:lumOff val="25000"/>
                  </a:schemeClr>
                </a:solidFill>
              </a:rPr>
              <a:t>&lt;/TABLE&gt;</a:t>
            </a:r>
            <a:endParaRPr lang="en-US" altLang="en-US" sz="2400" i="1">
              <a:solidFill>
                <a:schemeClr val="tx1">
                  <a:lumMod val="75000"/>
                  <a:lumOff val="25000"/>
                </a:schemeClr>
              </a:solidFill>
            </a:endParaRPr>
          </a:p>
          <a:p>
            <a:pPr>
              <a:lnSpc>
                <a:spcPct val="90000"/>
              </a:lnSpc>
              <a:buFont typeface="Wingdings 3" charset="2"/>
              <a:buChar char=""/>
              <a:defRPr/>
            </a:pPr>
            <a:endParaRPr lang="en-US" altLang="en-US" sz="2400">
              <a:solidFill>
                <a:schemeClr val="tx1">
                  <a:lumMod val="75000"/>
                  <a:lumOff val="25000"/>
                </a:schemeClr>
              </a:solidFill>
            </a:endParaRPr>
          </a:p>
        </p:txBody>
      </p:sp>
      <p:sp>
        <p:nvSpPr>
          <p:cNvPr id="4" name="Rectangle 1028">
            <a:extLst>
              <a:ext uri="{FF2B5EF4-FFF2-40B4-BE49-F238E27FC236}">
                <a16:creationId xmlns:a16="http://schemas.microsoft.com/office/drawing/2014/main" id="{1EE92208-C96D-B32A-21F3-C3E6FD7B7550}"/>
              </a:ext>
            </a:extLst>
          </p:cNvPr>
          <p:cNvSpPr txBox="1">
            <a:spLocks noChangeArrowheads="1"/>
          </p:cNvSpPr>
          <p:nvPr/>
        </p:nvSpPr>
        <p:spPr>
          <a:xfrm>
            <a:off x="6282055" y="2136775"/>
            <a:ext cx="3197225" cy="3767138"/>
          </a:xfrm>
          <a:prstGeom prst="rect">
            <a:avLst/>
          </a:prstGeom>
        </p:spPr>
        <p:txBody>
          <a:bodyPr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 typeface="Wingdings 3" charset="2"/>
              <a:buChar char=""/>
              <a:defRPr/>
            </a:pPr>
            <a:r>
              <a:rPr lang="en-US" altLang="en-US" sz="2800">
                <a:solidFill>
                  <a:schemeClr val="tx1">
                    <a:lumMod val="75000"/>
                    <a:lumOff val="25000"/>
                  </a:schemeClr>
                </a:solidFill>
              </a:rPr>
              <a:t>Here’s how it would look on the Web:</a:t>
            </a:r>
          </a:p>
          <a:p>
            <a:pPr>
              <a:buFont typeface="Wingdings 3" charset="2"/>
              <a:buChar char=""/>
              <a:defRPr/>
            </a:pPr>
            <a:endParaRPr lang="en-US" altLang="en-US" sz="2800">
              <a:solidFill>
                <a:schemeClr val="tx1">
                  <a:lumMod val="75000"/>
                  <a:lumOff val="25000"/>
                </a:schemeClr>
              </a:solidFill>
            </a:endParaRPr>
          </a:p>
        </p:txBody>
      </p:sp>
      <p:pic>
        <p:nvPicPr>
          <p:cNvPr id="5" name="Picture 1029">
            <a:extLst>
              <a:ext uri="{FF2B5EF4-FFF2-40B4-BE49-F238E27FC236}">
                <a16:creationId xmlns:a16="http://schemas.microsoft.com/office/drawing/2014/main" id="{EAFEECC9-AEB6-952A-9F18-B989F1D3EC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09080" y="4020344"/>
            <a:ext cx="1981200" cy="1231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25628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5948D576-728C-9D1D-6565-37C926A02AA4}"/>
              </a:ext>
            </a:extLst>
          </p:cNvPr>
          <p:cNvSpPr txBox="1">
            <a:spLocks noChangeArrowheads="1"/>
          </p:cNvSpPr>
          <p:nvPr/>
        </p:nvSpPr>
        <p:spPr>
          <a:xfrm>
            <a:off x="987339" y="623888"/>
            <a:ext cx="10594327"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Adjusting the Width</a:t>
            </a:r>
          </a:p>
        </p:txBody>
      </p:sp>
      <p:sp>
        <p:nvSpPr>
          <p:cNvPr id="3" name="Rectangle 3">
            <a:extLst>
              <a:ext uri="{FF2B5EF4-FFF2-40B4-BE49-F238E27FC236}">
                <a16:creationId xmlns:a16="http://schemas.microsoft.com/office/drawing/2014/main" id="{43C27988-FC03-D9FE-090C-33FF619A94E9}"/>
              </a:ext>
            </a:extLst>
          </p:cNvPr>
          <p:cNvSpPr txBox="1">
            <a:spLocks noChangeArrowheads="1"/>
          </p:cNvSpPr>
          <p:nvPr/>
        </p:nvSpPr>
        <p:spPr>
          <a:xfrm>
            <a:off x="985520" y="2133600"/>
            <a:ext cx="1059688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nSpc>
                <a:spcPct val="90000"/>
              </a:lnSpc>
            </a:pPr>
            <a:r>
              <a:rPr lang="en-US" altLang="en-US"/>
              <a:t>When a Web browser displays a table, it often adds extra space. To eliminate this space use the WIDTH =n attribute in the &lt;TABLE&gt; and &lt;TD&gt; tags</a:t>
            </a:r>
          </a:p>
          <a:p>
            <a:r>
              <a:rPr lang="en-US" altLang="en-US"/>
              <a:t>Keep in mind - a cell cannot be smaller than its contents, and if you make a table wider than the browser window, users will not be able to see parts of it.</a:t>
            </a:r>
          </a:p>
        </p:txBody>
      </p:sp>
    </p:spTree>
    <p:extLst>
      <p:ext uri="{BB962C8B-B14F-4D97-AF65-F5344CB8AC3E}">
        <p14:creationId xmlns:p14="http://schemas.microsoft.com/office/powerpoint/2010/main" val="23018180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0E7FF2D7-2155-A1F4-7107-45CB3F446482}"/>
              </a:ext>
            </a:extLst>
          </p:cNvPr>
          <p:cNvSpPr txBox="1">
            <a:spLocks noChangeArrowheads="1"/>
          </p:cNvSpPr>
          <p:nvPr/>
        </p:nvSpPr>
        <p:spPr>
          <a:xfrm>
            <a:off x="834975" y="623888"/>
            <a:ext cx="10360704"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Centering a Table</a:t>
            </a:r>
          </a:p>
        </p:txBody>
      </p:sp>
      <p:sp>
        <p:nvSpPr>
          <p:cNvPr id="3" name="Rectangle 3">
            <a:extLst>
              <a:ext uri="{FF2B5EF4-FFF2-40B4-BE49-F238E27FC236}">
                <a16:creationId xmlns:a16="http://schemas.microsoft.com/office/drawing/2014/main" id="{7E2A1030-8E1E-63B5-6071-399E577245DF}"/>
              </a:ext>
            </a:extLst>
          </p:cNvPr>
          <p:cNvSpPr txBox="1">
            <a:spLocks noChangeArrowheads="1"/>
          </p:cNvSpPr>
          <p:nvPr/>
        </p:nvSpPr>
        <p:spPr>
          <a:xfrm>
            <a:off x="833120" y="2133600"/>
            <a:ext cx="1036320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There are two ways to center a table</a:t>
            </a:r>
          </a:p>
          <a:p>
            <a:pPr lvl="1"/>
            <a:r>
              <a:rPr lang="en-US" altLang="en-US"/>
              <a:t> Type &lt;TABLE ALIGN=CENTER&gt; </a:t>
            </a:r>
          </a:p>
          <a:p>
            <a:pPr lvl="1"/>
            <a:r>
              <a:rPr lang="en-US" altLang="en-US"/>
              <a:t>Enclose the &lt;TABLE&gt; tags in opening and closing &lt;CENTER&gt; tags</a:t>
            </a:r>
          </a:p>
        </p:txBody>
      </p:sp>
    </p:spTree>
    <p:extLst>
      <p:ext uri="{BB962C8B-B14F-4D97-AF65-F5344CB8AC3E}">
        <p14:creationId xmlns:p14="http://schemas.microsoft.com/office/powerpoint/2010/main" val="28263594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83CDFB38-5514-8916-BB6F-E11C9419564A}"/>
              </a:ext>
            </a:extLst>
          </p:cNvPr>
          <p:cNvSpPr txBox="1">
            <a:spLocks noChangeArrowheads="1"/>
          </p:cNvSpPr>
          <p:nvPr/>
        </p:nvSpPr>
        <p:spPr>
          <a:xfrm>
            <a:off x="1302223" y="623888"/>
            <a:ext cx="10086449"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Wrapping Text around a Table</a:t>
            </a:r>
          </a:p>
        </p:txBody>
      </p:sp>
      <p:sp>
        <p:nvSpPr>
          <p:cNvPr id="3" name="Rectangle 3">
            <a:extLst>
              <a:ext uri="{FF2B5EF4-FFF2-40B4-BE49-F238E27FC236}">
                <a16:creationId xmlns:a16="http://schemas.microsoft.com/office/drawing/2014/main" id="{225FE197-504B-E35E-EF55-19828F12026B}"/>
              </a:ext>
            </a:extLst>
          </p:cNvPr>
          <p:cNvSpPr txBox="1">
            <a:spLocks noChangeArrowheads="1"/>
          </p:cNvSpPr>
          <p:nvPr/>
        </p:nvSpPr>
        <p:spPr>
          <a:xfrm>
            <a:off x="1300480" y="2133600"/>
            <a:ext cx="10088880" cy="3778250"/>
          </a:xfrm>
          <a:prstGeom prst="rect">
            <a:avLst/>
          </a:prstGeom>
        </p:spPr>
        <p:txBody>
          <a:bodyPr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 typeface="Wingdings 3" charset="2"/>
              <a:buChar char=""/>
              <a:defRPr/>
            </a:pPr>
            <a:r>
              <a:rPr lang="en-US" altLang="en-US" sz="2800">
                <a:solidFill>
                  <a:schemeClr val="tx1">
                    <a:lumMod val="75000"/>
                    <a:lumOff val="25000"/>
                  </a:schemeClr>
                </a:solidFill>
              </a:rPr>
              <a:t>It is possible to wrap text around a table. This technique is often used to keep images and captions together within an article.</a:t>
            </a:r>
          </a:p>
          <a:p>
            <a:pPr>
              <a:buFont typeface="Wingdings 3" charset="2"/>
              <a:buChar char=""/>
              <a:defRPr/>
            </a:pPr>
            <a:r>
              <a:rPr lang="en-US" altLang="en-US" sz="2800">
                <a:solidFill>
                  <a:schemeClr val="tx1">
                    <a:lumMod val="75000"/>
                    <a:lumOff val="25000"/>
                  </a:schemeClr>
                </a:solidFill>
              </a:rPr>
              <a:t>To wrap text around a table, type &lt;TABLE ALIGN = LEFT&gt; to align the table to the left while the text flows to the right.</a:t>
            </a:r>
          </a:p>
          <a:p>
            <a:pPr>
              <a:buFont typeface="Wingdings 3" charset="2"/>
              <a:buChar char=""/>
              <a:defRPr/>
            </a:pPr>
            <a:r>
              <a:rPr lang="en-US" altLang="en-US" sz="2800">
                <a:solidFill>
                  <a:schemeClr val="tx1">
                    <a:lumMod val="75000"/>
                    <a:lumOff val="25000"/>
                  </a:schemeClr>
                </a:solidFill>
              </a:rPr>
              <a:t>Create the table using the &lt;TR&gt;, &lt;TD&gt;, and &lt;/TABLE&gt; tags as you normally would</a:t>
            </a:r>
          </a:p>
        </p:txBody>
      </p:sp>
    </p:spTree>
    <p:extLst>
      <p:ext uri="{BB962C8B-B14F-4D97-AF65-F5344CB8AC3E}">
        <p14:creationId xmlns:p14="http://schemas.microsoft.com/office/powerpoint/2010/main" val="33402157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50752A34-9BBA-28CA-F80A-EA1C60F08386}"/>
              </a:ext>
            </a:extLst>
          </p:cNvPr>
          <p:cNvSpPr txBox="1">
            <a:spLocks noChangeArrowheads="1"/>
          </p:cNvSpPr>
          <p:nvPr/>
        </p:nvSpPr>
        <p:spPr>
          <a:xfrm>
            <a:off x="1944688" y="623888"/>
            <a:ext cx="9403354"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Adding Space around a Table</a:t>
            </a:r>
          </a:p>
        </p:txBody>
      </p:sp>
      <p:sp>
        <p:nvSpPr>
          <p:cNvPr id="3" name="Rectangle 3">
            <a:extLst>
              <a:ext uri="{FF2B5EF4-FFF2-40B4-BE49-F238E27FC236}">
                <a16:creationId xmlns:a16="http://schemas.microsoft.com/office/drawing/2014/main" id="{3D933D94-5850-0206-3673-31E06787B10B}"/>
              </a:ext>
            </a:extLst>
          </p:cNvPr>
          <p:cNvSpPr txBox="1">
            <a:spLocks noChangeArrowheads="1"/>
          </p:cNvSpPr>
          <p:nvPr/>
        </p:nvSpPr>
        <p:spPr>
          <a:xfrm>
            <a:off x="1943100" y="2133600"/>
            <a:ext cx="940562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To add space around a table, use the HSPACE=n and VSPACE=n attributes in the &lt;TABLE&gt; tag</a:t>
            </a:r>
          </a:p>
          <a:p>
            <a:r>
              <a:rPr lang="en-US" altLang="en-US"/>
              <a:t>Example:</a:t>
            </a:r>
          </a:p>
          <a:p>
            <a:pPr lvl="1">
              <a:buFontTx/>
              <a:buChar char=" "/>
            </a:pPr>
            <a:r>
              <a:rPr lang="en-US" altLang="en-US"/>
              <a:t>&lt;TABLE HSPACE=20 VSPACE=20&gt;</a:t>
            </a:r>
          </a:p>
        </p:txBody>
      </p:sp>
    </p:spTree>
    <p:extLst>
      <p:ext uri="{BB962C8B-B14F-4D97-AF65-F5344CB8AC3E}">
        <p14:creationId xmlns:p14="http://schemas.microsoft.com/office/powerpoint/2010/main" val="34369352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7E013F88-0ED1-4858-7A3B-E7047CAC1D49}"/>
              </a:ext>
            </a:extLst>
          </p:cNvPr>
          <p:cNvSpPr txBox="1">
            <a:spLocks noChangeArrowheads="1"/>
          </p:cNvSpPr>
          <p:nvPr/>
        </p:nvSpPr>
        <p:spPr>
          <a:xfrm>
            <a:off x="743557" y="623888"/>
            <a:ext cx="10695903"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Spanning Cells Across Columns </a:t>
            </a:r>
          </a:p>
        </p:txBody>
      </p:sp>
      <p:sp>
        <p:nvSpPr>
          <p:cNvPr id="3" name="Rectangle 3">
            <a:extLst>
              <a:ext uri="{FF2B5EF4-FFF2-40B4-BE49-F238E27FC236}">
                <a16:creationId xmlns:a16="http://schemas.microsoft.com/office/drawing/2014/main" id="{CB514D51-92C3-46D7-72AC-F5FB24EEE1DD}"/>
              </a:ext>
            </a:extLst>
          </p:cNvPr>
          <p:cNvSpPr txBox="1">
            <a:spLocks noChangeArrowheads="1"/>
          </p:cNvSpPr>
          <p:nvPr/>
        </p:nvSpPr>
        <p:spPr>
          <a:xfrm>
            <a:off x="741680" y="2133600"/>
            <a:ext cx="1069848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It is often necessary to span one cell across many columns. For example, you would use this technique to span a headline across the columns of a newspaper article. </a:t>
            </a:r>
          </a:p>
          <a:p>
            <a:r>
              <a:rPr lang="en-US" altLang="en-US"/>
              <a:t>To span a cell across many columns, type &lt;TD COLSPAN=n&gt;, where n is the number of columns to be spanned</a:t>
            </a:r>
          </a:p>
        </p:txBody>
      </p:sp>
    </p:spTree>
    <p:extLst>
      <p:ext uri="{BB962C8B-B14F-4D97-AF65-F5344CB8AC3E}">
        <p14:creationId xmlns:p14="http://schemas.microsoft.com/office/powerpoint/2010/main" val="353363057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3F45C133-C8F0-D885-26FF-E2DAF443AD64}"/>
              </a:ext>
            </a:extLst>
          </p:cNvPr>
          <p:cNvSpPr txBox="1">
            <a:spLocks noChangeArrowheads="1"/>
          </p:cNvSpPr>
          <p:nvPr/>
        </p:nvSpPr>
        <p:spPr>
          <a:xfrm>
            <a:off x="895921" y="623888"/>
            <a:ext cx="10441963"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Spanning Cells Across Rows</a:t>
            </a:r>
          </a:p>
        </p:txBody>
      </p:sp>
      <p:sp>
        <p:nvSpPr>
          <p:cNvPr id="3" name="Rectangle 3">
            <a:extLst>
              <a:ext uri="{FF2B5EF4-FFF2-40B4-BE49-F238E27FC236}">
                <a16:creationId xmlns:a16="http://schemas.microsoft.com/office/drawing/2014/main" id="{3B8BE999-3F49-4593-32E0-08489D10659D}"/>
              </a:ext>
            </a:extLst>
          </p:cNvPr>
          <p:cNvSpPr txBox="1">
            <a:spLocks noChangeArrowheads="1"/>
          </p:cNvSpPr>
          <p:nvPr/>
        </p:nvSpPr>
        <p:spPr>
          <a:xfrm>
            <a:off x="894080" y="2133600"/>
            <a:ext cx="1044448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To span a cell across many rows, type &lt;TD ROWSPAN=n&gt;, where n is the number of rows</a:t>
            </a:r>
          </a:p>
        </p:txBody>
      </p:sp>
    </p:spTree>
    <p:extLst>
      <p:ext uri="{BB962C8B-B14F-4D97-AF65-F5344CB8AC3E}">
        <p14:creationId xmlns:p14="http://schemas.microsoft.com/office/powerpoint/2010/main" val="10340434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2FF0DA69-EE03-35B0-E84E-764062EDC09D}"/>
              </a:ext>
            </a:extLst>
          </p:cNvPr>
          <p:cNvSpPr txBox="1">
            <a:spLocks noChangeArrowheads="1"/>
          </p:cNvSpPr>
          <p:nvPr/>
        </p:nvSpPr>
        <p:spPr>
          <a:xfrm>
            <a:off x="824817" y="623888"/>
            <a:ext cx="10736533"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Aligning Cell Content</a:t>
            </a:r>
          </a:p>
        </p:txBody>
      </p:sp>
      <p:sp>
        <p:nvSpPr>
          <p:cNvPr id="3" name="Rectangle 3">
            <a:extLst>
              <a:ext uri="{FF2B5EF4-FFF2-40B4-BE49-F238E27FC236}">
                <a16:creationId xmlns:a16="http://schemas.microsoft.com/office/drawing/2014/main" id="{2C88F12E-4DDA-A26D-1779-904529A13324}"/>
              </a:ext>
            </a:extLst>
          </p:cNvPr>
          <p:cNvSpPr txBox="1">
            <a:spLocks noChangeArrowheads="1"/>
          </p:cNvSpPr>
          <p:nvPr/>
        </p:nvSpPr>
        <p:spPr>
          <a:xfrm>
            <a:off x="822960" y="2133600"/>
            <a:ext cx="1073912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By default, a cell’s content are aligned horizontally to the left and and vertically in the middle.</a:t>
            </a:r>
          </a:p>
          <a:p>
            <a:r>
              <a:rPr lang="en-US" altLang="en-US"/>
              <a:t>Use VALIGN=direction to change the vertical alignment, where “direction” is top, middle, bottom, or baseline </a:t>
            </a:r>
          </a:p>
          <a:p>
            <a:r>
              <a:rPr lang="en-US" altLang="en-US"/>
              <a:t>Use ALIGN=direction to change the horizontal alignment where “direction” is left, center, or right</a:t>
            </a:r>
          </a:p>
        </p:txBody>
      </p:sp>
    </p:spTree>
    <p:extLst>
      <p:ext uri="{BB962C8B-B14F-4D97-AF65-F5344CB8AC3E}">
        <p14:creationId xmlns:p14="http://schemas.microsoft.com/office/powerpoint/2010/main" val="39486971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47AF32FC-AB7F-4297-3848-963F17AD78E7}"/>
              </a:ext>
            </a:extLst>
          </p:cNvPr>
          <p:cNvSpPr txBox="1">
            <a:spLocks noChangeArrowheads="1"/>
          </p:cNvSpPr>
          <p:nvPr/>
        </p:nvSpPr>
        <p:spPr>
          <a:xfrm>
            <a:off x="1170175" y="623888"/>
            <a:ext cx="10188025"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Controlling Cell Spacing</a:t>
            </a:r>
          </a:p>
        </p:txBody>
      </p:sp>
      <p:sp>
        <p:nvSpPr>
          <p:cNvPr id="3" name="Rectangle 3">
            <a:extLst>
              <a:ext uri="{FF2B5EF4-FFF2-40B4-BE49-F238E27FC236}">
                <a16:creationId xmlns:a16="http://schemas.microsoft.com/office/drawing/2014/main" id="{EA0E1838-E84B-742E-1B25-2F7A41B7C0EC}"/>
              </a:ext>
            </a:extLst>
          </p:cNvPr>
          <p:cNvSpPr txBox="1">
            <a:spLocks noChangeArrowheads="1"/>
          </p:cNvSpPr>
          <p:nvPr/>
        </p:nvSpPr>
        <p:spPr>
          <a:xfrm>
            <a:off x="1168400" y="2133600"/>
            <a:ext cx="1019048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Cell spacing is the space </a:t>
            </a:r>
            <a:r>
              <a:rPr lang="en-US" altLang="en-US" i="1"/>
              <a:t>between</a:t>
            </a:r>
            <a:r>
              <a:rPr lang="en-US" altLang="en-US"/>
              <a:t> cells while cell padding is the space </a:t>
            </a:r>
            <a:r>
              <a:rPr lang="en-US" altLang="en-US" i="1"/>
              <a:t>around</a:t>
            </a:r>
            <a:r>
              <a:rPr lang="en-US" altLang="en-US"/>
              <a:t> the contents of a cell</a:t>
            </a:r>
          </a:p>
          <a:p>
            <a:r>
              <a:rPr lang="en-US" altLang="en-US"/>
              <a:t>To control both types of spacing, use the CELLSPACING =n and CELLPADDING=n attributes in the &lt;TABLE&gt; tag</a:t>
            </a:r>
          </a:p>
        </p:txBody>
      </p:sp>
    </p:spTree>
    <p:extLst>
      <p:ext uri="{BB962C8B-B14F-4D97-AF65-F5344CB8AC3E}">
        <p14:creationId xmlns:p14="http://schemas.microsoft.com/office/powerpoint/2010/main" val="17666534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flip="none" rotWithShape="1">
            <a:gsLst>
              <a:gs pos="0">
                <a:srgbClr val="2F5596"/>
              </a:gs>
              <a:gs pos="56000">
                <a:srgbClr val="7095BC"/>
              </a:gs>
              <a:gs pos="91000">
                <a:srgbClr val="B0D5E1"/>
              </a:gs>
              <a:gs pos="100000">
                <a:srgbClr val="C2F5E1"/>
              </a:gs>
            </a:gsLst>
            <a:lin ang="4800000" scaled="1"/>
          </a:gradFill>
          <a:ln w="12700">
            <a:solidFill>
              <a:srgbClr val="09111E"/>
            </a:solidFill>
            <a:prstDash val="solid"/>
          </a:ln>
        </p:spPr>
      </p:sp>
      <p:sp>
        <p:nvSpPr>
          <p:cNvPr id="3" name="Text 1"/>
          <p:cNvSpPr/>
          <p:nvPr/>
        </p:nvSpPr>
        <p:spPr>
          <a:xfrm>
            <a:off x="0" y="0"/>
            <a:ext cx="12192000" cy="6858000"/>
          </a:xfrm>
          <a:prstGeom prst="rect">
            <a:avLst/>
          </a:prstGeom>
          <a:noFill/>
          <a:ln/>
        </p:spPr>
        <p:txBody>
          <a:bodyPr wrap="square" lIns="45720" tIns="91440" rIns="91440" bIns="45720" rtlCol="0" anchor="ctr"/>
          <a:lstStyle/>
          <a:p>
            <a:pPr>
              <a:lnSpc>
                <a:spcPct val="100000"/>
              </a:lnSpc>
            </a:pPr>
            <a:endParaRPr lang="en-US" sz="1600" dirty="0"/>
          </a:p>
        </p:txBody>
      </p:sp>
      <p:pic>
        <p:nvPicPr>
          <p:cNvPr id="4" name="Image 0" descr="https://kimi-img.moonshot.cn/pub/slides/slides_tmpl/image/25-08-27-20:09:12-d2nfaq18bjvh7rlj0iqg.png"/>
          <p:cNvPicPr>
            <a:picLocks noChangeAspect="1"/>
          </p:cNvPicPr>
          <p:nvPr/>
        </p:nvPicPr>
        <p:blipFill>
          <a:blip r:embed="rId3">
            <a:alphaModFix amt="76000"/>
          </a:blip>
          <a:srcRect/>
          <a:stretch/>
        </p:blipFill>
        <p:spPr>
          <a:xfrm>
            <a:off x="3454805" y="1700726"/>
            <a:ext cx="5953563" cy="5157274"/>
          </a:xfrm>
          <a:prstGeom prst="rect">
            <a:avLst/>
          </a:prstGeom>
        </p:spPr>
      </p:pic>
      <p:sp>
        <p:nvSpPr>
          <p:cNvPr id="5" name="Text 2"/>
          <p:cNvSpPr/>
          <p:nvPr/>
        </p:nvSpPr>
        <p:spPr>
          <a:xfrm>
            <a:off x="592149" y="749211"/>
            <a:ext cx="6208735" cy="800219"/>
          </a:xfrm>
          <a:prstGeom prst="rect">
            <a:avLst/>
          </a:prstGeom>
          <a:noFill/>
          <a:ln/>
        </p:spPr>
        <p:txBody>
          <a:bodyPr wrap="square" lIns="91440" tIns="45720" rIns="91440" bIns="45720" rtlCol="0" anchor="t">
            <a:spAutoFit/>
          </a:bodyPr>
          <a:lstStyle/>
          <a:p>
            <a:pPr>
              <a:lnSpc>
                <a:spcPct val="100000"/>
              </a:lnSpc>
            </a:pPr>
            <a:r>
              <a:rPr lang="en-US" sz="2800" b="1" dirty="0">
                <a:solidFill>
                  <a:srgbClr val="FFFFFF"/>
                </a:solidFill>
                <a:latin typeface="Source Han Sans SC" pitchFamily="34" charset="0"/>
                <a:ea typeface="Source Han Sans SC" pitchFamily="34" charset="-122"/>
                <a:cs typeface="Source Han Sans SC" pitchFamily="34" charset="-120"/>
              </a:rPr>
              <a:t>Creating Forms</a:t>
            </a:r>
            <a:endParaRPr lang="en-US" sz="1600" dirty="0"/>
          </a:p>
        </p:txBody>
      </p:sp>
      <p:pic>
        <p:nvPicPr>
          <p:cNvPr id="6" name="Image 1" descr="https://kimi-img.moonshot.cn/pub/slides/slides_tmpl/image/25-08-27-20:09:12-d2nfaq18bjvh7rlj0iog.png"/>
          <p:cNvPicPr>
            <a:picLocks noChangeAspect="1"/>
          </p:cNvPicPr>
          <p:nvPr/>
        </p:nvPicPr>
        <p:blipFill>
          <a:blip r:embed="rId4"/>
          <a:stretch>
            <a:fillRect/>
          </a:stretch>
        </p:blipFill>
        <p:spPr>
          <a:xfrm>
            <a:off x="695019" y="1413090"/>
            <a:ext cx="6731000" cy="2819400"/>
          </a:xfrm>
          <a:prstGeom prst="rect">
            <a:avLst/>
          </a:prstGeom>
        </p:spPr>
      </p:pic>
      <p:sp>
        <p:nvSpPr>
          <p:cNvPr id="7" name="Shape 3"/>
          <p:cNvSpPr/>
          <p:nvPr/>
        </p:nvSpPr>
        <p:spPr>
          <a:xfrm>
            <a:off x="5807968" y="3573775"/>
            <a:ext cx="504056" cy="0"/>
          </a:xfrm>
          <a:prstGeom prst="straightConnector1">
            <a:avLst/>
          </a:prstGeom>
          <a:noFill/>
          <a:ln w="15875">
            <a:solidFill>
              <a:srgbClr val="FFFFFF"/>
            </a:solidFill>
            <a:prstDash val="solid"/>
            <a:headEnd type="none"/>
            <a:tailEnd type="triangle"/>
          </a:ln>
        </p:spPr>
      </p:sp>
      <p:sp>
        <p:nvSpPr>
          <p:cNvPr id="8" name="Text 4"/>
          <p:cNvSpPr/>
          <p:nvPr/>
        </p:nvSpPr>
        <p:spPr>
          <a:xfrm>
            <a:off x="617425" y="2116403"/>
            <a:ext cx="4783771" cy="368300"/>
          </a:xfrm>
          <a:prstGeom prst="rect">
            <a:avLst/>
          </a:prstGeom>
          <a:noFill/>
          <a:ln/>
        </p:spPr>
        <p:txBody>
          <a:bodyPr wrap="square" lIns="91440" tIns="45720" rIns="91440" bIns="45720" rtlCol="0" anchor="t">
            <a:spAutoFit/>
          </a:bodyPr>
          <a:lstStyle/>
          <a:p>
            <a:pPr>
              <a:lnSpc>
                <a:spcPct val="100000"/>
              </a:lnSpc>
            </a:pPr>
            <a:r>
              <a:rPr lang="en-US" sz="1800" dirty="0">
                <a:solidFill>
                  <a:srgbClr val="FFFFFF"/>
                </a:solidFill>
                <a:latin typeface="Source Han Sans SC" pitchFamily="34" charset="0"/>
                <a:ea typeface="Source Han Sans SC" pitchFamily="34" charset="-122"/>
                <a:cs typeface="Source Han Sans SC" pitchFamily="34" charset="-120"/>
              </a:rPr>
              <a:t>Form Basics</a:t>
            </a:r>
            <a:endParaRPr lang="en-US" sz="1600" dirty="0"/>
          </a:p>
        </p:txBody>
      </p:sp>
      <p:sp>
        <p:nvSpPr>
          <p:cNvPr id="9" name="Text 5"/>
          <p:cNvSpPr/>
          <p:nvPr/>
        </p:nvSpPr>
        <p:spPr>
          <a:xfrm>
            <a:off x="630249" y="2454957"/>
            <a:ext cx="5177719"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Normal" pitchFamily="34" charset="0"/>
                <a:ea typeface="Source Han Sans SC Normal" pitchFamily="34" charset="-122"/>
                <a:cs typeface="Source Han Sans SC Normal" pitchFamily="34" charset="-120"/>
              </a:rPr>
              <a:t>Forms are used to collect user input. Use the &lt;form&gt; tag to create a form. Inside, you can add various input fields.</a:t>
            </a:r>
            <a:endParaRPr lang="en-US" sz="1600" dirty="0"/>
          </a:p>
        </p:txBody>
      </p:sp>
      <p:sp>
        <p:nvSpPr>
          <p:cNvPr id="10" name="Text 6"/>
          <p:cNvSpPr/>
          <p:nvPr/>
        </p:nvSpPr>
        <p:spPr>
          <a:xfrm>
            <a:off x="617425" y="4288103"/>
            <a:ext cx="4783771" cy="368300"/>
          </a:xfrm>
          <a:prstGeom prst="rect">
            <a:avLst/>
          </a:prstGeom>
          <a:noFill/>
          <a:ln/>
        </p:spPr>
        <p:txBody>
          <a:bodyPr wrap="square" lIns="91440" tIns="45720" rIns="91440" bIns="45720" rtlCol="0" anchor="t">
            <a:spAutoFit/>
          </a:bodyPr>
          <a:lstStyle/>
          <a:p>
            <a:pPr>
              <a:lnSpc>
                <a:spcPct val="100000"/>
              </a:lnSpc>
            </a:pPr>
            <a:r>
              <a:rPr lang="en-US" sz="1800" dirty="0">
                <a:solidFill>
                  <a:srgbClr val="FFFFFF"/>
                </a:solidFill>
                <a:latin typeface="Source Han Sans SC" pitchFamily="34" charset="0"/>
                <a:ea typeface="Source Han Sans SC" pitchFamily="34" charset="-122"/>
                <a:cs typeface="Source Han Sans SC" pitchFamily="34" charset="-120"/>
              </a:rPr>
              <a:t>Input Types</a:t>
            </a:r>
            <a:endParaRPr lang="en-US" sz="1600" dirty="0"/>
          </a:p>
        </p:txBody>
      </p:sp>
      <p:sp>
        <p:nvSpPr>
          <p:cNvPr id="11" name="Text 7"/>
          <p:cNvSpPr/>
          <p:nvPr/>
        </p:nvSpPr>
        <p:spPr>
          <a:xfrm>
            <a:off x="630249" y="4626657"/>
            <a:ext cx="5177719"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Normal" pitchFamily="34" charset="0"/>
                <a:ea typeface="Source Han Sans SC Normal" pitchFamily="34" charset="-122"/>
                <a:cs typeface="Source Han Sans SC Normal" pitchFamily="34" charset="-120"/>
              </a:rPr>
              <a:t>Use &lt;input type='text'&gt; for text input, &lt;input type='email'&gt; for email addresses, and &lt;input type='submit'&gt; to create a submit button.</a:t>
            </a:r>
            <a:endParaRPr lang="en-US" sz="1600" dirty="0"/>
          </a:p>
        </p:txBody>
      </p:sp>
      <p:sp>
        <p:nvSpPr>
          <p:cNvPr id="12" name="Text 8"/>
          <p:cNvSpPr/>
          <p:nvPr/>
        </p:nvSpPr>
        <p:spPr>
          <a:xfrm>
            <a:off x="6522925" y="1900503"/>
            <a:ext cx="4783771" cy="368300"/>
          </a:xfrm>
          <a:prstGeom prst="rect">
            <a:avLst/>
          </a:prstGeom>
          <a:noFill/>
          <a:ln/>
        </p:spPr>
        <p:txBody>
          <a:bodyPr wrap="square" lIns="91440" tIns="45720" rIns="91440" bIns="45720" rtlCol="0" anchor="t">
            <a:spAutoFit/>
          </a:bodyPr>
          <a:lstStyle/>
          <a:p>
            <a:pPr>
              <a:lnSpc>
                <a:spcPct val="100000"/>
              </a:lnSpc>
            </a:pPr>
            <a:r>
              <a:rPr lang="en-US" sz="1800" dirty="0">
                <a:solidFill>
                  <a:srgbClr val="FFFFFF"/>
                </a:solidFill>
                <a:latin typeface="Source Han Sans SC" pitchFamily="34" charset="0"/>
                <a:ea typeface="Source Han Sans SC" pitchFamily="34" charset="-122"/>
                <a:cs typeface="Source Han Sans SC" pitchFamily="34" charset="-120"/>
              </a:rPr>
              <a:t>Labels and Textareas</a:t>
            </a:r>
            <a:endParaRPr lang="en-US" sz="1600" dirty="0"/>
          </a:p>
        </p:txBody>
      </p:sp>
      <p:sp>
        <p:nvSpPr>
          <p:cNvPr id="13" name="Text 9"/>
          <p:cNvSpPr/>
          <p:nvPr/>
        </p:nvSpPr>
        <p:spPr>
          <a:xfrm>
            <a:off x="6535749" y="2239057"/>
            <a:ext cx="5177719"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Normal" pitchFamily="34" charset="0"/>
                <a:ea typeface="Source Han Sans SC Normal" pitchFamily="34" charset="-122"/>
                <a:cs typeface="Source Han Sans SC Normal" pitchFamily="34" charset="-120"/>
              </a:rPr>
              <a:t>Pair each input with a &lt;label&gt; for better accessibility. Use &lt;textarea&gt; for multi-line text input, such as comments or messages.</a:t>
            </a:r>
            <a:endParaRPr lang="en-US" sz="1600" dirty="0"/>
          </a:p>
        </p:txBody>
      </p:sp>
      <p:sp>
        <p:nvSpPr>
          <p:cNvPr id="14" name="Text 10"/>
          <p:cNvSpPr/>
          <p:nvPr/>
        </p:nvSpPr>
        <p:spPr>
          <a:xfrm>
            <a:off x="6561025" y="4288103"/>
            <a:ext cx="4783771" cy="368300"/>
          </a:xfrm>
          <a:prstGeom prst="rect">
            <a:avLst/>
          </a:prstGeom>
          <a:noFill/>
          <a:ln/>
        </p:spPr>
        <p:txBody>
          <a:bodyPr wrap="square" lIns="91440" tIns="45720" rIns="91440" bIns="45720" rtlCol="0" anchor="t">
            <a:spAutoFit/>
          </a:bodyPr>
          <a:lstStyle/>
          <a:p>
            <a:pPr>
              <a:lnSpc>
                <a:spcPct val="100000"/>
              </a:lnSpc>
            </a:pPr>
            <a:r>
              <a:rPr lang="en-US" sz="1800" dirty="0">
                <a:solidFill>
                  <a:srgbClr val="FFFFFF"/>
                </a:solidFill>
                <a:latin typeface="Source Han Sans SC" pitchFamily="34" charset="0"/>
                <a:ea typeface="Source Han Sans SC" pitchFamily="34" charset="-122"/>
                <a:cs typeface="Source Han Sans SC" pitchFamily="34" charset="-120"/>
              </a:rPr>
              <a:t>Dropdowns</a:t>
            </a:r>
            <a:endParaRPr lang="en-US" sz="1600" dirty="0"/>
          </a:p>
        </p:txBody>
      </p:sp>
      <p:sp>
        <p:nvSpPr>
          <p:cNvPr id="15" name="Text 11"/>
          <p:cNvSpPr/>
          <p:nvPr/>
        </p:nvSpPr>
        <p:spPr>
          <a:xfrm>
            <a:off x="6573849" y="4626657"/>
            <a:ext cx="5177719" cy="1322070"/>
          </a:xfrm>
          <a:prstGeom prst="rect">
            <a:avLst/>
          </a:prstGeom>
          <a:noFill/>
          <a:ln/>
        </p:spPr>
        <p:txBody>
          <a:bodyPr wrap="square" lIns="91440" tIns="45720" rIns="91440" bIns="45720" rtlCol="0" anchor="t">
            <a:spAutoFit/>
          </a:bodyPr>
          <a:lstStyle/>
          <a:p>
            <a:pPr>
              <a:lnSpc>
                <a:spcPct val="100000"/>
              </a:lnSpc>
            </a:pPr>
            <a:r>
              <a:rPr lang="en-US" sz="1600" dirty="0">
                <a:solidFill>
                  <a:srgbClr val="FFFFFF"/>
                </a:solidFill>
                <a:latin typeface="Source Han Sans SC Normal" pitchFamily="34" charset="0"/>
                <a:ea typeface="Source Han Sans SC Normal" pitchFamily="34" charset="-122"/>
                <a:cs typeface="Source Han Sans SC Normal" pitchFamily="34" charset="-120"/>
              </a:rPr>
              <a:t>Create dropdown menus with the &lt;select&gt; tag. Each option is defined with the &lt;option&gt; tag. This is useful for selecting from a list of items.</a:t>
            </a:r>
            <a:endParaRPr lang="en-US" sz="1600" dirty="0"/>
          </a:p>
        </p:txBody>
      </p:sp>
    </p:spTree>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D92DD64B-55A0-233E-C1B4-6E78EC506761}"/>
              </a:ext>
            </a:extLst>
          </p:cNvPr>
          <p:cNvSpPr txBox="1">
            <a:spLocks noChangeArrowheads="1"/>
          </p:cNvSpPr>
          <p:nvPr/>
        </p:nvSpPr>
        <p:spPr>
          <a:xfrm>
            <a:off x="1007654" y="623888"/>
            <a:ext cx="10248970"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Forms</a:t>
            </a:r>
          </a:p>
        </p:txBody>
      </p:sp>
      <p:sp>
        <p:nvSpPr>
          <p:cNvPr id="3" name="Rectangle 3">
            <a:extLst>
              <a:ext uri="{FF2B5EF4-FFF2-40B4-BE49-F238E27FC236}">
                <a16:creationId xmlns:a16="http://schemas.microsoft.com/office/drawing/2014/main" id="{E20AE333-53F7-1725-6852-D17F48FA6ECB}"/>
              </a:ext>
            </a:extLst>
          </p:cNvPr>
          <p:cNvSpPr txBox="1">
            <a:spLocks noChangeArrowheads="1"/>
          </p:cNvSpPr>
          <p:nvPr/>
        </p:nvSpPr>
        <p:spPr>
          <a:xfrm>
            <a:off x="1005840" y="2133600"/>
            <a:ext cx="1025144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There are two basic components of a Web form: the shell, the part that the user fills out, and the script which processes the information</a:t>
            </a:r>
          </a:p>
          <a:p>
            <a:r>
              <a:rPr lang="en-US" altLang="en-US"/>
              <a:t>HTML tags are used to create the form shell. Using HTML you can create text boxes, radio buttons, checkboxes, drop-down menus, and more... </a:t>
            </a:r>
          </a:p>
        </p:txBody>
      </p:sp>
    </p:spTree>
    <p:extLst>
      <p:ext uri="{BB962C8B-B14F-4D97-AF65-F5344CB8AC3E}">
        <p14:creationId xmlns:p14="http://schemas.microsoft.com/office/powerpoint/2010/main" val="29045861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6">
            <a:extLst>
              <a:ext uri="{FF2B5EF4-FFF2-40B4-BE49-F238E27FC236}">
                <a16:creationId xmlns:a16="http://schemas.microsoft.com/office/drawing/2014/main" id="{B2DE1529-C6E5-AFF1-C983-23EE278FBA66}"/>
              </a:ext>
            </a:extLst>
          </p:cNvPr>
          <p:cNvSpPr txBox="1">
            <a:spLocks noChangeArrowheads="1"/>
          </p:cNvSpPr>
          <p:nvPr/>
        </p:nvSpPr>
        <p:spPr>
          <a:xfrm>
            <a:off x="3580448" y="481648"/>
            <a:ext cx="6589712"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Example: Form </a:t>
            </a:r>
          </a:p>
        </p:txBody>
      </p:sp>
      <p:pic>
        <p:nvPicPr>
          <p:cNvPr id="3" name="Picture 1029">
            <a:extLst>
              <a:ext uri="{FF2B5EF4-FFF2-40B4-BE49-F238E27FC236}">
                <a16:creationId xmlns:a16="http://schemas.microsoft.com/office/drawing/2014/main" id="{A2EFCAC2-6B8D-E9DE-41C8-1153BF9E3F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21560" y="1762760"/>
            <a:ext cx="4114800" cy="4254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Line 1032">
            <a:extLst>
              <a:ext uri="{FF2B5EF4-FFF2-40B4-BE49-F238E27FC236}">
                <a16:creationId xmlns:a16="http://schemas.microsoft.com/office/drawing/2014/main" id="{6B497950-CD1E-9744-AC19-1CDDAB728177}"/>
              </a:ext>
            </a:extLst>
          </p:cNvPr>
          <p:cNvSpPr>
            <a:spLocks noChangeShapeType="1"/>
          </p:cNvSpPr>
          <p:nvPr/>
        </p:nvSpPr>
        <p:spPr bwMode="auto">
          <a:xfrm flipH="1">
            <a:off x="4378960" y="1991360"/>
            <a:ext cx="160020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
        <p:nvSpPr>
          <p:cNvPr id="5" name="Text Box 1033">
            <a:extLst>
              <a:ext uri="{FF2B5EF4-FFF2-40B4-BE49-F238E27FC236}">
                <a16:creationId xmlns:a16="http://schemas.microsoft.com/office/drawing/2014/main" id="{D8631DB8-CCBF-E8BC-8817-907FD4536FB2}"/>
              </a:ext>
            </a:extLst>
          </p:cNvPr>
          <p:cNvSpPr txBox="1">
            <a:spLocks noChangeArrowheads="1"/>
          </p:cNvSpPr>
          <p:nvPr/>
        </p:nvSpPr>
        <p:spPr bwMode="auto">
          <a:xfrm>
            <a:off x="5963285" y="1746885"/>
            <a:ext cx="13255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entury Gothic" panose="020B0502020202020204" pitchFamily="34" charset="0"/>
              </a:defRPr>
            </a:lvl1pPr>
            <a:lvl2pPr marL="742950" indent="-285750">
              <a:defRPr>
                <a:solidFill>
                  <a:schemeClr val="tx1"/>
                </a:solidFill>
                <a:latin typeface="Century Gothic" panose="020B0502020202020204" pitchFamily="34" charset="0"/>
              </a:defRPr>
            </a:lvl2pPr>
            <a:lvl3pPr marL="1143000" indent="-228600">
              <a:defRPr>
                <a:solidFill>
                  <a:schemeClr val="tx1"/>
                </a:solidFill>
                <a:latin typeface="Century Gothic" panose="020B0502020202020204" pitchFamily="34" charset="0"/>
              </a:defRPr>
            </a:lvl3pPr>
            <a:lvl4pPr marL="1600200" indent="-228600">
              <a:defRPr>
                <a:solidFill>
                  <a:schemeClr val="tx1"/>
                </a:solidFill>
                <a:latin typeface="Century Gothic" panose="020B0502020202020204" pitchFamily="34" charset="0"/>
              </a:defRPr>
            </a:lvl4pPr>
            <a:lvl5pPr marL="2057400" indent="-228600">
              <a:defRPr>
                <a:solidFill>
                  <a:schemeClr val="tx1"/>
                </a:solidFill>
                <a:latin typeface="Century Gothic" panose="020B0502020202020204" pitchFamily="34" charset="0"/>
              </a:defRPr>
            </a:lvl5pPr>
            <a:lvl6pPr marL="2514600" indent="-228600" defTabSz="457200" fontAlgn="base">
              <a:spcBef>
                <a:spcPct val="0"/>
              </a:spcBef>
              <a:spcAft>
                <a:spcPct val="0"/>
              </a:spcAft>
              <a:defRPr>
                <a:solidFill>
                  <a:schemeClr val="tx1"/>
                </a:solidFill>
                <a:latin typeface="Century Gothic" panose="020B0502020202020204" pitchFamily="34" charset="0"/>
              </a:defRPr>
            </a:lvl6pPr>
            <a:lvl7pPr marL="2971800" indent="-228600" defTabSz="457200" fontAlgn="base">
              <a:spcBef>
                <a:spcPct val="0"/>
              </a:spcBef>
              <a:spcAft>
                <a:spcPct val="0"/>
              </a:spcAft>
              <a:defRPr>
                <a:solidFill>
                  <a:schemeClr val="tx1"/>
                </a:solidFill>
                <a:latin typeface="Century Gothic" panose="020B0502020202020204" pitchFamily="34" charset="0"/>
              </a:defRPr>
            </a:lvl7pPr>
            <a:lvl8pPr marL="3429000" indent="-228600" defTabSz="457200" fontAlgn="base">
              <a:spcBef>
                <a:spcPct val="0"/>
              </a:spcBef>
              <a:spcAft>
                <a:spcPct val="0"/>
              </a:spcAft>
              <a:defRPr>
                <a:solidFill>
                  <a:schemeClr val="tx1"/>
                </a:solidFill>
                <a:latin typeface="Century Gothic" panose="020B0502020202020204" pitchFamily="34" charset="0"/>
              </a:defRPr>
            </a:lvl8pPr>
            <a:lvl9pPr marL="3886200" indent="-228600" defTabSz="457200" fontAlgn="base">
              <a:spcBef>
                <a:spcPct val="0"/>
              </a:spcBef>
              <a:spcAft>
                <a:spcPct val="0"/>
              </a:spcAft>
              <a:defRPr>
                <a:solidFill>
                  <a:schemeClr val="tx1"/>
                </a:solidFill>
                <a:latin typeface="Century Gothic" panose="020B0502020202020204" pitchFamily="34" charset="0"/>
              </a:defRPr>
            </a:lvl9pPr>
          </a:lstStyle>
          <a:p>
            <a:pPr eaLnBrk="1" hangingPunct="1"/>
            <a:r>
              <a:rPr lang="en-US" altLang="en-US"/>
              <a:t>Text Box</a:t>
            </a:r>
          </a:p>
        </p:txBody>
      </p:sp>
      <p:sp>
        <p:nvSpPr>
          <p:cNvPr id="6" name="Line 1035">
            <a:extLst>
              <a:ext uri="{FF2B5EF4-FFF2-40B4-BE49-F238E27FC236}">
                <a16:creationId xmlns:a16="http://schemas.microsoft.com/office/drawing/2014/main" id="{1A8E73A7-51A7-FBE3-4C79-C8C51BC9DA42}"/>
              </a:ext>
            </a:extLst>
          </p:cNvPr>
          <p:cNvSpPr>
            <a:spLocks noChangeShapeType="1"/>
          </p:cNvSpPr>
          <p:nvPr/>
        </p:nvSpPr>
        <p:spPr bwMode="auto">
          <a:xfrm flipH="1">
            <a:off x="4683760" y="2753360"/>
            <a:ext cx="167640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
        <p:nvSpPr>
          <p:cNvPr id="7" name="Text Box 1036">
            <a:extLst>
              <a:ext uri="{FF2B5EF4-FFF2-40B4-BE49-F238E27FC236}">
                <a16:creationId xmlns:a16="http://schemas.microsoft.com/office/drawing/2014/main" id="{78BF7841-B787-A5C5-FCFF-0F8375874AD7}"/>
              </a:ext>
            </a:extLst>
          </p:cNvPr>
          <p:cNvSpPr txBox="1">
            <a:spLocks noChangeArrowheads="1"/>
          </p:cNvSpPr>
          <p:nvPr/>
        </p:nvSpPr>
        <p:spPr bwMode="auto">
          <a:xfrm>
            <a:off x="6420485" y="2508885"/>
            <a:ext cx="23780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entury Gothic" panose="020B0502020202020204" pitchFamily="34" charset="0"/>
              </a:defRPr>
            </a:lvl1pPr>
            <a:lvl2pPr marL="742950" indent="-285750">
              <a:defRPr>
                <a:solidFill>
                  <a:schemeClr val="tx1"/>
                </a:solidFill>
                <a:latin typeface="Century Gothic" panose="020B0502020202020204" pitchFamily="34" charset="0"/>
              </a:defRPr>
            </a:lvl2pPr>
            <a:lvl3pPr marL="1143000" indent="-228600">
              <a:defRPr>
                <a:solidFill>
                  <a:schemeClr val="tx1"/>
                </a:solidFill>
                <a:latin typeface="Century Gothic" panose="020B0502020202020204" pitchFamily="34" charset="0"/>
              </a:defRPr>
            </a:lvl3pPr>
            <a:lvl4pPr marL="1600200" indent="-228600">
              <a:defRPr>
                <a:solidFill>
                  <a:schemeClr val="tx1"/>
                </a:solidFill>
                <a:latin typeface="Century Gothic" panose="020B0502020202020204" pitchFamily="34" charset="0"/>
              </a:defRPr>
            </a:lvl4pPr>
            <a:lvl5pPr marL="2057400" indent="-228600">
              <a:defRPr>
                <a:solidFill>
                  <a:schemeClr val="tx1"/>
                </a:solidFill>
                <a:latin typeface="Century Gothic" panose="020B0502020202020204" pitchFamily="34" charset="0"/>
              </a:defRPr>
            </a:lvl5pPr>
            <a:lvl6pPr marL="2514600" indent="-228600" defTabSz="457200" fontAlgn="base">
              <a:spcBef>
                <a:spcPct val="0"/>
              </a:spcBef>
              <a:spcAft>
                <a:spcPct val="0"/>
              </a:spcAft>
              <a:defRPr>
                <a:solidFill>
                  <a:schemeClr val="tx1"/>
                </a:solidFill>
                <a:latin typeface="Century Gothic" panose="020B0502020202020204" pitchFamily="34" charset="0"/>
              </a:defRPr>
            </a:lvl6pPr>
            <a:lvl7pPr marL="2971800" indent="-228600" defTabSz="457200" fontAlgn="base">
              <a:spcBef>
                <a:spcPct val="0"/>
              </a:spcBef>
              <a:spcAft>
                <a:spcPct val="0"/>
              </a:spcAft>
              <a:defRPr>
                <a:solidFill>
                  <a:schemeClr val="tx1"/>
                </a:solidFill>
                <a:latin typeface="Century Gothic" panose="020B0502020202020204" pitchFamily="34" charset="0"/>
              </a:defRPr>
            </a:lvl7pPr>
            <a:lvl8pPr marL="3429000" indent="-228600" defTabSz="457200" fontAlgn="base">
              <a:spcBef>
                <a:spcPct val="0"/>
              </a:spcBef>
              <a:spcAft>
                <a:spcPct val="0"/>
              </a:spcAft>
              <a:defRPr>
                <a:solidFill>
                  <a:schemeClr val="tx1"/>
                </a:solidFill>
                <a:latin typeface="Century Gothic" panose="020B0502020202020204" pitchFamily="34" charset="0"/>
              </a:defRPr>
            </a:lvl8pPr>
            <a:lvl9pPr marL="3886200" indent="-228600" defTabSz="457200" fontAlgn="base">
              <a:spcBef>
                <a:spcPct val="0"/>
              </a:spcBef>
              <a:spcAft>
                <a:spcPct val="0"/>
              </a:spcAft>
              <a:defRPr>
                <a:solidFill>
                  <a:schemeClr val="tx1"/>
                </a:solidFill>
                <a:latin typeface="Century Gothic" panose="020B0502020202020204" pitchFamily="34" charset="0"/>
              </a:defRPr>
            </a:lvl9pPr>
          </a:lstStyle>
          <a:p>
            <a:pPr eaLnBrk="1" hangingPunct="1"/>
            <a:r>
              <a:rPr lang="en-US" altLang="en-US"/>
              <a:t>Drop-down Menu</a:t>
            </a:r>
          </a:p>
        </p:txBody>
      </p:sp>
      <p:sp>
        <p:nvSpPr>
          <p:cNvPr id="8" name="Line 1038">
            <a:extLst>
              <a:ext uri="{FF2B5EF4-FFF2-40B4-BE49-F238E27FC236}">
                <a16:creationId xmlns:a16="http://schemas.microsoft.com/office/drawing/2014/main" id="{FC85C384-F49D-D2B5-4FBB-723DA5CD908B}"/>
              </a:ext>
            </a:extLst>
          </p:cNvPr>
          <p:cNvSpPr>
            <a:spLocks noChangeShapeType="1"/>
          </p:cNvSpPr>
          <p:nvPr/>
        </p:nvSpPr>
        <p:spPr bwMode="auto">
          <a:xfrm flipH="1">
            <a:off x="4607560" y="3134360"/>
            <a:ext cx="198120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
        <p:nvSpPr>
          <p:cNvPr id="9" name="Text Box 1039">
            <a:extLst>
              <a:ext uri="{FF2B5EF4-FFF2-40B4-BE49-F238E27FC236}">
                <a16:creationId xmlns:a16="http://schemas.microsoft.com/office/drawing/2014/main" id="{0AFD9E1C-FC42-02EE-7E75-40B1E6DAA318}"/>
              </a:ext>
            </a:extLst>
          </p:cNvPr>
          <p:cNvSpPr txBox="1">
            <a:spLocks noChangeArrowheads="1"/>
          </p:cNvSpPr>
          <p:nvPr/>
        </p:nvSpPr>
        <p:spPr bwMode="auto">
          <a:xfrm>
            <a:off x="6649085" y="2889885"/>
            <a:ext cx="19351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entury Gothic" panose="020B0502020202020204" pitchFamily="34" charset="0"/>
              </a:defRPr>
            </a:lvl1pPr>
            <a:lvl2pPr marL="742950" indent="-285750">
              <a:defRPr>
                <a:solidFill>
                  <a:schemeClr val="tx1"/>
                </a:solidFill>
                <a:latin typeface="Century Gothic" panose="020B0502020202020204" pitchFamily="34" charset="0"/>
              </a:defRPr>
            </a:lvl2pPr>
            <a:lvl3pPr marL="1143000" indent="-228600">
              <a:defRPr>
                <a:solidFill>
                  <a:schemeClr val="tx1"/>
                </a:solidFill>
                <a:latin typeface="Century Gothic" panose="020B0502020202020204" pitchFamily="34" charset="0"/>
              </a:defRPr>
            </a:lvl3pPr>
            <a:lvl4pPr marL="1600200" indent="-228600">
              <a:defRPr>
                <a:solidFill>
                  <a:schemeClr val="tx1"/>
                </a:solidFill>
                <a:latin typeface="Century Gothic" panose="020B0502020202020204" pitchFamily="34" charset="0"/>
              </a:defRPr>
            </a:lvl4pPr>
            <a:lvl5pPr marL="2057400" indent="-228600">
              <a:defRPr>
                <a:solidFill>
                  <a:schemeClr val="tx1"/>
                </a:solidFill>
                <a:latin typeface="Century Gothic" panose="020B0502020202020204" pitchFamily="34" charset="0"/>
              </a:defRPr>
            </a:lvl5pPr>
            <a:lvl6pPr marL="2514600" indent="-228600" defTabSz="457200" fontAlgn="base">
              <a:spcBef>
                <a:spcPct val="0"/>
              </a:spcBef>
              <a:spcAft>
                <a:spcPct val="0"/>
              </a:spcAft>
              <a:defRPr>
                <a:solidFill>
                  <a:schemeClr val="tx1"/>
                </a:solidFill>
                <a:latin typeface="Century Gothic" panose="020B0502020202020204" pitchFamily="34" charset="0"/>
              </a:defRPr>
            </a:lvl6pPr>
            <a:lvl7pPr marL="2971800" indent="-228600" defTabSz="457200" fontAlgn="base">
              <a:spcBef>
                <a:spcPct val="0"/>
              </a:spcBef>
              <a:spcAft>
                <a:spcPct val="0"/>
              </a:spcAft>
              <a:defRPr>
                <a:solidFill>
                  <a:schemeClr val="tx1"/>
                </a:solidFill>
                <a:latin typeface="Century Gothic" panose="020B0502020202020204" pitchFamily="34" charset="0"/>
              </a:defRPr>
            </a:lvl7pPr>
            <a:lvl8pPr marL="3429000" indent="-228600" defTabSz="457200" fontAlgn="base">
              <a:spcBef>
                <a:spcPct val="0"/>
              </a:spcBef>
              <a:spcAft>
                <a:spcPct val="0"/>
              </a:spcAft>
              <a:defRPr>
                <a:solidFill>
                  <a:schemeClr val="tx1"/>
                </a:solidFill>
                <a:latin typeface="Century Gothic" panose="020B0502020202020204" pitchFamily="34" charset="0"/>
              </a:defRPr>
            </a:lvl8pPr>
            <a:lvl9pPr marL="3886200" indent="-228600" defTabSz="457200" fontAlgn="base">
              <a:spcBef>
                <a:spcPct val="0"/>
              </a:spcBef>
              <a:spcAft>
                <a:spcPct val="0"/>
              </a:spcAft>
              <a:defRPr>
                <a:solidFill>
                  <a:schemeClr val="tx1"/>
                </a:solidFill>
                <a:latin typeface="Century Gothic" panose="020B0502020202020204" pitchFamily="34" charset="0"/>
              </a:defRPr>
            </a:lvl9pPr>
          </a:lstStyle>
          <a:p>
            <a:pPr eaLnBrk="1" hangingPunct="1"/>
            <a:r>
              <a:rPr lang="en-US" altLang="en-US"/>
              <a:t>Radio Buttons</a:t>
            </a:r>
          </a:p>
        </p:txBody>
      </p:sp>
      <p:sp>
        <p:nvSpPr>
          <p:cNvPr id="10" name="Line 1040">
            <a:extLst>
              <a:ext uri="{FF2B5EF4-FFF2-40B4-BE49-F238E27FC236}">
                <a16:creationId xmlns:a16="http://schemas.microsoft.com/office/drawing/2014/main" id="{566FCD24-6D57-A665-27D6-F795C519D75F}"/>
              </a:ext>
            </a:extLst>
          </p:cNvPr>
          <p:cNvSpPr>
            <a:spLocks noChangeShapeType="1"/>
          </p:cNvSpPr>
          <p:nvPr/>
        </p:nvSpPr>
        <p:spPr bwMode="auto">
          <a:xfrm flipH="1" flipV="1">
            <a:off x="4455160" y="3515360"/>
            <a:ext cx="220980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
        <p:nvSpPr>
          <p:cNvPr id="11" name="Text Box 1041">
            <a:extLst>
              <a:ext uri="{FF2B5EF4-FFF2-40B4-BE49-F238E27FC236}">
                <a16:creationId xmlns:a16="http://schemas.microsoft.com/office/drawing/2014/main" id="{4F5BBB3B-14C7-D9BE-B8FD-41C793F47328}"/>
              </a:ext>
            </a:extLst>
          </p:cNvPr>
          <p:cNvSpPr txBox="1">
            <a:spLocks noChangeArrowheads="1"/>
          </p:cNvSpPr>
          <p:nvPr/>
        </p:nvSpPr>
        <p:spPr bwMode="auto">
          <a:xfrm>
            <a:off x="6741160" y="3286760"/>
            <a:ext cx="16732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entury Gothic" panose="020B0502020202020204" pitchFamily="34" charset="0"/>
              </a:defRPr>
            </a:lvl1pPr>
            <a:lvl2pPr marL="742950" indent="-285750">
              <a:defRPr>
                <a:solidFill>
                  <a:schemeClr val="tx1"/>
                </a:solidFill>
                <a:latin typeface="Century Gothic" panose="020B0502020202020204" pitchFamily="34" charset="0"/>
              </a:defRPr>
            </a:lvl2pPr>
            <a:lvl3pPr marL="1143000" indent="-228600">
              <a:defRPr>
                <a:solidFill>
                  <a:schemeClr val="tx1"/>
                </a:solidFill>
                <a:latin typeface="Century Gothic" panose="020B0502020202020204" pitchFamily="34" charset="0"/>
              </a:defRPr>
            </a:lvl3pPr>
            <a:lvl4pPr marL="1600200" indent="-228600">
              <a:defRPr>
                <a:solidFill>
                  <a:schemeClr val="tx1"/>
                </a:solidFill>
                <a:latin typeface="Century Gothic" panose="020B0502020202020204" pitchFamily="34" charset="0"/>
              </a:defRPr>
            </a:lvl4pPr>
            <a:lvl5pPr marL="2057400" indent="-228600">
              <a:defRPr>
                <a:solidFill>
                  <a:schemeClr val="tx1"/>
                </a:solidFill>
                <a:latin typeface="Century Gothic" panose="020B0502020202020204" pitchFamily="34" charset="0"/>
              </a:defRPr>
            </a:lvl5pPr>
            <a:lvl6pPr marL="2514600" indent="-228600" defTabSz="457200" fontAlgn="base">
              <a:spcBef>
                <a:spcPct val="0"/>
              </a:spcBef>
              <a:spcAft>
                <a:spcPct val="0"/>
              </a:spcAft>
              <a:defRPr>
                <a:solidFill>
                  <a:schemeClr val="tx1"/>
                </a:solidFill>
                <a:latin typeface="Century Gothic" panose="020B0502020202020204" pitchFamily="34" charset="0"/>
              </a:defRPr>
            </a:lvl6pPr>
            <a:lvl7pPr marL="2971800" indent="-228600" defTabSz="457200" fontAlgn="base">
              <a:spcBef>
                <a:spcPct val="0"/>
              </a:spcBef>
              <a:spcAft>
                <a:spcPct val="0"/>
              </a:spcAft>
              <a:defRPr>
                <a:solidFill>
                  <a:schemeClr val="tx1"/>
                </a:solidFill>
                <a:latin typeface="Century Gothic" panose="020B0502020202020204" pitchFamily="34" charset="0"/>
              </a:defRPr>
            </a:lvl7pPr>
            <a:lvl8pPr marL="3429000" indent="-228600" defTabSz="457200" fontAlgn="base">
              <a:spcBef>
                <a:spcPct val="0"/>
              </a:spcBef>
              <a:spcAft>
                <a:spcPct val="0"/>
              </a:spcAft>
              <a:defRPr>
                <a:solidFill>
                  <a:schemeClr val="tx1"/>
                </a:solidFill>
                <a:latin typeface="Century Gothic" panose="020B0502020202020204" pitchFamily="34" charset="0"/>
              </a:defRPr>
            </a:lvl8pPr>
            <a:lvl9pPr marL="3886200" indent="-228600" defTabSz="457200" fontAlgn="base">
              <a:spcBef>
                <a:spcPct val="0"/>
              </a:spcBef>
              <a:spcAft>
                <a:spcPct val="0"/>
              </a:spcAft>
              <a:defRPr>
                <a:solidFill>
                  <a:schemeClr val="tx1"/>
                </a:solidFill>
                <a:latin typeface="Century Gothic" panose="020B0502020202020204" pitchFamily="34" charset="0"/>
              </a:defRPr>
            </a:lvl9pPr>
          </a:lstStyle>
          <a:p>
            <a:pPr eaLnBrk="1" hangingPunct="1"/>
            <a:r>
              <a:rPr lang="en-US" altLang="en-US"/>
              <a:t>Checkboxes</a:t>
            </a:r>
          </a:p>
        </p:txBody>
      </p:sp>
      <p:sp>
        <p:nvSpPr>
          <p:cNvPr id="12" name="Line 1042">
            <a:extLst>
              <a:ext uri="{FF2B5EF4-FFF2-40B4-BE49-F238E27FC236}">
                <a16:creationId xmlns:a16="http://schemas.microsoft.com/office/drawing/2014/main" id="{E2E1DA1B-499F-3551-D5D1-7D06FB4D4837}"/>
              </a:ext>
            </a:extLst>
          </p:cNvPr>
          <p:cNvSpPr>
            <a:spLocks noChangeShapeType="1"/>
          </p:cNvSpPr>
          <p:nvPr/>
        </p:nvSpPr>
        <p:spPr bwMode="auto">
          <a:xfrm flipH="1">
            <a:off x="5293360" y="4658360"/>
            <a:ext cx="190500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
        <p:nvSpPr>
          <p:cNvPr id="13" name="Text Box 1043">
            <a:extLst>
              <a:ext uri="{FF2B5EF4-FFF2-40B4-BE49-F238E27FC236}">
                <a16:creationId xmlns:a16="http://schemas.microsoft.com/office/drawing/2014/main" id="{D5931A25-AD5F-52A0-8987-57AFA3E59F24}"/>
              </a:ext>
            </a:extLst>
          </p:cNvPr>
          <p:cNvSpPr txBox="1">
            <a:spLocks noChangeArrowheads="1"/>
          </p:cNvSpPr>
          <p:nvPr/>
        </p:nvSpPr>
        <p:spPr bwMode="auto">
          <a:xfrm>
            <a:off x="7258685" y="4413885"/>
            <a:ext cx="14097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entury Gothic" panose="020B0502020202020204" pitchFamily="34" charset="0"/>
              </a:defRPr>
            </a:lvl1pPr>
            <a:lvl2pPr marL="742950" indent="-285750">
              <a:defRPr>
                <a:solidFill>
                  <a:schemeClr val="tx1"/>
                </a:solidFill>
                <a:latin typeface="Century Gothic" panose="020B0502020202020204" pitchFamily="34" charset="0"/>
              </a:defRPr>
            </a:lvl2pPr>
            <a:lvl3pPr marL="1143000" indent="-228600">
              <a:defRPr>
                <a:solidFill>
                  <a:schemeClr val="tx1"/>
                </a:solidFill>
                <a:latin typeface="Century Gothic" panose="020B0502020202020204" pitchFamily="34" charset="0"/>
              </a:defRPr>
            </a:lvl3pPr>
            <a:lvl4pPr marL="1600200" indent="-228600">
              <a:defRPr>
                <a:solidFill>
                  <a:schemeClr val="tx1"/>
                </a:solidFill>
                <a:latin typeface="Century Gothic" panose="020B0502020202020204" pitchFamily="34" charset="0"/>
              </a:defRPr>
            </a:lvl4pPr>
            <a:lvl5pPr marL="2057400" indent="-228600">
              <a:defRPr>
                <a:solidFill>
                  <a:schemeClr val="tx1"/>
                </a:solidFill>
                <a:latin typeface="Century Gothic" panose="020B0502020202020204" pitchFamily="34" charset="0"/>
              </a:defRPr>
            </a:lvl5pPr>
            <a:lvl6pPr marL="2514600" indent="-228600" defTabSz="457200" fontAlgn="base">
              <a:spcBef>
                <a:spcPct val="0"/>
              </a:spcBef>
              <a:spcAft>
                <a:spcPct val="0"/>
              </a:spcAft>
              <a:defRPr>
                <a:solidFill>
                  <a:schemeClr val="tx1"/>
                </a:solidFill>
                <a:latin typeface="Century Gothic" panose="020B0502020202020204" pitchFamily="34" charset="0"/>
              </a:defRPr>
            </a:lvl6pPr>
            <a:lvl7pPr marL="2971800" indent="-228600" defTabSz="457200" fontAlgn="base">
              <a:spcBef>
                <a:spcPct val="0"/>
              </a:spcBef>
              <a:spcAft>
                <a:spcPct val="0"/>
              </a:spcAft>
              <a:defRPr>
                <a:solidFill>
                  <a:schemeClr val="tx1"/>
                </a:solidFill>
                <a:latin typeface="Century Gothic" panose="020B0502020202020204" pitchFamily="34" charset="0"/>
              </a:defRPr>
            </a:lvl7pPr>
            <a:lvl8pPr marL="3429000" indent="-228600" defTabSz="457200" fontAlgn="base">
              <a:spcBef>
                <a:spcPct val="0"/>
              </a:spcBef>
              <a:spcAft>
                <a:spcPct val="0"/>
              </a:spcAft>
              <a:defRPr>
                <a:solidFill>
                  <a:schemeClr val="tx1"/>
                </a:solidFill>
                <a:latin typeface="Century Gothic" panose="020B0502020202020204" pitchFamily="34" charset="0"/>
              </a:defRPr>
            </a:lvl8pPr>
            <a:lvl9pPr marL="3886200" indent="-228600" defTabSz="457200" fontAlgn="base">
              <a:spcBef>
                <a:spcPct val="0"/>
              </a:spcBef>
              <a:spcAft>
                <a:spcPct val="0"/>
              </a:spcAft>
              <a:defRPr>
                <a:solidFill>
                  <a:schemeClr val="tx1"/>
                </a:solidFill>
                <a:latin typeface="Century Gothic" panose="020B0502020202020204" pitchFamily="34" charset="0"/>
              </a:defRPr>
            </a:lvl9pPr>
          </a:lstStyle>
          <a:p>
            <a:pPr eaLnBrk="1" hangingPunct="1"/>
            <a:r>
              <a:rPr lang="en-US" altLang="en-US"/>
              <a:t>Text Area</a:t>
            </a:r>
          </a:p>
        </p:txBody>
      </p:sp>
      <p:sp>
        <p:nvSpPr>
          <p:cNvPr id="14" name="Line 1044">
            <a:extLst>
              <a:ext uri="{FF2B5EF4-FFF2-40B4-BE49-F238E27FC236}">
                <a16:creationId xmlns:a16="http://schemas.microsoft.com/office/drawing/2014/main" id="{AA7E0739-341B-2C20-F58B-287B5384D0D8}"/>
              </a:ext>
            </a:extLst>
          </p:cNvPr>
          <p:cNvSpPr>
            <a:spLocks noChangeShapeType="1"/>
          </p:cNvSpPr>
          <p:nvPr/>
        </p:nvSpPr>
        <p:spPr bwMode="auto">
          <a:xfrm flipV="1">
            <a:off x="2702560" y="6106160"/>
            <a:ext cx="0" cy="3048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
        <p:nvSpPr>
          <p:cNvPr id="15" name="Line 1045">
            <a:extLst>
              <a:ext uri="{FF2B5EF4-FFF2-40B4-BE49-F238E27FC236}">
                <a16:creationId xmlns:a16="http://schemas.microsoft.com/office/drawing/2014/main" id="{CE452DA1-9A0D-B20A-C73A-F604BF3DD98D}"/>
              </a:ext>
            </a:extLst>
          </p:cNvPr>
          <p:cNvSpPr>
            <a:spLocks noChangeShapeType="1"/>
          </p:cNvSpPr>
          <p:nvPr/>
        </p:nvSpPr>
        <p:spPr bwMode="auto">
          <a:xfrm>
            <a:off x="2702560" y="6410960"/>
            <a:ext cx="42672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
        <p:nvSpPr>
          <p:cNvPr id="16" name="Text Box 1047">
            <a:extLst>
              <a:ext uri="{FF2B5EF4-FFF2-40B4-BE49-F238E27FC236}">
                <a16:creationId xmlns:a16="http://schemas.microsoft.com/office/drawing/2014/main" id="{07A68F1A-77A0-06C9-4F7E-42A1D5453522}"/>
              </a:ext>
            </a:extLst>
          </p:cNvPr>
          <p:cNvSpPr txBox="1">
            <a:spLocks noChangeArrowheads="1"/>
          </p:cNvSpPr>
          <p:nvPr/>
        </p:nvSpPr>
        <p:spPr bwMode="auto">
          <a:xfrm>
            <a:off x="7655560" y="6182360"/>
            <a:ext cx="1968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entury Gothic" panose="020B0502020202020204" pitchFamily="34" charset="0"/>
              </a:defRPr>
            </a:lvl1pPr>
            <a:lvl2pPr marL="742950" indent="-285750">
              <a:defRPr>
                <a:solidFill>
                  <a:schemeClr val="tx1"/>
                </a:solidFill>
                <a:latin typeface="Century Gothic" panose="020B0502020202020204" pitchFamily="34" charset="0"/>
              </a:defRPr>
            </a:lvl2pPr>
            <a:lvl3pPr marL="1143000" indent="-228600">
              <a:defRPr>
                <a:solidFill>
                  <a:schemeClr val="tx1"/>
                </a:solidFill>
                <a:latin typeface="Century Gothic" panose="020B0502020202020204" pitchFamily="34" charset="0"/>
              </a:defRPr>
            </a:lvl3pPr>
            <a:lvl4pPr marL="1600200" indent="-228600">
              <a:defRPr>
                <a:solidFill>
                  <a:schemeClr val="tx1"/>
                </a:solidFill>
                <a:latin typeface="Century Gothic" panose="020B0502020202020204" pitchFamily="34" charset="0"/>
              </a:defRPr>
            </a:lvl4pPr>
            <a:lvl5pPr marL="2057400" indent="-228600">
              <a:defRPr>
                <a:solidFill>
                  <a:schemeClr val="tx1"/>
                </a:solidFill>
                <a:latin typeface="Century Gothic" panose="020B0502020202020204" pitchFamily="34" charset="0"/>
              </a:defRPr>
            </a:lvl5pPr>
            <a:lvl6pPr marL="2514600" indent="-228600" defTabSz="457200" fontAlgn="base">
              <a:spcBef>
                <a:spcPct val="0"/>
              </a:spcBef>
              <a:spcAft>
                <a:spcPct val="0"/>
              </a:spcAft>
              <a:defRPr>
                <a:solidFill>
                  <a:schemeClr val="tx1"/>
                </a:solidFill>
                <a:latin typeface="Century Gothic" panose="020B0502020202020204" pitchFamily="34" charset="0"/>
              </a:defRPr>
            </a:lvl6pPr>
            <a:lvl7pPr marL="2971800" indent="-228600" defTabSz="457200" fontAlgn="base">
              <a:spcBef>
                <a:spcPct val="0"/>
              </a:spcBef>
              <a:spcAft>
                <a:spcPct val="0"/>
              </a:spcAft>
              <a:defRPr>
                <a:solidFill>
                  <a:schemeClr val="tx1"/>
                </a:solidFill>
                <a:latin typeface="Century Gothic" panose="020B0502020202020204" pitchFamily="34" charset="0"/>
              </a:defRPr>
            </a:lvl7pPr>
            <a:lvl8pPr marL="3429000" indent="-228600" defTabSz="457200" fontAlgn="base">
              <a:spcBef>
                <a:spcPct val="0"/>
              </a:spcBef>
              <a:spcAft>
                <a:spcPct val="0"/>
              </a:spcAft>
              <a:defRPr>
                <a:solidFill>
                  <a:schemeClr val="tx1"/>
                </a:solidFill>
                <a:latin typeface="Century Gothic" panose="020B0502020202020204" pitchFamily="34" charset="0"/>
              </a:defRPr>
            </a:lvl8pPr>
            <a:lvl9pPr marL="3886200" indent="-228600" defTabSz="457200" fontAlgn="base">
              <a:spcBef>
                <a:spcPct val="0"/>
              </a:spcBef>
              <a:spcAft>
                <a:spcPct val="0"/>
              </a:spcAft>
              <a:defRPr>
                <a:solidFill>
                  <a:schemeClr val="tx1"/>
                </a:solidFill>
                <a:latin typeface="Century Gothic" panose="020B0502020202020204" pitchFamily="34" charset="0"/>
              </a:defRPr>
            </a:lvl9pPr>
          </a:lstStyle>
          <a:p>
            <a:pPr eaLnBrk="1" hangingPunct="1"/>
            <a:r>
              <a:rPr lang="en-US" altLang="en-US"/>
              <a:t>Submit Button</a:t>
            </a:r>
          </a:p>
        </p:txBody>
      </p:sp>
      <p:sp>
        <p:nvSpPr>
          <p:cNvPr id="17" name="Line 1048">
            <a:extLst>
              <a:ext uri="{FF2B5EF4-FFF2-40B4-BE49-F238E27FC236}">
                <a16:creationId xmlns:a16="http://schemas.microsoft.com/office/drawing/2014/main" id="{028E7FFF-3B47-8EBA-727B-AD1CCBC85696}"/>
              </a:ext>
            </a:extLst>
          </p:cNvPr>
          <p:cNvSpPr>
            <a:spLocks noChangeShapeType="1"/>
          </p:cNvSpPr>
          <p:nvPr/>
        </p:nvSpPr>
        <p:spPr bwMode="auto">
          <a:xfrm flipV="1">
            <a:off x="3235960" y="6029960"/>
            <a:ext cx="0" cy="2286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
        <p:nvSpPr>
          <p:cNvPr id="18" name="Line 1049">
            <a:extLst>
              <a:ext uri="{FF2B5EF4-FFF2-40B4-BE49-F238E27FC236}">
                <a16:creationId xmlns:a16="http://schemas.microsoft.com/office/drawing/2014/main" id="{280366A3-F624-873D-3BEA-D0B5D0DE290B}"/>
              </a:ext>
            </a:extLst>
          </p:cNvPr>
          <p:cNvSpPr>
            <a:spLocks noChangeShapeType="1"/>
          </p:cNvSpPr>
          <p:nvPr/>
        </p:nvSpPr>
        <p:spPr bwMode="auto">
          <a:xfrm>
            <a:off x="3235960" y="6258560"/>
            <a:ext cx="2286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
        <p:nvSpPr>
          <p:cNvPr id="19" name="Text Box 1050">
            <a:extLst>
              <a:ext uri="{FF2B5EF4-FFF2-40B4-BE49-F238E27FC236}">
                <a16:creationId xmlns:a16="http://schemas.microsoft.com/office/drawing/2014/main" id="{D5F76666-A4DB-014B-B859-4B7C47223C2E}"/>
              </a:ext>
            </a:extLst>
          </p:cNvPr>
          <p:cNvSpPr txBox="1">
            <a:spLocks noChangeArrowheads="1"/>
          </p:cNvSpPr>
          <p:nvPr/>
        </p:nvSpPr>
        <p:spPr bwMode="auto">
          <a:xfrm>
            <a:off x="5582285" y="5861685"/>
            <a:ext cx="17653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entury Gothic" panose="020B0502020202020204" pitchFamily="34" charset="0"/>
              </a:defRPr>
            </a:lvl1pPr>
            <a:lvl2pPr marL="742950" indent="-285750">
              <a:defRPr>
                <a:solidFill>
                  <a:schemeClr val="tx1"/>
                </a:solidFill>
                <a:latin typeface="Century Gothic" panose="020B0502020202020204" pitchFamily="34" charset="0"/>
              </a:defRPr>
            </a:lvl2pPr>
            <a:lvl3pPr marL="1143000" indent="-228600">
              <a:defRPr>
                <a:solidFill>
                  <a:schemeClr val="tx1"/>
                </a:solidFill>
                <a:latin typeface="Century Gothic" panose="020B0502020202020204" pitchFamily="34" charset="0"/>
              </a:defRPr>
            </a:lvl3pPr>
            <a:lvl4pPr marL="1600200" indent="-228600">
              <a:defRPr>
                <a:solidFill>
                  <a:schemeClr val="tx1"/>
                </a:solidFill>
                <a:latin typeface="Century Gothic" panose="020B0502020202020204" pitchFamily="34" charset="0"/>
              </a:defRPr>
            </a:lvl4pPr>
            <a:lvl5pPr marL="2057400" indent="-228600">
              <a:defRPr>
                <a:solidFill>
                  <a:schemeClr val="tx1"/>
                </a:solidFill>
                <a:latin typeface="Century Gothic" panose="020B0502020202020204" pitchFamily="34" charset="0"/>
              </a:defRPr>
            </a:lvl5pPr>
            <a:lvl6pPr marL="2514600" indent="-228600" defTabSz="457200" fontAlgn="base">
              <a:spcBef>
                <a:spcPct val="0"/>
              </a:spcBef>
              <a:spcAft>
                <a:spcPct val="0"/>
              </a:spcAft>
              <a:defRPr>
                <a:solidFill>
                  <a:schemeClr val="tx1"/>
                </a:solidFill>
                <a:latin typeface="Century Gothic" panose="020B0502020202020204" pitchFamily="34" charset="0"/>
              </a:defRPr>
            </a:lvl6pPr>
            <a:lvl7pPr marL="2971800" indent="-228600" defTabSz="457200" fontAlgn="base">
              <a:spcBef>
                <a:spcPct val="0"/>
              </a:spcBef>
              <a:spcAft>
                <a:spcPct val="0"/>
              </a:spcAft>
              <a:defRPr>
                <a:solidFill>
                  <a:schemeClr val="tx1"/>
                </a:solidFill>
                <a:latin typeface="Century Gothic" panose="020B0502020202020204" pitchFamily="34" charset="0"/>
              </a:defRPr>
            </a:lvl7pPr>
            <a:lvl8pPr marL="3429000" indent="-228600" defTabSz="457200" fontAlgn="base">
              <a:spcBef>
                <a:spcPct val="0"/>
              </a:spcBef>
              <a:spcAft>
                <a:spcPct val="0"/>
              </a:spcAft>
              <a:defRPr>
                <a:solidFill>
                  <a:schemeClr val="tx1"/>
                </a:solidFill>
                <a:latin typeface="Century Gothic" panose="020B0502020202020204" pitchFamily="34" charset="0"/>
              </a:defRPr>
            </a:lvl8pPr>
            <a:lvl9pPr marL="3886200" indent="-228600" defTabSz="457200" fontAlgn="base">
              <a:spcBef>
                <a:spcPct val="0"/>
              </a:spcBef>
              <a:spcAft>
                <a:spcPct val="0"/>
              </a:spcAft>
              <a:defRPr>
                <a:solidFill>
                  <a:schemeClr val="tx1"/>
                </a:solidFill>
                <a:latin typeface="Century Gothic" panose="020B0502020202020204" pitchFamily="34" charset="0"/>
              </a:defRPr>
            </a:lvl9pPr>
          </a:lstStyle>
          <a:p>
            <a:pPr eaLnBrk="1" hangingPunct="1"/>
            <a:r>
              <a:rPr lang="en-US" altLang="en-US"/>
              <a:t>Reset Button</a:t>
            </a:r>
          </a:p>
        </p:txBody>
      </p:sp>
      <p:sp>
        <p:nvSpPr>
          <p:cNvPr id="20" name="Line 1051">
            <a:extLst>
              <a:ext uri="{FF2B5EF4-FFF2-40B4-BE49-F238E27FC236}">
                <a16:creationId xmlns:a16="http://schemas.microsoft.com/office/drawing/2014/main" id="{FD15A7CB-8902-1D31-4C28-3DE70DE3474E}"/>
              </a:ext>
            </a:extLst>
          </p:cNvPr>
          <p:cNvSpPr>
            <a:spLocks noChangeShapeType="1"/>
          </p:cNvSpPr>
          <p:nvPr/>
        </p:nvSpPr>
        <p:spPr bwMode="auto">
          <a:xfrm>
            <a:off x="6969760" y="6410960"/>
            <a:ext cx="6858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G"/>
          </a:p>
        </p:txBody>
      </p:sp>
    </p:spTree>
    <p:extLst>
      <p:ext uri="{BB962C8B-B14F-4D97-AF65-F5344CB8AC3E}">
        <p14:creationId xmlns:p14="http://schemas.microsoft.com/office/powerpoint/2010/main" val="21776302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9776C34F-D1DE-33A4-81E3-F9DF60B708A0}"/>
              </a:ext>
            </a:extLst>
          </p:cNvPr>
          <p:cNvSpPr txBox="1">
            <a:spLocks noChangeArrowheads="1"/>
          </p:cNvSpPr>
          <p:nvPr/>
        </p:nvSpPr>
        <p:spPr>
          <a:xfrm>
            <a:off x="1088913" y="623888"/>
            <a:ext cx="10147395"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The Form Shell</a:t>
            </a:r>
          </a:p>
        </p:txBody>
      </p:sp>
      <p:sp>
        <p:nvSpPr>
          <p:cNvPr id="3" name="Rectangle 3">
            <a:extLst>
              <a:ext uri="{FF2B5EF4-FFF2-40B4-BE49-F238E27FC236}">
                <a16:creationId xmlns:a16="http://schemas.microsoft.com/office/drawing/2014/main" id="{3D92C2B3-1E13-4CDD-2019-5218DB5715A5}"/>
              </a:ext>
            </a:extLst>
          </p:cNvPr>
          <p:cNvSpPr txBox="1">
            <a:spLocks noChangeArrowheads="1"/>
          </p:cNvSpPr>
          <p:nvPr/>
        </p:nvSpPr>
        <p:spPr>
          <a:xfrm>
            <a:off x="1087120" y="2133600"/>
            <a:ext cx="1014984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A form shell has three important parts:</a:t>
            </a:r>
          </a:p>
          <a:p>
            <a:pPr lvl="1"/>
            <a:r>
              <a:rPr lang="en-US" altLang="en-US"/>
              <a:t> the &lt;FORM&gt; tag, which includes the address of the script which will process the form</a:t>
            </a:r>
          </a:p>
          <a:p>
            <a:pPr lvl="1"/>
            <a:r>
              <a:rPr lang="en-US" altLang="en-US"/>
              <a:t>the form elements, like text boxes and radio buttons</a:t>
            </a:r>
          </a:p>
          <a:p>
            <a:pPr lvl="1"/>
            <a:r>
              <a:rPr lang="en-US" altLang="en-US"/>
              <a:t>the submit button which triggers the script to send the entered information to the server</a:t>
            </a:r>
          </a:p>
        </p:txBody>
      </p:sp>
    </p:spTree>
    <p:extLst>
      <p:ext uri="{BB962C8B-B14F-4D97-AF65-F5344CB8AC3E}">
        <p14:creationId xmlns:p14="http://schemas.microsoft.com/office/powerpoint/2010/main" val="1608551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05969D98-F2C7-5DF6-BC5F-DE0FB48F3AF4}"/>
              </a:ext>
            </a:extLst>
          </p:cNvPr>
          <p:cNvSpPr txBox="1">
            <a:spLocks noChangeArrowheads="1"/>
          </p:cNvSpPr>
          <p:nvPr/>
        </p:nvSpPr>
        <p:spPr>
          <a:xfrm>
            <a:off x="774029" y="623888"/>
            <a:ext cx="10685745"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Creating the Shell</a:t>
            </a:r>
          </a:p>
        </p:txBody>
      </p:sp>
      <p:sp>
        <p:nvSpPr>
          <p:cNvPr id="3" name="Rectangle 3">
            <a:extLst>
              <a:ext uri="{FF2B5EF4-FFF2-40B4-BE49-F238E27FC236}">
                <a16:creationId xmlns:a16="http://schemas.microsoft.com/office/drawing/2014/main" id="{FD787255-888E-C24B-A8E3-EDF55F9BF864}"/>
              </a:ext>
            </a:extLst>
          </p:cNvPr>
          <p:cNvSpPr txBox="1">
            <a:spLocks noChangeArrowheads="1"/>
          </p:cNvSpPr>
          <p:nvPr/>
        </p:nvSpPr>
        <p:spPr>
          <a:xfrm>
            <a:off x="772160" y="2133600"/>
            <a:ext cx="1068832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To create a form shell, type &lt;FORM METHOD=POST ACTION=“script_url”&gt; where “script_url” is the address of the script</a:t>
            </a:r>
          </a:p>
          <a:p>
            <a:r>
              <a:rPr lang="en-US" altLang="en-US"/>
              <a:t>Create the form elements</a:t>
            </a:r>
          </a:p>
          <a:p>
            <a:r>
              <a:rPr lang="en-US" altLang="en-US"/>
              <a:t>End with a closing &lt;/FORM&gt; tag</a:t>
            </a:r>
          </a:p>
        </p:txBody>
      </p:sp>
    </p:spTree>
    <p:extLst>
      <p:ext uri="{BB962C8B-B14F-4D97-AF65-F5344CB8AC3E}">
        <p14:creationId xmlns:p14="http://schemas.microsoft.com/office/powerpoint/2010/main" val="375832002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C12D0D6D-F6AE-0E76-8828-EF19EAAED39D}"/>
              </a:ext>
            </a:extLst>
          </p:cNvPr>
          <p:cNvSpPr txBox="1">
            <a:spLocks noChangeArrowheads="1"/>
          </p:cNvSpPr>
          <p:nvPr/>
        </p:nvSpPr>
        <p:spPr>
          <a:xfrm>
            <a:off x="601351" y="623888"/>
            <a:ext cx="10848265"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Creating Text Boxes</a:t>
            </a:r>
          </a:p>
        </p:txBody>
      </p:sp>
      <p:sp>
        <p:nvSpPr>
          <p:cNvPr id="3" name="Rectangle 3">
            <a:extLst>
              <a:ext uri="{FF2B5EF4-FFF2-40B4-BE49-F238E27FC236}">
                <a16:creationId xmlns:a16="http://schemas.microsoft.com/office/drawing/2014/main" id="{DDCDB734-A456-3666-8DF1-81E1F33F64AC}"/>
              </a:ext>
            </a:extLst>
          </p:cNvPr>
          <p:cNvSpPr txBox="1">
            <a:spLocks noChangeArrowheads="1"/>
          </p:cNvSpPr>
          <p:nvPr/>
        </p:nvSpPr>
        <p:spPr>
          <a:xfrm>
            <a:off x="599440" y="2133600"/>
            <a:ext cx="1085088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To create a text box, type &lt;INPUT TYPE=“text” NAME=“name” VALUE=“value” SIZE=n MAXLENGTH=n&gt;</a:t>
            </a:r>
          </a:p>
          <a:p>
            <a:r>
              <a:rPr lang="en-US" altLang="en-US"/>
              <a:t>The NAME, VALUE, SIZE, and MAXLENGTH attributes are optional</a:t>
            </a:r>
          </a:p>
        </p:txBody>
      </p:sp>
    </p:spTree>
    <p:extLst>
      <p:ext uri="{BB962C8B-B14F-4D97-AF65-F5344CB8AC3E}">
        <p14:creationId xmlns:p14="http://schemas.microsoft.com/office/powerpoint/2010/main" val="8739271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E022AA92-F63F-FBDA-16EF-DCC0B50F259D}"/>
              </a:ext>
            </a:extLst>
          </p:cNvPr>
          <p:cNvSpPr txBox="1">
            <a:spLocks noChangeArrowheads="1"/>
          </p:cNvSpPr>
          <p:nvPr/>
        </p:nvSpPr>
        <p:spPr>
          <a:xfrm>
            <a:off x="685800" y="609600"/>
            <a:ext cx="10906760" cy="9144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Text Box Attributes</a:t>
            </a:r>
          </a:p>
        </p:txBody>
      </p:sp>
      <p:sp>
        <p:nvSpPr>
          <p:cNvPr id="3" name="Rectangle 3">
            <a:extLst>
              <a:ext uri="{FF2B5EF4-FFF2-40B4-BE49-F238E27FC236}">
                <a16:creationId xmlns:a16="http://schemas.microsoft.com/office/drawing/2014/main" id="{45E35927-D654-E7B2-9ABC-348D70B91612}"/>
              </a:ext>
            </a:extLst>
          </p:cNvPr>
          <p:cNvSpPr txBox="1">
            <a:spLocks noChangeArrowheads="1"/>
          </p:cNvSpPr>
          <p:nvPr/>
        </p:nvSpPr>
        <p:spPr>
          <a:xfrm>
            <a:off x="685800" y="1600200"/>
            <a:ext cx="10906760" cy="449580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The NAME attribute is used to identify the text box to the processing script</a:t>
            </a:r>
          </a:p>
          <a:p>
            <a:r>
              <a:rPr lang="en-US" altLang="en-US"/>
              <a:t>The VALUE attribute is used to specify the text that will initially appear in the text box</a:t>
            </a:r>
          </a:p>
          <a:p>
            <a:r>
              <a:rPr lang="en-US" altLang="en-US"/>
              <a:t>The SIZE attribute is used to define the size of the box in characters</a:t>
            </a:r>
          </a:p>
          <a:p>
            <a:r>
              <a:rPr lang="en-US" altLang="en-US"/>
              <a:t>The MAXLENGTH attribute is used to define the maximum number of characters that can be typed in the box</a:t>
            </a:r>
          </a:p>
        </p:txBody>
      </p:sp>
    </p:spTree>
    <p:extLst>
      <p:ext uri="{BB962C8B-B14F-4D97-AF65-F5344CB8AC3E}">
        <p14:creationId xmlns:p14="http://schemas.microsoft.com/office/powerpoint/2010/main" val="336231456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2DF30BE3-50EC-EF24-C436-99E8535F9F95}"/>
              </a:ext>
            </a:extLst>
          </p:cNvPr>
          <p:cNvSpPr txBox="1">
            <a:spLocks noChangeArrowheads="1"/>
          </p:cNvSpPr>
          <p:nvPr/>
        </p:nvSpPr>
        <p:spPr>
          <a:xfrm>
            <a:off x="2808288" y="623888"/>
            <a:ext cx="6589712"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Example: Text Box</a:t>
            </a:r>
            <a:endParaRPr lang="en-US" altLang="en-US" i="1"/>
          </a:p>
        </p:txBody>
      </p:sp>
      <p:sp>
        <p:nvSpPr>
          <p:cNvPr id="3" name="Rectangle 3">
            <a:extLst>
              <a:ext uri="{FF2B5EF4-FFF2-40B4-BE49-F238E27FC236}">
                <a16:creationId xmlns:a16="http://schemas.microsoft.com/office/drawing/2014/main" id="{31C55B5C-6D82-326F-48CD-242FFD3610D2}"/>
              </a:ext>
            </a:extLst>
          </p:cNvPr>
          <p:cNvSpPr txBox="1">
            <a:spLocks noChangeArrowheads="1"/>
          </p:cNvSpPr>
          <p:nvPr/>
        </p:nvSpPr>
        <p:spPr>
          <a:xfrm>
            <a:off x="2806700" y="2136775"/>
            <a:ext cx="3197225" cy="3767138"/>
          </a:xfrm>
          <a:prstGeom prst="rect">
            <a:avLst/>
          </a:prstGeom>
        </p:spPr>
        <p:txBody>
          <a:bodyPr rtlCol="0">
            <a:normAutofit fontScale="92500" lnSpcReduction="1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Tx/>
              <a:buChar char=" "/>
              <a:defRPr/>
            </a:pPr>
            <a:r>
              <a:rPr lang="en-US" altLang="en-US" sz="2000">
                <a:solidFill>
                  <a:srgbClr val="000000"/>
                </a:solidFill>
              </a:rPr>
              <a:t>First Name: &lt;INPUT TYPE="text" NAME="FirstName" VALUE="First Name" SIZE=20&gt;</a:t>
            </a:r>
          </a:p>
          <a:p>
            <a:pPr>
              <a:buFontTx/>
              <a:buChar char=" "/>
              <a:defRPr/>
            </a:pPr>
            <a:r>
              <a:rPr lang="en-US" altLang="en-US" sz="2000">
                <a:solidFill>
                  <a:srgbClr val="000000"/>
                </a:solidFill>
              </a:rPr>
              <a:t>&lt;BR&gt;&lt;BR&gt;</a:t>
            </a:r>
          </a:p>
          <a:p>
            <a:pPr>
              <a:buFontTx/>
              <a:buChar char=" "/>
              <a:defRPr/>
            </a:pPr>
            <a:endParaRPr lang="en-US" altLang="en-US" sz="2000">
              <a:solidFill>
                <a:srgbClr val="000000"/>
              </a:solidFill>
            </a:endParaRPr>
          </a:p>
          <a:p>
            <a:pPr>
              <a:buFontTx/>
              <a:buChar char=" "/>
              <a:defRPr/>
            </a:pPr>
            <a:r>
              <a:rPr lang="en-US" altLang="en-US" sz="2000">
                <a:solidFill>
                  <a:srgbClr val="000000"/>
                </a:solidFill>
              </a:rPr>
              <a:t>Last Name: &lt;INPUT TYPE="text" NAME="LastName" VALUE="Last Name" SIZE=20&gt;</a:t>
            </a:r>
          </a:p>
          <a:p>
            <a:pPr>
              <a:buFontTx/>
              <a:buChar char=" "/>
              <a:defRPr/>
            </a:pPr>
            <a:r>
              <a:rPr lang="en-US" altLang="en-US" sz="2000">
                <a:solidFill>
                  <a:srgbClr val="000000"/>
                </a:solidFill>
              </a:rPr>
              <a:t>&lt;BR&gt;&lt;BR&gt;</a:t>
            </a:r>
          </a:p>
          <a:p>
            <a:pPr>
              <a:buFontTx/>
              <a:buChar char=" "/>
              <a:defRPr/>
            </a:pPr>
            <a:endParaRPr lang="en-US" altLang="en-US" sz="2000">
              <a:solidFill>
                <a:srgbClr val="000000"/>
              </a:solidFill>
            </a:endParaRPr>
          </a:p>
          <a:p>
            <a:pPr>
              <a:lnSpc>
                <a:spcPct val="90000"/>
              </a:lnSpc>
              <a:buFontTx/>
              <a:buChar char=" "/>
              <a:defRPr/>
            </a:pPr>
            <a:endParaRPr lang="en-US" altLang="en-US" sz="2000" b="1">
              <a:solidFill>
                <a:schemeClr val="tx1">
                  <a:lumMod val="75000"/>
                  <a:lumOff val="25000"/>
                </a:schemeClr>
              </a:solidFill>
            </a:endParaRPr>
          </a:p>
        </p:txBody>
      </p:sp>
      <p:sp>
        <p:nvSpPr>
          <p:cNvPr id="4" name="Rectangle 6">
            <a:extLst>
              <a:ext uri="{FF2B5EF4-FFF2-40B4-BE49-F238E27FC236}">
                <a16:creationId xmlns:a16="http://schemas.microsoft.com/office/drawing/2014/main" id="{C74FED43-CBE3-DA16-8026-684B86E8384E}"/>
              </a:ext>
            </a:extLst>
          </p:cNvPr>
          <p:cNvSpPr txBox="1">
            <a:spLocks noChangeArrowheads="1"/>
          </p:cNvSpPr>
          <p:nvPr/>
        </p:nvSpPr>
        <p:spPr>
          <a:xfrm>
            <a:off x="6200775" y="2136775"/>
            <a:ext cx="3197225" cy="3767138"/>
          </a:xfrm>
          <a:prstGeom prst="rect">
            <a:avLst/>
          </a:prstGeom>
        </p:spPr>
        <p:txBody>
          <a:bodyPr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 typeface="Wingdings 3" charset="2"/>
              <a:buChar char=""/>
              <a:defRPr/>
            </a:pPr>
            <a:r>
              <a:rPr lang="en-US" altLang="en-US" sz="2800">
                <a:solidFill>
                  <a:schemeClr val="tx1">
                    <a:lumMod val="75000"/>
                    <a:lumOff val="25000"/>
                  </a:schemeClr>
                </a:solidFill>
              </a:rPr>
              <a:t>Here’s how it would look on the Web:</a:t>
            </a:r>
          </a:p>
        </p:txBody>
      </p:sp>
      <p:pic>
        <p:nvPicPr>
          <p:cNvPr id="5" name="Picture 5">
            <a:extLst>
              <a:ext uri="{FF2B5EF4-FFF2-40B4-BE49-F238E27FC236}">
                <a16:creationId xmlns:a16="http://schemas.microsoft.com/office/drawing/2014/main" id="{DD5F7CB0-C22D-5F32-DC41-2E4FB64232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a:xfrm>
            <a:off x="6502400" y="3429000"/>
            <a:ext cx="3505200" cy="1196975"/>
          </a:xfrm>
          <a:prstGeom prst="rect">
            <a:avLst/>
          </a:prstGeom>
          <a:noFill/>
        </p:spPr>
      </p:pic>
    </p:spTree>
    <p:extLst>
      <p:ext uri="{BB962C8B-B14F-4D97-AF65-F5344CB8AC3E}">
        <p14:creationId xmlns:p14="http://schemas.microsoft.com/office/powerpoint/2010/main" val="2399670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E5DCE59-8649-EE2B-8FF1-8E80BD8C0C65}"/>
              </a:ext>
            </a:extLst>
          </p:cNvPr>
          <p:cNvSpPr txBox="1">
            <a:spLocks noChangeArrowheads="1"/>
          </p:cNvSpPr>
          <p:nvPr/>
        </p:nvSpPr>
        <p:spPr>
          <a:xfrm>
            <a:off x="743557" y="623888"/>
            <a:ext cx="10970157"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Creating Larger Text Areas</a:t>
            </a:r>
          </a:p>
        </p:txBody>
      </p:sp>
      <p:sp>
        <p:nvSpPr>
          <p:cNvPr id="3" name="Rectangle 3">
            <a:extLst>
              <a:ext uri="{FF2B5EF4-FFF2-40B4-BE49-F238E27FC236}">
                <a16:creationId xmlns:a16="http://schemas.microsoft.com/office/drawing/2014/main" id="{064DBDA5-FF73-0F71-B0C4-EC787F653405}"/>
              </a:ext>
            </a:extLst>
          </p:cNvPr>
          <p:cNvSpPr txBox="1">
            <a:spLocks noChangeArrowheads="1"/>
          </p:cNvSpPr>
          <p:nvPr/>
        </p:nvSpPr>
        <p:spPr>
          <a:xfrm>
            <a:off x="741680" y="2133600"/>
            <a:ext cx="1097280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To create larger text areas, type &lt;TEXTAREA NAME=“name” ROWS=n1 COLS=n2 WRAP&gt; Default Text &lt;/TEXTAREA&gt;, where n1 is the height of the text box in rows and n2 is the width of the text box in characters</a:t>
            </a:r>
          </a:p>
          <a:p>
            <a:r>
              <a:rPr lang="en-US" altLang="en-US"/>
              <a:t>The WRAP attribute causes the cursor to move automatically to the next line as the user types</a:t>
            </a:r>
          </a:p>
        </p:txBody>
      </p:sp>
    </p:spTree>
    <p:extLst>
      <p:ext uri="{BB962C8B-B14F-4D97-AF65-F5344CB8AC3E}">
        <p14:creationId xmlns:p14="http://schemas.microsoft.com/office/powerpoint/2010/main" val="361551591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9545894F-DA75-8AED-DD12-C3286D720490}"/>
              </a:ext>
            </a:extLst>
          </p:cNvPr>
          <p:cNvSpPr txBox="1">
            <a:spLocks noChangeArrowheads="1"/>
          </p:cNvSpPr>
          <p:nvPr/>
        </p:nvSpPr>
        <p:spPr>
          <a:xfrm>
            <a:off x="713085" y="623888"/>
            <a:ext cx="10695902"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Example: Text Area</a:t>
            </a:r>
          </a:p>
        </p:txBody>
      </p:sp>
      <p:sp>
        <p:nvSpPr>
          <p:cNvPr id="3" name="Rectangle 3">
            <a:extLst>
              <a:ext uri="{FF2B5EF4-FFF2-40B4-BE49-F238E27FC236}">
                <a16:creationId xmlns:a16="http://schemas.microsoft.com/office/drawing/2014/main" id="{0D4F18CB-F9E7-B41D-6205-F10C44C5B96E}"/>
              </a:ext>
            </a:extLst>
          </p:cNvPr>
          <p:cNvSpPr txBox="1">
            <a:spLocks noChangeArrowheads="1"/>
          </p:cNvSpPr>
          <p:nvPr/>
        </p:nvSpPr>
        <p:spPr>
          <a:xfrm>
            <a:off x="711200" y="2133600"/>
            <a:ext cx="1069848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Tx/>
              <a:buChar char=" "/>
            </a:pPr>
            <a:r>
              <a:rPr lang="en-US" altLang="en-US" sz="2800">
                <a:solidFill>
                  <a:srgbClr val="000000"/>
                </a:solidFill>
              </a:rPr>
              <a:t>&lt;B&gt;Comments?&lt;/B&gt;</a:t>
            </a:r>
          </a:p>
          <a:p>
            <a:pPr>
              <a:buFontTx/>
              <a:buChar char=" "/>
            </a:pPr>
            <a:r>
              <a:rPr lang="en-US" altLang="en-US" sz="2800">
                <a:solidFill>
                  <a:srgbClr val="000000"/>
                </a:solidFill>
              </a:rPr>
              <a:t>&lt;BR&gt;</a:t>
            </a:r>
          </a:p>
          <a:p>
            <a:pPr>
              <a:buFontTx/>
              <a:buChar char=" "/>
            </a:pPr>
            <a:r>
              <a:rPr lang="en-US" altLang="en-US" sz="2800">
                <a:solidFill>
                  <a:srgbClr val="000000"/>
                </a:solidFill>
              </a:rPr>
              <a:t>&lt;TEXTAREA NAME="Comments" ROWS=10 COLS=50 WRAP&gt;</a:t>
            </a:r>
          </a:p>
          <a:p>
            <a:pPr>
              <a:buFontTx/>
              <a:buChar char=" "/>
            </a:pPr>
            <a:r>
              <a:rPr lang="en-US" altLang="en-US" sz="2800">
                <a:solidFill>
                  <a:srgbClr val="000000"/>
                </a:solidFill>
              </a:rPr>
              <a:t>&lt;/TEXTAREA&gt;</a:t>
            </a:r>
            <a:endParaRPr lang="en-US" altLang="en-US"/>
          </a:p>
        </p:txBody>
      </p:sp>
    </p:spTree>
    <p:extLst>
      <p:ext uri="{BB962C8B-B14F-4D97-AF65-F5344CB8AC3E}">
        <p14:creationId xmlns:p14="http://schemas.microsoft.com/office/powerpoint/2010/main" val="391164013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556EAA4-809C-4D3F-1EC4-B3E528CB6854}"/>
              </a:ext>
            </a:extLst>
          </p:cNvPr>
          <p:cNvSpPr txBox="1">
            <a:spLocks noChangeArrowheads="1"/>
          </p:cNvSpPr>
          <p:nvPr/>
        </p:nvSpPr>
        <p:spPr>
          <a:xfrm>
            <a:off x="804503" y="623888"/>
            <a:ext cx="10777163"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Creating Radio Buttons</a:t>
            </a:r>
          </a:p>
        </p:txBody>
      </p:sp>
      <p:sp>
        <p:nvSpPr>
          <p:cNvPr id="3" name="Rectangle 3">
            <a:extLst>
              <a:ext uri="{FF2B5EF4-FFF2-40B4-BE49-F238E27FC236}">
                <a16:creationId xmlns:a16="http://schemas.microsoft.com/office/drawing/2014/main" id="{CF2A07C4-FD31-16B2-B398-067BF153B422}"/>
              </a:ext>
            </a:extLst>
          </p:cNvPr>
          <p:cNvSpPr txBox="1">
            <a:spLocks noChangeArrowheads="1"/>
          </p:cNvSpPr>
          <p:nvPr/>
        </p:nvSpPr>
        <p:spPr>
          <a:xfrm>
            <a:off x="802640" y="2133600"/>
            <a:ext cx="1077976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altLang="en-US" dirty="0"/>
              <a:t>To create a radio button, </a:t>
            </a:r>
          </a:p>
          <a:p>
            <a:r>
              <a:rPr lang="en-US" altLang="en-US" dirty="0"/>
              <a:t>type &lt;INPUT TYPE=“radio” NAME=“name” VALUE=“data”&gt;Label, </a:t>
            </a:r>
          </a:p>
          <a:p>
            <a:r>
              <a:rPr lang="en-US" altLang="en-US" dirty="0"/>
              <a:t>where “data” is the text that will be sent to the server if the button is checked and </a:t>
            </a:r>
          </a:p>
          <a:p>
            <a:r>
              <a:rPr lang="en-US" altLang="en-US" dirty="0"/>
              <a:t>“Label” is the text that identifies the button to the user </a:t>
            </a:r>
          </a:p>
        </p:txBody>
      </p:sp>
    </p:spTree>
    <p:extLst>
      <p:ext uri="{BB962C8B-B14F-4D97-AF65-F5344CB8AC3E}">
        <p14:creationId xmlns:p14="http://schemas.microsoft.com/office/powerpoint/2010/main" val="36130636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677AA057-5658-704A-1163-96D9FF39D17A}"/>
              </a:ext>
            </a:extLst>
          </p:cNvPr>
          <p:cNvSpPr txBox="1">
            <a:spLocks noChangeArrowheads="1"/>
          </p:cNvSpPr>
          <p:nvPr/>
        </p:nvSpPr>
        <p:spPr>
          <a:xfrm>
            <a:off x="824817" y="623888"/>
            <a:ext cx="11041259"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Example: Radio Buttons</a:t>
            </a:r>
          </a:p>
        </p:txBody>
      </p:sp>
      <p:sp>
        <p:nvSpPr>
          <p:cNvPr id="3" name="Rectangle 3">
            <a:extLst>
              <a:ext uri="{FF2B5EF4-FFF2-40B4-BE49-F238E27FC236}">
                <a16:creationId xmlns:a16="http://schemas.microsoft.com/office/drawing/2014/main" id="{8143EED9-FC3F-602F-8844-B79813724117}"/>
              </a:ext>
            </a:extLst>
          </p:cNvPr>
          <p:cNvSpPr txBox="1">
            <a:spLocks noChangeArrowheads="1"/>
          </p:cNvSpPr>
          <p:nvPr/>
        </p:nvSpPr>
        <p:spPr>
          <a:xfrm>
            <a:off x="822960" y="2133600"/>
            <a:ext cx="11043920" cy="3778250"/>
          </a:xfrm>
          <a:prstGeom prst="rect">
            <a:avLst/>
          </a:prstGeom>
        </p:spPr>
        <p:txBody>
          <a:bodyPr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Tx/>
              <a:buChar char=" "/>
              <a:defRPr/>
            </a:pPr>
            <a:r>
              <a:rPr lang="en-US" altLang="en-US" sz="2800">
                <a:solidFill>
                  <a:srgbClr val="000000"/>
                </a:solidFill>
              </a:rPr>
              <a:t>&lt;B&gt; Size: &lt;/B&gt;</a:t>
            </a:r>
          </a:p>
          <a:p>
            <a:pPr>
              <a:buFontTx/>
              <a:buNone/>
              <a:defRPr/>
            </a:pPr>
            <a:r>
              <a:rPr lang="en-US" altLang="en-US" sz="2800">
                <a:solidFill>
                  <a:srgbClr val="000000"/>
                </a:solidFill>
              </a:rPr>
              <a:t>	&lt;INPUT TYPE="radio" NAME="Size" 		  </a:t>
            </a:r>
          </a:p>
          <a:p>
            <a:pPr>
              <a:buFontTx/>
              <a:buNone/>
              <a:defRPr/>
            </a:pPr>
            <a:r>
              <a:rPr lang="en-US" altLang="en-US" sz="2800">
                <a:solidFill>
                  <a:srgbClr val="000000"/>
                </a:solidFill>
              </a:rPr>
              <a:t>      VALUE="Large"&gt;Large</a:t>
            </a:r>
          </a:p>
          <a:p>
            <a:pPr>
              <a:buFontTx/>
              <a:buNone/>
              <a:defRPr/>
            </a:pPr>
            <a:r>
              <a:rPr lang="en-US" altLang="en-US" sz="2800">
                <a:solidFill>
                  <a:srgbClr val="000000"/>
                </a:solidFill>
              </a:rPr>
              <a:t>	&lt;INPUT TYPE="radio" NAME="Size" 		  </a:t>
            </a:r>
          </a:p>
          <a:p>
            <a:pPr>
              <a:buFontTx/>
              <a:buNone/>
              <a:defRPr/>
            </a:pPr>
            <a:r>
              <a:rPr lang="en-US" altLang="en-US" sz="2800">
                <a:solidFill>
                  <a:srgbClr val="000000"/>
                </a:solidFill>
              </a:rPr>
              <a:t>      VALUE="Medium"&gt;Medium</a:t>
            </a:r>
          </a:p>
          <a:p>
            <a:pPr>
              <a:buFontTx/>
              <a:buNone/>
              <a:defRPr/>
            </a:pPr>
            <a:r>
              <a:rPr lang="en-US" altLang="en-US" sz="2800">
                <a:solidFill>
                  <a:srgbClr val="000000"/>
                </a:solidFill>
              </a:rPr>
              <a:t>	&lt;INPUT TYPE="radio" NAME="Size" 		</a:t>
            </a:r>
          </a:p>
          <a:p>
            <a:pPr>
              <a:buFontTx/>
              <a:buNone/>
              <a:defRPr/>
            </a:pPr>
            <a:r>
              <a:rPr lang="en-US" altLang="en-US" sz="2800">
                <a:solidFill>
                  <a:srgbClr val="000000"/>
                </a:solidFill>
              </a:rPr>
              <a:t>	  VALUE="Small"&gt;Small</a:t>
            </a:r>
            <a:endParaRPr lang="en-US" altLang="en-US" sz="2400">
              <a:solidFill>
                <a:srgbClr val="000000"/>
              </a:solidFill>
            </a:endParaRPr>
          </a:p>
          <a:p>
            <a:pPr>
              <a:buFontTx/>
              <a:buChar char=" "/>
              <a:defRPr/>
            </a:pPr>
            <a:endParaRPr lang="en-US" altLang="en-US">
              <a:solidFill>
                <a:schemeClr val="tx1">
                  <a:lumMod val="75000"/>
                  <a:lumOff val="25000"/>
                </a:schemeClr>
              </a:solidFill>
            </a:endParaRPr>
          </a:p>
        </p:txBody>
      </p:sp>
    </p:spTree>
    <p:extLst>
      <p:ext uri="{BB962C8B-B14F-4D97-AF65-F5344CB8AC3E}">
        <p14:creationId xmlns:p14="http://schemas.microsoft.com/office/powerpoint/2010/main" val="35806892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DAED3FD4-74AA-19EF-7AE6-76A3AA3EE315}"/>
              </a:ext>
            </a:extLst>
          </p:cNvPr>
          <p:cNvSpPr txBox="1">
            <a:spLocks noChangeArrowheads="1"/>
          </p:cNvSpPr>
          <p:nvPr/>
        </p:nvSpPr>
        <p:spPr>
          <a:xfrm>
            <a:off x="774030" y="623888"/>
            <a:ext cx="10665430"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Creating Checkboxes</a:t>
            </a:r>
          </a:p>
        </p:txBody>
      </p:sp>
      <p:sp>
        <p:nvSpPr>
          <p:cNvPr id="3" name="Rectangle 3">
            <a:extLst>
              <a:ext uri="{FF2B5EF4-FFF2-40B4-BE49-F238E27FC236}">
                <a16:creationId xmlns:a16="http://schemas.microsoft.com/office/drawing/2014/main" id="{7E0FB821-1BEA-A039-ADF1-B7B7FF9A38CA}"/>
              </a:ext>
            </a:extLst>
          </p:cNvPr>
          <p:cNvSpPr txBox="1">
            <a:spLocks noChangeArrowheads="1"/>
          </p:cNvSpPr>
          <p:nvPr/>
        </p:nvSpPr>
        <p:spPr>
          <a:xfrm>
            <a:off x="772160" y="2133600"/>
            <a:ext cx="1066800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To create a checkbox, type &lt;INPUT TYPE=“checkbox” NAME=“name” VALUE=“value”&gt;Label</a:t>
            </a:r>
          </a:p>
          <a:p>
            <a:r>
              <a:rPr lang="en-US" altLang="en-US"/>
              <a:t>If you give a group of radio buttons or checkboxes the same name, the user will only be able to select one button or box at a time</a:t>
            </a:r>
          </a:p>
          <a:p>
            <a:endParaRPr lang="en-US" altLang="en-US"/>
          </a:p>
        </p:txBody>
      </p:sp>
    </p:spTree>
    <p:extLst>
      <p:ext uri="{BB962C8B-B14F-4D97-AF65-F5344CB8AC3E}">
        <p14:creationId xmlns:p14="http://schemas.microsoft.com/office/powerpoint/2010/main" val="21642080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C3F6AAFC-2706-54E6-5B4D-E755C8EE0C2E}"/>
              </a:ext>
            </a:extLst>
          </p:cNvPr>
          <p:cNvSpPr txBox="1">
            <a:spLocks noChangeArrowheads="1"/>
          </p:cNvSpPr>
          <p:nvPr/>
        </p:nvSpPr>
        <p:spPr>
          <a:xfrm>
            <a:off x="1944687" y="623888"/>
            <a:ext cx="9515087"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Example: Checkboxes</a:t>
            </a:r>
          </a:p>
        </p:txBody>
      </p:sp>
      <p:sp>
        <p:nvSpPr>
          <p:cNvPr id="3" name="Rectangle 3">
            <a:extLst>
              <a:ext uri="{FF2B5EF4-FFF2-40B4-BE49-F238E27FC236}">
                <a16:creationId xmlns:a16="http://schemas.microsoft.com/office/drawing/2014/main" id="{9F1877EF-0D01-7106-A7AD-C9DF7BCA8AF1}"/>
              </a:ext>
            </a:extLst>
          </p:cNvPr>
          <p:cNvSpPr txBox="1">
            <a:spLocks noChangeArrowheads="1"/>
          </p:cNvSpPr>
          <p:nvPr/>
        </p:nvSpPr>
        <p:spPr>
          <a:xfrm>
            <a:off x="1943100" y="2133600"/>
            <a:ext cx="9517380" cy="3778250"/>
          </a:xfrm>
          <a:prstGeom prst="rect">
            <a:avLst/>
          </a:prstGeom>
        </p:spPr>
        <p:txBody>
          <a:bodyPr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Tx/>
              <a:buChar char=" "/>
              <a:defRPr/>
            </a:pPr>
            <a:r>
              <a:rPr lang="en-US" altLang="en-US" sz="2400">
                <a:solidFill>
                  <a:srgbClr val="000000"/>
                </a:solidFill>
              </a:rPr>
              <a:t>      	</a:t>
            </a:r>
            <a:r>
              <a:rPr lang="en-US" altLang="en-US" sz="2800">
                <a:solidFill>
                  <a:srgbClr val="000000"/>
                </a:solidFill>
              </a:rPr>
              <a:t>&lt;B&gt; Color: &lt;/B&gt;</a:t>
            </a:r>
          </a:p>
          <a:p>
            <a:pPr>
              <a:buFontTx/>
              <a:buNone/>
              <a:defRPr/>
            </a:pPr>
            <a:r>
              <a:rPr lang="en-US" altLang="en-US" sz="2800">
                <a:solidFill>
                  <a:srgbClr val="000000"/>
                </a:solidFill>
              </a:rPr>
              <a:t>		&lt;INPUT TYPE="checkbox" NAME="Color" 	  VALUE="Red"&gt;Red</a:t>
            </a:r>
          </a:p>
          <a:p>
            <a:pPr>
              <a:buFontTx/>
              <a:buNone/>
              <a:defRPr/>
            </a:pPr>
            <a:r>
              <a:rPr lang="en-US" altLang="en-US" sz="2800">
                <a:solidFill>
                  <a:srgbClr val="000000"/>
                </a:solidFill>
              </a:rPr>
              <a:t>		&lt;INPUT TYPE="checkbox" NAME="Color"                </a:t>
            </a:r>
          </a:p>
          <a:p>
            <a:pPr>
              <a:buFontTx/>
              <a:buNone/>
              <a:defRPr/>
            </a:pPr>
            <a:r>
              <a:rPr lang="en-US" altLang="en-US" sz="2800">
                <a:solidFill>
                  <a:srgbClr val="000000"/>
                </a:solidFill>
              </a:rPr>
              <a:t>              VALUE="Navy"&gt;Navy</a:t>
            </a:r>
          </a:p>
          <a:p>
            <a:pPr>
              <a:buFontTx/>
              <a:buNone/>
              <a:defRPr/>
            </a:pPr>
            <a:r>
              <a:rPr lang="en-US" altLang="en-US" sz="2800">
                <a:solidFill>
                  <a:srgbClr val="000000"/>
                </a:solidFill>
              </a:rPr>
              <a:t>            &lt;INPUT TYPE="checkbox" NAME="Color"   </a:t>
            </a:r>
          </a:p>
          <a:p>
            <a:pPr>
              <a:buFontTx/>
              <a:buNone/>
              <a:defRPr/>
            </a:pPr>
            <a:r>
              <a:rPr lang="en-US" altLang="en-US" sz="2800">
                <a:solidFill>
                  <a:srgbClr val="000000"/>
                </a:solidFill>
              </a:rPr>
              <a:t>              VALUE="Black"&gt;Black</a:t>
            </a:r>
          </a:p>
        </p:txBody>
      </p:sp>
    </p:spTree>
    <p:extLst>
      <p:ext uri="{BB962C8B-B14F-4D97-AF65-F5344CB8AC3E}">
        <p14:creationId xmlns:p14="http://schemas.microsoft.com/office/powerpoint/2010/main" val="36401647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7297E99B-9284-C6CD-1CA5-80431CC5FF88}"/>
              </a:ext>
            </a:extLst>
          </p:cNvPr>
          <p:cNvSpPr txBox="1">
            <a:spLocks noChangeArrowheads="1"/>
          </p:cNvSpPr>
          <p:nvPr/>
        </p:nvSpPr>
        <p:spPr>
          <a:xfrm>
            <a:off x="1210805" y="623888"/>
            <a:ext cx="10299758"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Creating Drop-down Menus</a:t>
            </a:r>
          </a:p>
        </p:txBody>
      </p:sp>
      <p:sp>
        <p:nvSpPr>
          <p:cNvPr id="3" name="Rectangle 3">
            <a:extLst>
              <a:ext uri="{FF2B5EF4-FFF2-40B4-BE49-F238E27FC236}">
                <a16:creationId xmlns:a16="http://schemas.microsoft.com/office/drawing/2014/main" id="{DCBE1362-A793-7BD2-ACDE-EB49D9D225B1}"/>
              </a:ext>
            </a:extLst>
          </p:cNvPr>
          <p:cNvSpPr txBox="1">
            <a:spLocks noChangeArrowheads="1"/>
          </p:cNvSpPr>
          <p:nvPr/>
        </p:nvSpPr>
        <p:spPr>
          <a:xfrm>
            <a:off x="1209040" y="2133600"/>
            <a:ext cx="1030224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To create a drop-down menu, type &lt;SELECT NAME=“name” SIZE=n MULTIPLE&gt;</a:t>
            </a:r>
          </a:p>
          <a:p>
            <a:r>
              <a:rPr lang="en-US" altLang="en-US"/>
              <a:t>Then type &lt;OPTION VALUE= “value”&gt;Label</a:t>
            </a:r>
          </a:p>
          <a:p>
            <a:r>
              <a:rPr lang="en-US" altLang="en-US"/>
              <a:t>In this case the SIZE attribute specifies the height of the menu in lines and MULTIPLE allows users to select more than one menu option </a:t>
            </a:r>
          </a:p>
          <a:p>
            <a:endParaRPr lang="en-US" altLang="en-US"/>
          </a:p>
        </p:txBody>
      </p:sp>
    </p:spTree>
    <p:extLst>
      <p:ext uri="{BB962C8B-B14F-4D97-AF65-F5344CB8AC3E}">
        <p14:creationId xmlns:p14="http://schemas.microsoft.com/office/powerpoint/2010/main" val="7840173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6">
            <a:extLst>
              <a:ext uri="{FF2B5EF4-FFF2-40B4-BE49-F238E27FC236}">
                <a16:creationId xmlns:a16="http://schemas.microsoft.com/office/drawing/2014/main" id="{338516AE-E63B-A1F3-ABF6-07BD7B519B63}"/>
              </a:ext>
            </a:extLst>
          </p:cNvPr>
          <p:cNvSpPr txBox="1">
            <a:spLocks noChangeArrowheads="1"/>
          </p:cNvSpPr>
          <p:nvPr/>
        </p:nvSpPr>
        <p:spPr>
          <a:xfrm>
            <a:off x="865447" y="623888"/>
            <a:ext cx="10675587"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Example: Drop-down Menu</a:t>
            </a:r>
          </a:p>
        </p:txBody>
      </p:sp>
      <p:sp>
        <p:nvSpPr>
          <p:cNvPr id="3" name="Rectangle 1027">
            <a:extLst>
              <a:ext uri="{FF2B5EF4-FFF2-40B4-BE49-F238E27FC236}">
                <a16:creationId xmlns:a16="http://schemas.microsoft.com/office/drawing/2014/main" id="{0E37E0C6-8BAE-2DFE-8548-353D33CDC9DD}"/>
              </a:ext>
            </a:extLst>
          </p:cNvPr>
          <p:cNvSpPr txBox="1">
            <a:spLocks noChangeArrowheads="1"/>
          </p:cNvSpPr>
          <p:nvPr/>
        </p:nvSpPr>
        <p:spPr>
          <a:xfrm>
            <a:off x="863600" y="2133600"/>
            <a:ext cx="10678160" cy="3778250"/>
          </a:xfrm>
          <a:prstGeom prst="rect">
            <a:avLst/>
          </a:prstGeom>
        </p:spPr>
        <p:txBody>
          <a:bodyPr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Tx/>
              <a:buNone/>
              <a:defRPr/>
            </a:pPr>
            <a:r>
              <a:rPr lang="en-US" altLang="en-US" sz="2400" b="1">
                <a:solidFill>
                  <a:srgbClr val="000000"/>
                </a:solidFill>
              </a:rPr>
              <a:t>&lt;B&gt;</a:t>
            </a:r>
            <a:r>
              <a:rPr lang="en-US" altLang="en-US" sz="2400">
                <a:solidFill>
                  <a:srgbClr val="000000"/>
                </a:solidFill>
              </a:rPr>
              <a:t>WHICH IS FAVOURITE FRUIT</a:t>
            </a:r>
            <a:r>
              <a:rPr lang="en-US" altLang="en-US" sz="2400" b="1">
                <a:solidFill>
                  <a:srgbClr val="000000"/>
                </a:solidFill>
              </a:rPr>
              <a:t>:&lt;/B&gt;</a:t>
            </a:r>
          </a:p>
          <a:p>
            <a:pPr>
              <a:buFontTx/>
              <a:buNone/>
              <a:defRPr/>
            </a:pPr>
            <a:r>
              <a:rPr lang="en-US" altLang="en-US" sz="2400" b="1">
                <a:solidFill>
                  <a:srgbClr val="000000"/>
                </a:solidFill>
              </a:rPr>
              <a:t>&lt;SELECT&gt;</a:t>
            </a:r>
          </a:p>
          <a:p>
            <a:pPr>
              <a:buFontTx/>
              <a:buNone/>
              <a:defRPr/>
            </a:pPr>
            <a:r>
              <a:rPr lang="en-US" altLang="en-US" sz="2400" b="1">
                <a:solidFill>
                  <a:srgbClr val="000000"/>
                </a:solidFill>
              </a:rPr>
              <a:t>&lt;OPTION</a:t>
            </a:r>
            <a:r>
              <a:rPr lang="en-US" altLang="en-US" sz="2400">
                <a:solidFill>
                  <a:srgbClr val="000000"/>
                </a:solidFill>
              </a:rPr>
              <a:t> </a:t>
            </a:r>
            <a:r>
              <a:rPr lang="en-US" altLang="en-US" sz="2400">
                <a:solidFill>
                  <a:srgbClr val="000000"/>
                </a:solidFill>
                <a:latin typeface="Courier" charset="0"/>
              </a:rPr>
              <a:t>VALUE</a:t>
            </a:r>
            <a:r>
              <a:rPr lang="en-US" altLang="en-US" sz="2400">
                <a:solidFill>
                  <a:srgbClr val="000000"/>
                </a:solidFill>
              </a:rPr>
              <a:t>="MANGOES"</a:t>
            </a:r>
            <a:r>
              <a:rPr lang="en-US" altLang="en-US" sz="2400" b="1">
                <a:solidFill>
                  <a:srgbClr val="000000"/>
                </a:solidFill>
              </a:rPr>
              <a:t>&gt;</a:t>
            </a:r>
            <a:r>
              <a:rPr lang="en-US" altLang="en-US" sz="2400">
                <a:solidFill>
                  <a:srgbClr val="000000"/>
                </a:solidFill>
              </a:rPr>
              <a:t>MANGOES </a:t>
            </a:r>
          </a:p>
          <a:p>
            <a:pPr>
              <a:buFontTx/>
              <a:buNone/>
              <a:defRPr/>
            </a:pPr>
            <a:r>
              <a:rPr lang="en-US" altLang="en-US" sz="2400" b="1">
                <a:solidFill>
                  <a:srgbClr val="000000"/>
                </a:solidFill>
              </a:rPr>
              <a:t>&lt;OPTION</a:t>
            </a:r>
            <a:r>
              <a:rPr lang="en-US" altLang="en-US" sz="2400">
                <a:solidFill>
                  <a:srgbClr val="000000"/>
                </a:solidFill>
              </a:rPr>
              <a:t> </a:t>
            </a:r>
            <a:r>
              <a:rPr lang="en-US" altLang="en-US" sz="2400">
                <a:solidFill>
                  <a:srgbClr val="000000"/>
                </a:solidFill>
                <a:latin typeface="Courier" charset="0"/>
              </a:rPr>
              <a:t>VALUE</a:t>
            </a:r>
            <a:r>
              <a:rPr lang="en-US" altLang="en-US" sz="2400">
                <a:solidFill>
                  <a:srgbClr val="000000"/>
                </a:solidFill>
              </a:rPr>
              <a:t>="PAPAYA"</a:t>
            </a:r>
            <a:r>
              <a:rPr lang="en-US" altLang="en-US" sz="2400" b="1">
                <a:solidFill>
                  <a:srgbClr val="000000"/>
                </a:solidFill>
              </a:rPr>
              <a:t>&gt;</a:t>
            </a:r>
            <a:r>
              <a:rPr lang="en-US" altLang="en-US" sz="2400">
                <a:solidFill>
                  <a:srgbClr val="000000"/>
                </a:solidFill>
              </a:rPr>
              <a:t>PAPAYA </a:t>
            </a:r>
          </a:p>
          <a:p>
            <a:pPr>
              <a:buFontTx/>
              <a:buNone/>
              <a:defRPr/>
            </a:pPr>
            <a:r>
              <a:rPr lang="en-US" altLang="en-US" sz="2400" b="1">
                <a:solidFill>
                  <a:srgbClr val="000000"/>
                </a:solidFill>
              </a:rPr>
              <a:t>&lt;OPTION</a:t>
            </a:r>
            <a:r>
              <a:rPr lang="en-US" altLang="en-US" sz="2400">
                <a:solidFill>
                  <a:srgbClr val="000000"/>
                </a:solidFill>
              </a:rPr>
              <a:t> </a:t>
            </a:r>
            <a:r>
              <a:rPr lang="en-US" altLang="en-US" sz="2400">
                <a:solidFill>
                  <a:srgbClr val="000000"/>
                </a:solidFill>
                <a:latin typeface="Courier" charset="0"/>
              </a:rPr>
              <a:t>VALUE</a:t>
            </a:r>
            <a:r>
              <a:rPr lang="en-US" altLang="en-US" sz="2400">
                <a:solidFill>
                  <a:srgbClr val="000000"/>
                </a:solidFill>
              </a:rPr>
              <a:t>="GUAVA"</a:t>
            </a:r>
            <a:r>
              <a:rPr lang="en-US" altLang="en-US" sz="2400" b="1">
                <a:solidFill>
                  <a:srgbClr val="000000"/>
                </a:solidFill>
              </a:rPr>
              <a:t>&gt;</a:t>
            </a:r>
            <a:r>
              <a:rPr lang="en-US" altLang="en-US" sz="2400">
                <a:solidFill>
                  <a:srgbClr val="000000"/>
                </a:solidFill>
              </a:rPr>
              <a:t>GUAVA </a:t>
            </a:r>
          </a:p>
          <a:p>
            <a:pPr>
              <a:buFontTx/>
              <a:buNone/>
              <a:defRPr/>
            </a:pPr>
            <a:r>
              <a:rPr lang="en-US" altLang="en-US" sz="2400" b="1">
                <a:solidFill>
                  <a:srgbClr val="000000"/>
                </a:solidFill>
              </a:rPr>
              <a:t>&lt;OPTION</a:t>
            </a:r>
            <a:r>
              <a:rPr lang="en-US" altLang="en-US" sz="2400">
                <a:solidFill>
                  <a:srgbClr val="000000"/>
                </a:solidFill>
              </a:rPr>
              <a:t> </a:t>
            </a:r>
            <a:r>
              <a:rPr lang="en-US" altLang="en-US" sz="2400">
                <a:solidFill>
                  <a:srgbClr val="000000"/>
                </a:solidFill>
                <a:latin typeface="Courier" charset="0"/>
              </a:rPr>
              <a:t>VALUE</a:t>
            </a:r>
            <a:r>
              <a:rPr lang="en-US" altLang="en-US" sz="2400">
                <a:solidFill>
                  <a:srgbClr val="000000"/>
                </a:solidFill>
              </a:rPr>
              <a:t>="BANANA"</a:t>
            </a:r>
            <a:r>
              <a:rPr lang="en-US" altLang="en-US" sz="2400" b="1">
                <a:solidFill>
                  <a:srgbClr val="000000"/>
                </a:solidFill>
              </a:rPr>
              <a:t>&gt;</a:t>
            </a:r>
            <a:r>
              <a:rPr lang="en-US" altLang="en-US" sz="2400">
                <a:solidFill>
                  <a:srgbClr val="000000"/>
                </a:solidFill>
              </a:rPr>
              <a:t> BANANA</a:t>
            </a:r>
          </a:p>
          <a:p>
            <a:pPr>
              <a:buFontTx/>
              <a:buNone/>
              <a:defRPr/>
            </a:pPr>
            <a:r>
              <a:rPr lang="en-US" altLang="en-US" sz="2400" b="1">
                <a:solidFill>
                  <a:srgbClr val="000000"/>
                </a:solidFill>
              </a:rPr>
              <a:t>&lt;OPTION</a:t>
            </a:r>
            <a:r>
              <a:rPr lang="en-US" altLang="en-US" sz="2400">
                <a:solidFill>
                  <a:srgbClr val="000000"/>
                </a:solidFill>
              </a:rPr>
              <a:t> </a:t>
            </a:r>
            <a:r>
              <a:rPr lang="en-US" altLang="en-US" sz="2400">
                <a:solidFill>
                  <a:srgbClr val="000000"/>
                </a:solidFill>
                <a:latin typeface="Courier" charset="0"/>
              </a:rPr>
              <a:t>VALUE</a:t>
            </a:r>
            <a:r>
              <a:rPr lang="en-US" altLang="en-US" sz="2400">
                <a:solidFill>
                  <a:srgbClr val="000000"/>
                </a:solidFill>
              </a:rPr>
              <a:t>="PINEAPPLE</a:t>
            </a:r>
            <a:r>
              <a:rPr lang="en-US" altLang="en-US" sz="2400" b="1">
                <a:solidFill>
                  <a:srgbClr val="000000"/>
                </a:solidFill>
              </a:rPr>
              <a:t>"&gt;</a:t>
            </a:r>
            <a:r>
              <a:rPr lang="en-US" altLang="en-US" sz="2400">
                <a:solidFill>
                  <a:srgbClr val="000000"/>
                </a:solidFill>
              </a:rPr>
              <a:t>PINEAPPLE</a:t>
            </a:r>
          </a:p>
          <a:p>
            <a:pPr>
              <a:buFontTx/>
              <a:buNone/>
              <a:defRPr/>
            </a:pPr>
            <a:r>
              <a:rPr lang="en-US" altLang="en-US" sz="2400" b="1">
                <a:solidFill>
                  <a:srgbClr val="000000"/>
                </a:solidFill>
              </a:rPr>
              <a:t>&lt;/SELECT&gt;</a:t>
            </a:r>
            <a:r>
              <a:rPr lang="en-US" altLang="en-US" sz="1000" b="1">
                <a:solidFill>
                  <a:srgbClr val="000000"/>
                </a:solidFill>
                <a:latin typeface="Geneva" charset="0"/>
              </a:rPr>
              <a:t> </a:t>
            </a:r>
          </a:p>
        </p:txBody>
      </p:sp>
    </p:spTree>
    <p:extLst>
      <p:ext uri="{BB962C8B-B14F-4D97-AF65-F5344CB8AC3E}">
        <p14:creationId xmlns:p14="http://schemas.microsoft.com/office/powerpoint/2010/main" val="104044824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EF978EAD-8A60-3803-8698-3763B2BE8FBA}"/>
              </a:ext>
            </a:extLst>
          </p:cNvPr>
          <p:cNvSpPr txBox="1">
            <a:spLocks noChangeArrowheads="1"/>
          </p:cNvSpPr>
          <p:nvPr/>
        </p:nvSpPr>
        <p:spPr>
          <a:xfrm>
            <a:off x="845133" y="623888"/>
            <a:ext cx="10259128"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Creating a Submit Button</a:t>
            </a:r>
          </a:p>
        </p:txBody>
      </p:sp>
      <p:sp>
        <p:nvSpPr>
          <p:cNvPr id="3" name="Rectangle 3">
            <a:extLst>
              <a:ext uri="{FF2B5EF4-FFF2-40B4-BE49-F238E27FC236}">
                <a16:creationId xmlns:a16="http://schemas.microsoft.com/office/drawing/2014/main" id="{8C55314F-EE39-A89F-3614-59B8A82C7CC6}"/>
              </a:ext>
            </a:extLst>
          </p:cNvPr>
          <p:cNvSpPr txBox="1">
            <a:spLocks noChangeArrowheads="1"/>
          </p:cNvSpPr>
          <p:nvPr/>
        </p:nvSpPr>
        <p:spPr>
          <a:xfrm>
            <a:off x="843280" y="2133600"/>
            <a:ext cx="1026160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To create a submit button, type &lt;INPUT TYPE=“submit”&gt;</a:t>
            </a:r>
          </a:p>
          <a:p>
            <a:r>
              <a:rPr lang="en-US" altLang="en-US"/>
              <a:t>If you would like the button to say something other than submit, use the VALUE attribute</a:t>
            </a:r>
          </a:p>
          <a:p>
            <a:r>
              <a:rPr lang="en-US" altLang="en-US"/>
              <a:t>For example, &lt;INPUT TYPE=“submit” VALUE=“Buy Now!”&gt; would create a button that says “Buy Now!”</a:t>
            </a:r>
          </a:p>
        </p:txBody>
      </p:sp>
    </p:spTree>
    <p:extLst>
      <p:ext uri="{BB962C8B-B14F-4D97-AF65-F5344CB8AC3E}">
        <p14:creationId xmlns:p14="http://schemas.microsoft.com/office/powerpoint/2010/main" val="21948657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6">
            <a:extLst>
              <a:ext uri="{FF2B5EF4-FFF2-40B4-BE49-F238E27FC236}">
                <a16:creationId xmlns:a16="http://schemas.microsoft.com/office/drawing/2014/main" id="{67DFF393-442A-5319-E238-EEF937CF11C5}"/>
              </a:ext>
            </a:extLst>
          </p:cNvPr>
          <p:cNvSpPr txBox="1">
            <a:spLocks noChangeArrowheads="1"/>
          </p:cNvSpPr>
          <p:nvPr/>
        </p:nvSpPr>
        <p:spPr>
          <a:xfrm>
            <a:off x="845133" y="623888"/>
            <a:ext cx="10807636"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a:t>Creating a Reset Button</a:t>
            </a:r>
          </a:p>
        </p:txBody>
      </p:sp>
      <p:sp>
        <p:nvSpPr>
          <p:cNvPr id="3" name="Rectangle 1027">
            <a:extLst>
              <a:ext uri="{FF2B5EF4-FFF2-40B4-BE49-F238E27FC236}">
                <a16:creationId xmlns:a16="http://schemas.microsoft.com/office/drawing/2014/main" id="{1103250A-C3E1-4D52-1C73-1C816E51C259}"/>
              </a:ext>
            </a:extLst>
          </p:cNvPr>
          <p:cNvSpPr txBox="1">
            <a:spLocks noChangeArrowheads="1"/>
          </p:cNvSpPr>
          <p:nvPr/>
        </p:nvSpPr>
        <p:spPr>
          <a:xfrm>
            <a:off x="843280" y="2133600"/>
            <a:ext cx="10810240" cy="377825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a:t>To create a reset button, type &lt;INPUT TYPE=“reset”&gt;</a:t>
            </a:r>
          </a:p>
          <a:p>
            <a:r>
              <a:rPr lang="en-US" altLang="en-US"/>
              <a:t>The VALUE attribute can be used in the same way to change the text that appears on the button </a:t>
            </a:r>
          </a:p>
        </p:txBody>
      </p:sp>
    </p:spTree>
    <p:extLst>
      <p:ext uri="{BB962C8B-B14F-4D97-AF65-F5344CB8AC3E}">
        <p14:creationId xmlns:p14="http://schemas.microsoft.com/office/powerpoint/2010/main" val="33376906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7536" y="1196752"/>
            <a:ext cx="2042939" cy="2426331"/>
          </a:xfrm>
          <a:prstGeom prst="rect">
            <a:avLst/>
          </a:prstGeom>
          <a:solidFill>
            <a:srgbClr val="000000">
              <a:alpha val="0"/>
            </a:srgbClr>
          </a:solidFill>
          <a:ln w="85725">
            <a:gradFill flip="none" rotWithShape="1">
              <a:gsLst>
                <a:gs pos="0">
                  <a:srgbClr val="C2F5E1"/>
                </a:gs>
                <a:gs pos="20000">
                  <a:srgbClr val="AAC0E5"/>
                </a:gs>
                <a:gs pos="100000">
                  <a:srgbClr val="9DB4E1"/>
                </a:gs>
              </a:gsLst>
              <a:lin ang="7200000" scaled="1"/>
            </a:gradFill>
            <a:prstDash val="solid"/>
          </a:ln>
        </p:spPr>
      </p:sp>
      <p:sp>
        <p:nvSpPr>
          <p:cNvPr id="3" name="Text 1"/>
          <p:cNvSpPr/>
          <p:nvPr/>
        </p:nvSpPr>
        <p:spPr>
          <a:xfrm>
            <a:off x="877536" y="1196752"/>
            <a:ext cx="2042939" cy="2426331"/>
          </a:xfrm>
          <a:prstGeom prst="rect">
            <a:avLst/>
          </a:prstGeom>
          <a:noFill/>
          <a:ln/>
        </p:spPr>
        <p:txBody>
          <a:bodyPr wrap="square" lIns="45720" tIns="91440" rIns="91440" bIns="45720" rtlCol="0" anchor="ctr"/>
          <a:lstStyle/>
          <a:p>
            <a:pPr>
              <a:lnSpc>
                <a:spcPct val="100000"/>
              </a:lnSpc>
            </a:pPr>
            <a:endParaRPr lang="en-US" sz="1600" dirty="0"/>
          </a:p>
        </p:txBody>
      </p:sp>
      <p:pic>
        <p:nvPicPr>
          <p:cNvPr id="4" name="Image 0" descr="https://kimi-img.moonshot.cn/pub/slides/slides_tmpl/image/25-08-27-20:09:08-d2nfap18bjvh7rlj0ib0.jpg"/>
          <p:cNvPicPr>
            <a:picLocks noChangeAspect="1"/>
          </p:cNvPicPr>
          <p:nvPr/>
        </p:nvPicPr>
        <p:blipFill>
          <a:blip r:embed="rId3"/>
          <a:stretch>
            <a:fillRect/>
          </a:stretch>
        </p:blipFill>
        <p:spPr>
          <a:xfrm>
            <a:off x="1224873" y="1407713"/>
            <a:ext cx="3092012" cy="4677457"/>
          </a:xfrm>
          <a:prstGeom prst="rect">
            <a:avLst/>
          </a:prstGeom>
        </p:spPr>
      </p:pic>
      <p:sp>
        <p:nvSpPr>
          <p:cNvPr id="5" name="Text 2"/>
          <p:cNvSpPr/>
          <p:nvPr/>
        </p:nvSpPr>
        <p:spPr>
          <a:xfrm>
            <a:off x="4862830" y="764540"/>
            <a:ext cx="6449060" cy="1198880"/>
          </a:xfrm>
          <a:prstGeom prst="rect">
            <a:avLst/>
          </a:prstGeom>
          <a:noFill/>
          <a:ln/>
        </p:spPr>
        <p:txBody>
          <a:bodyPr wrap="square" lIns="91440" tIns="45720" rIns="91440" bIns="45720" rtlCol="0" anchor="t">
            <a:spAutoFit/>
          </a:bodyPr>
          <a:lstStyle/>
          <a:p>
            <a:pPr algn="r">
              <a:lnSpc>
                <a:spcPct val="100000"/>
              </a:lnSpc>
            </a:pPr>
            <a:r>
              <a:rPr lang="en-US" sz="3600" dirty="0">
                <a:solidFill>
                  <a:srgbClr val="000000"/>
                </a:solidFill>
                <a:latin typeface="Source Han Sans SC" pitchFamily="34" charset="0"/>
                <a:ea typeface="Source Han Sans SC" pitchFamily="34" charset="-122"/>
                <a:cs typeface="Source Han Sans SC" pitchFamily="34" charset="-120"/>
              </a:rPr>
              <a:t>Semantic HTML</a:t>
            </a:r>
            <a:endParaRPr lang="en-US" sz="1600" dirty="0"/>
          </a:p>
        </p:txBody>
      </p:sp>
      <p:sp>
        <p:nvSpPr>
          <p:cNvPr id="6" name="Text 3"/>
          <p:cNvSpPr/>
          <p:nvPr/>
        </p:nvSpPr>
        <p:spPr>
          <a:xfrm>
            <a:off x="5006070" y="2719643"/>
            <a:ext cx="6450272" cy="460375"/>
          </a:xfrm>
          <a:prstGeom prst="rect">
            <a:avLst/>
          </a:prstGeom>
          <a:noFill/>
          <a:ln/>
        </p:spPr>
        <p:txBody>
          <a:bodyPr wrap="square" lIns="91440" tIns="45720" rIns="91440" bIns="45720" rtlCol="0" anchor="t">
            <a:spAutoFit/>
          </a:bodyPr>
          <a:lstStyle/>
          <a:p>
            <a:pPr algn="r">
              <a:lnSpc>
                <a:spcPct val="100000"/>
              </a:lnSpc>
            </a:pPr>
            <a:r>
              <a:rPr lang="en-US" sz="2400" dirty="0">
                <a:solidFill>
                  <a:srgbClr val="000000"/>
                </a:solidFill>
                <a:latin typeface="Source Han Sans SC" pitchFamily="34" charset="0"/>
                <a:ea typeface="Source Han Sans SC" pitchFamily="34" charset="-122"/>
                <a:cs typeface="Source Han Sans SC" pitchFamily="34" charset="-120"/>
              </a:rPr>
              <a:t>Semantic Tags</a:t>
            </a:r>
            <a:endParaRPr lang="en-US" sz="1600" dirty="0"/>
          </a:p>
        </p:txBody>
      </p:sp>
      <p:sp>
        <p:nvSpPr>
          <p:cNvPr id="7" name="Text 4"/>
          <p:cNvSpPr/>
          <p:nvPr/>
        </p:nvSpPr>
        <p:spPr>
          <a:xfrm>
            <a:off x="4742815" y="3141980"/>
            <a:ext cx="6713220" cy="1198880"/>
          </a:xfrm>
          <a:prstGeom prst="rect">
            <a:avLst/>
          </a:prstGeom>
          <a:noFill/>
          <a:ln/>
        </p:spPr>
        <p:txBody>
          <a:bodyPr wrap="square" lIns="91440" tIns="45720" rIns="91440" bIns="45720" rtlCol="0" anchor="t">
            <a:spAutoFit/>
          </a:bodyPr>
          <a:lstStyle/>
          <a:p>
            <a:pPr>
              <a:lnSpc>
                <a:spcPct val="100000"/>
              </a:lnSpc>
            </a:pPr>
            <a:r>
              <a:rPr lang="en-US" sz="1800" dirty="0">
                <a:solidFill>
                  <a:srgbClr val="000000"/>
                </a:solidFill>
                <a:latin typeface="Source Han Sans SC Normal" pitchFamily="34" charset="0"/>
                <a:ea typeface="Source Han Sans SC Normal" pitchFamily="34" charset="-122"/>
                <a:cs typeface="Source Han Sans SC Normal" pitchFamily="34" charset="-120"/>
              </a:rPr>
              <a:t>Semantic HTML uses tags like &lt;header&gt;, &lt;footer&gt;, &lt;nav&gt;, &lt;main&gt;, &lt;section&gt;, &lt;article&gt;, and &lt;aside&gt; to define the structure of your webpage.</a:t>
            </a:r>
            <a:endParaRPr lang="en-US" sz="1600" dirty="0"/>
          </a:p>
        </p:txBody>
      </p:sp>
      <p:sp>
        <p:nvSpPr>
          <p:cNvPr id="8" name="Text 5"/>
          <p:cNvSpPr/>
          <p:nvPr/>
        </p:nvSpPr>
        <p:spPr>
          <a:xfrm>
            <a:off x="5006070" y="4444266"/>
            <a:ext cx="6450272" cy="460375"/>
          </a:xfrm>
          <a:prstGeom prst="rect">
            <a:avLst/>
          </a:prstGeom>
          <a:noFill/>
          <a:ln/>
        </p:spPr>
        <p:txBody>
          <a:bodyPr wrap="square" lIns="91440" tIns="45720" rIns="91440" bIns="45720" rtlCol="0" anchor="t">
            <a:spAutoFit/>
          </a:bodyPr>
          <a:lstStyle/>
          <a:p>
            <a:pPr algn="r">
              <a:lnSpc>
                <a:spcPct val="100000"/>
              </a:lnSpc>
            </a:pPr>
            <a:r>
              <a:rPr lang="en-US" sz="2400" dirty="0">
                <a:solidFill>
                  <a:srgbClr val="000000"/>
                </a:solidFill>
                <a:latin typeface="Source Han Sans SC" pitchFamily="34" charset="0"/>
                <a:ea typeface="Source Han Sans SC" pitchFamily="34" charset="-122"/>
                <a:cs typeface="Source Han Sans SC" pitchFamily="34" charset="-120"/>
              </a:rPr>
              <a:t>Benefits</a:t>
            </a:r>
            <a:endParaRPr lang="en-US" sz="1600" dirty="0"/>
          </a:p>
        </p:txBody>
      </p:sp>
      <p:sp>
        <p:nvSpPr>
          <p:cNvPr id="9" name="Text 6"/>
          <p:cNvSpPr/>
          <p:nvPr/>
        </p:nvSpPr>
        <p:spPr>
          <a:xfrm>
            <a:off x="4742815" y="4866640"/>
            <a:ext cx="6713220" cy="1198880"/>
          </a:xfrm>
          <a:prstGeom prst="rect">
            <a:avLst/>
          </a:prstGeom>
          <a:noFill/>
          <a:ln/>
        </p:spPr>
        <p:txBody>
          <a:bodyPr wrap="square" lIns="91440" tIns="45720" rIns="91440" bIns="45720" rtlCol="0" anchor="t">
            <a:spAutoFit/>
          </a:bodyPr>
          <a:lstStyle/>
          <a:p>
            <a:pPr>
              <a:lnSpc>
                <a:spcPct val="100000"/>
              </a:lnSpc>
            </a:pPr>
            <a:r>
              <a:rPr lang="en-US" sz="1800" dirty="0">
                <a:solidFill>
                  <a:srgbClr val="000000"/>
                </a:solidFill>
                <a:latin typeface="Source Han Sans SC Normal" pitchFamily="34" charset="0"/>
                <a:ea typeface="Source Han Sans SC Normal" pitchFamily="34" charset="-122"/>
                <a:cs typeface="Source Han Sans SC Normal" pitchFamily="34" charset="-120"/>
              </a:rPr>
              <a:t>Semantic HTML improves accessibility, making your webpage easier to navigate for users with disabilities. It also enhances SEO, helping search engines understand your content.</a:t>
            </a:r>
            <a:endParaRPr lang="en-US" sz="1600" dirty="0"/>
          </a:p>
        </p:txBody>
      </p:sp>
    </p:spTree>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B42F0-1389-EF7C-1640-0319EEDFB042}"/>
            </a:ext>
          </a:extLst>
        </p:cNvPr>
        <p:cNvGrpSpPr/>
        <p:nvPr/>
      </p:nvGrpSpPr>
      <p:grpSpPr>
        <a:xfrm>
          <a:off x="0" y="0"/>
          <a:ext cx="0" cy="0"/>
          <a:chOff x="0" y="0"/>
          <a:chExt cx="0" cy="0"/>
        </a:xfrm>
      </p:grpSpPr>
      <p:sp>
        <p:nvSpPr>
          <p:cNvPr id="2" name="Rectangle 1026">
            <a:extLst>
              <a:ext uri="{FF2B5EF4-FFF2-40B4-BE49-F238E27FC236}">
                <a16:creationId xmlns:a16="http://schemas.microsoft.com/office/drawing/2014/main" id="{D38CEDB7-E1A0-7667-6647-659A17EC5164}"/>
              </a:ext>
            </a:extLst>
          </p:cNvPr>
          <p:cNvSpPr txBox="1">
            <a:spLocks noChangeArrowheads="1"/>
          </p:cNvSpPr>
          <p:nvPr/>
        </p:nvSpPr>
        <p:spPr>
          <a:xfrm>
            <a:off x="458558" y="166688"/>
            <a:ext cx="11041260" cy="128111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dirty="0"/>
              <a:t>Semantic Tags</a:t>
            </a:r>
          </a:p>
        </p:txBody>
      </p:sp>
      <p:sp>
        <p:nvSpPr>
          <p:cNvPr id="3" name="Rectangle 1027">
            <a:extLst>
              <a:ext uri="{FF2B5EF4-FFF2-40B4-BE49-F238E27FC236}">
                <a16:creationId xmlns:a16="http://schemas.microsoft.com/office/drawing/2014/main" id="{61CFE25D-DCEC-6BA9-451E-236678C7F59C}"/>
              </a:ext>
            </a:extLst>
          </p:cNvPr>
          <p:cNvSpPr txBox="1">
            <a:spLocks noChangeArrowheads="1"/>
          </p:cNvSpPr>
          <p:nvPr/>
        </p:nvSpPr>
        <p:spPr>
          <a:xfrm>
            <a:off x="6562058" y="1148080"/>
            <a:ext cx="6148102" cy="500888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altLang="en-US" dirty="0"/>
              <a:t> [Header 🏠]</a:t>
            </a:r>
          </a:p>
          <a:p>
            <a:pPr marL="0" indent="0">
              <a:buNone/>
            </a:pPr>
            <a:r>
              <a:rPr lang="en-US" altLang="en-US" dirty="0"/>
              <a:t>             |</a:t>
            </a:r>
          </a:p>
          <a:p>
            <a:pPr marL="0" indent="0">
              <a:buNone/>
            </a:pPr>
            <a:r>
              <a:rPr lang="en-US" altLang="en-US" dirty="0"/>
              <a:t>         [Nav 🧭]       [Aside 🗂️]</a:t>
            </a:r>
          </a:p>
          <a:p>
            <a:pPr marL="0" indent="0">
              <a:buNone/>
            </a:pPr>
            <a:r>
              <a:rPr lang="en-US" altLang="en-US" dirty="0"/>
              <a:t>             |</a:t>
            </a:r>
          </a:p>
          <a:p>
            <a:pPr marL="0" indent="0">
              <a:buNone/>
            </a:pPr>
            <a:r>
              <a:rPr lang="en-US" altLang="en-US" dirty="0"/>
              <a:t>          [Main 📄]</a:t>
            </a:r>
          </a:p>
          <a:p>
            <a:pPr marL="0" indent="0">
              <a:buNone/>
            </a:pPr>
            <a:r>
              <a:rPr lang="en-US" altLang="en-US" dirty="0"/>
              <a:t>       /           \</a:t>
            </a:r>
          </a:p>
          <a:p>
            <a:pPr marL="0" indent="0">
              <a:buNone/>
            </a:pPr>
            <a:r>
              <a:rPr lang="en-US" altLang="en-US" dirty="0"/>
              <a:t> [Section 📑]     [Article 📰]</a:t>
            </a:r>
          </a:p>
          <a:p>
            <a:pPr marL="0" indent="0">
              <a:buNone/>
            </a:pPr>
            <a:r>
              <a:rPr lang="en-US" altLang="en-US" dirty="0"/>
              <a:t>             |</a:t>
            </a:r>
          </a:p>
          <a:p>
            <a:pPr marL="0" indent="0">
              <a:buNone/>
            </a:pPr>
            <a:r>
              <a:rPr lang="en-US" altLang="en-US" dirty="0"/>
              <a:t>         [Footer ⚓]</a:t>
            </a:r>
          </a:p>
        </p:txBody>
      </p:sp>
      <p:sp>
        <p:nvSpPr>
          <p:cNvPr id="4" name="Rectangle 1027">
            <a:extLst>
              <a:ext uri="{FF2B5EF4-FFF2-40B4-BE49-F238E27FC236}">
                <a16:creationId xmlns:a16="http://schemas.microsoft.com/office/drawing/2014/main" id="{B5886AD6-DF75-1196-AFB7-45E848B3F767}"/>
              </a:ext>
            </a:extLst>
          </p:cNvPr>
          <p:cNvSpPr txBox="1">
            <a:spLocks noChangeArrowheads="1"/>
          </p:cNvSpPr>
          <p:nvPr/>
        </p:nvSpPr>
        <p:spPr>
          <a:xfrm>
            <a:off x="557498" y="1148080"/>
            <a:ext cx="6148102" cy="5008880"/>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n-US" altLang="en-US" dirty="0"/>
          </a:p>
        </p:txBody>
      </p:sp>
      <p:sp>
        <p:nvSpPr>
          <p:cNvPr id="5" name="TextBox 4">
            <a:extLst>
              <a:ext uri="{FF2B5EF4-FFF2-40B4-BE49-F238E27FC236}">
                <a16:creationId xmlns:a16="http://schemas.microsoft.com/office/drawing/2014/main" id="{AF6135CD-E170-46A5-0100-37709B3C39A7}"/>
              </a:ext>
            </a:extLst>
          </p:cNvPr>
          <p:cNvSpPr txBox="1"/>
          <p:nvPr/>
        </p:nvSpPr>
        <p:spPr>
          <a:xfrm>
            <a:off x="458558" y="1778000"/>
            <a:ext cx="5993042" cy="4832092"/>
          </a:xfrm>
          <a:prstGeom prst="rect">
            <a:avLst/>
          </a:prstGeom>
          <a:noFill/>
        </p:spPr>
        <p:txBody>
          <a:bodyPr wrap="square" rtlCol="0">
            <a:spAutoFit/>
          </a:bodyPr>
          <a:lstStyle/>
          <a:p>
            <a:pPr marL="285750" indent="-285750">
              <a:buFont typeface="Arial" panose="020B0604020202020204" pitchFamily="34" charset="0"/>
              <a:buChar char="•"/>
            </a:pPr>
            <a:r>
              <a:rPr lang="en-US" sz="2800" dirty="0"/>
              <a:t>Semantic tags describe content meaning, not style</a:t>
            </a:r>
          </a:p>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2800" dirty="0"/>
              <a:t>Improve SEO and accessibility</a:t>
            </a:r>
          </a:p>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2800" dirty="0"/>
              <a:t>Make code organized and maintainable</a:t>
            </a:r>
          </a:p>
          <a:p>
            <a:pPr marL="285750" indent="-285750">
              <a:buFont typeface="Arial" panose="020B0604020202020204" pitchFamily="34" charset="0"/>
              <a:buChar char="•"/>
            </a:pPr>
            <a:r>
              <a:rPr lang="en-US" sz="2800" dirty="0"/>
              <a:t>Examples: &lt;header&gt;, &lt;nav&gt;, &lt;main&gt;, &lt;section&gt;, &lt;article&gt;, &lt;aside&gt;, &lt;footer&gt;</a:t>
            </a:r>
            <a:endParaRPr lang="en-SG" sz="2800" dirty="0"/>
          </a:p>
          <a:p>
            <a:endParaRPr lang="en-SG" sz="2800" dirty="0"/>
          </a:p>
        </p:txBody>
      </p:sp>
    </p:spTree>
    <p:extLst>
      <p:ext uri="{BB962C8B-B14F-4D97-AF65-F5344CB8AC3E}">
        <p14:creationId xmlns:p14="http://schemas.microsoft.com/office/powerpoint/2010/main" val="35052947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51180" y="2952115"/>
            <a:ext cx="5887085" cy="953135"/>
          </a:xfrm>
          <a:prstGeom prst="rect">
            <a:avLst/>
          </a:prstGeom>
          <a:noFill/>
          <a:ln/>
        </p:spPr>
        <p:txBody>
          <a:bodyPr wrap="square" lIns="91440" tIns="45720" rIns="91440" bIns="45720" rtlCol="0" anchor="t">
            <a:spAutoFit/>
          </a:bodyPr>
          <a:lstStyle/>
          <a:p>
            <a:pPr>
              <a:lnSpc>
                <a:spcPct val="100000"/>
              </a:lnSpc>
            </a:pPr>
            <a:r>
              <a:rPr lang="en-US" sz="2800" dirty="0">
                <a:solidFill>
                  <a:srgbClr val="000000"/>
                </a:solidFill>
                <a:latin typeface="Source Han Sans SC" pitchFamily="34" charset="0"/>
                <a:ea typeface="Source Han Sans SC" pitchFamily="34" charset="-122"/>
                <a:cs typeface="Source Han Sans SC" pitchFamily="34" charset="-120"/>
              </a:rPr>
              <a:t>Practice &amp; Resources</a:t>
            </a:r>
            <a:endParaRPr lang="en-US" sz="1600" dirty="0"/>
          </a:p>
        </p:txBody>
      </p:sp>
      <p:sp>
        <p:nvSpPr>
          <p:cNvPr id="3" name="Shape 1"/>
          <p:cNvSpPr/>
          <p:nvPr/>
        </p:nvSpPr>
        <p:spPr>
          <a:xfrm>
            <a:off x="711202" y="786574"/>
            <a:ext cx="3434078" cy="0"/>
          </a:xfrm>
          <a:prstGeom prst="line">
            <a:avLst/>
          </a:prstGeom>
          <a:noFill/>
          <a:ln w="15875">
            <a:solidFill>
              <a:srgbClr val="000000"/>
            </a:solidFill>
            <a:prstDash val="solid"/>
            <a:headEnd type="none"/>
            <a:tailEnd type="none"/>
          </a:ln>
        </p:spPr>
      </p:sp>
      <p:pic>
        <p:nvPicPr>
          <p:cNvPr id="4" name="Image 0" descr="https://kimi-img.moonshot.cn/pub/slides/slides_tmpl/image/25-08-27-20:09:03-d2nfanp8bjvh7rlj0i40.jpg"/>
          <p:cNvPicPr>
            <a:picLocks noChangeAspect="1"/>
          </p:cNvPicPr>
          <p:nvPr/>
        </p:nvPicPr>
        <p:blipFill>
          <a:blip r:embed="rId3"/>
          <a:stretch>
            <a:fillRect/>
          </a:stretch>
        </p:blipFill>
        <p:spPr>
          <a:xfrm>
            <a:off x="8046721" y="1008555"/>
            <a:ext cx="3553129" cy="5196386"/>
          </a:xfrm>
          <a:prstGeom prst="rect">
            <a:avLst/>
          </a:prstGeom>
        </p:spPr>
      </p:pic>
      <p:pic>
        <p:nvPicPr>
          <p:cNvPr id="5" name="Image 1" descr="https://kimi-img.moonshot.cn/pub/slides/slides_tmpl/image/25-08-27-20:09:03-d2nfanp8bjvh7rlj0i3g.png"/>
          <p:cNvPicPr>
            <a:picLocks noChangeAspect="1"/>
          </p:cNvPicPr>
          <p:nvPr/>
        </p:nvPicPr>
        <p:blipFill>
          <a:blip r:embed="rId4"/>
          <a:srcRect r="60768" b="-4844"/>
          <a:stretch/>
        </p:blipFill>
        <p:spPr>
          <a:xfrm>
            <a:off x="551180" y="404495"/>
            <a:ext cx="4320336" cy="503981"/>
          </a:xfrm>
          <a:prstGeom prst="rect">
            <a:avLst/>
          </a:prstGeom>
        </p:spPr>
      </p:pic>
    </p:spTree>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flip="none" rotWithShape="1">
            <a:gsLst>
              <a:gs pos="0">
                <a:srgbClr val="2F5596"/>
              </a:gs>
              <a:gs pos="56000">
                <a:srgbClr val="7095BC"/>
              </a:gs>
              <a:gs pos="91000">
                <a:srgbClr val="B0D5E1"/>
              </a:gs>
              <a:gs pos="100000">
                <a:srgbClr val="C2F5E1"/>
              </a:gs>
            </a:gsLst>
            <a:lin ang="4800000" scaled="1"/>
          </a:gradFill>
          <a:ln w="12700">
            <a:solidFill>
              <a:srgbClr val="09111E"/>
            </a:solidFill>
            <a:prstDash val="solid"/>
          </a:ln>
        </p:spPr>
      </p:sp>
      <p:sp>
        <p:nvSpPr>
          <p:cNvPr id="3" name="Text 1"/>
          <p:cNvSpPr/>
          <p:nvPr/>
        </p:nvSpPr>
        <p:spPr>
          <a:xfrm>
            <a:off x="0" y="0"/>
            <a:ext cx="12192000" cy="6858000"/>
          </a:xfrm>
          <a:prstGeom prst="rect">
            <a:avLst/>
          </a:prstGeom>
          <a:noFill/>
          <a:ln/>
        </p:spPr>
        <p:txBody>
          <a:bodyPr wrap="square" lIns="45720" tIns="91440" rIns="91440" bIns="45720" rtlCol="0" anchor="ctr"/>
          <a:lstStyle/>
          <a:p>
            <a:pPr>
              <a:lnSpc>
                <a:spcPct val="100000"/>
              </a:lnSpc>
            </a:pPr>
            <a:endParaRPr lang="en-US" sz="1600" dirty="0"/>
          </a:p>
        </p:txBody>
      </p:sp>
      <p:pic>
        <p:nvPicPr>
          <p:cNvPr id="4" name="Image 0" descr="https://kimi-img.moonshot.cn/pub/slides/slides_tmpl/image/25-08-27-20:09:06-d2nfaoh8bjvh7rlj0i8g.png"/>
          <p:cNvPicPr>
            <a:picLocks noChangeAspect="1"/>
          </p:cNvPicPr>
          <p:nvPr/>
        </p:nvPicPr>
        <p:blipFill>
          <a:blip r:embed="rId3">
            <a:alphaModFix amt="72000"/>
          </a:blip>
          <a:srcRect/>
          <a:stretch/>
        </p:blipFill>
        <p:spPr>
          <a:xfrm>
            <a:off x="10395" y="2348881"/>
            <a:ext cx="12181605" cy="4509120"/>
          </a:xfrm>
          <a:prstGeom prst="rect">
            <a:avLst/>
          </a:prstGeom>
        </p:spPr>
      </p:pic>
      <p:sp>
        <p:nvSpPr>
          <p:cNvPr id="5" name="Text 2"/>
          <p:cNvSpPr/>
          <p:nvPr/>
        </p:nvSpPr>
        <p:spPr>
          <a:xfrm>
            <a:off x="2111693" y="1330960"/>
            <a:ext cx="7524115" cy="2110740"/>
          </a:xfrm>
          <a:prstGeom prst="rect">
            <a:avLst/>
          </a:prstGeom>
          <a:noFill/>
          <a:ln/>
        </p:spPr>
        <p:txBody>
          <a:bodyPr wrap="square" lIns="91440" tIns="45720" rIns="91440" bIns="45720" rtlCol="0" anchor="t"/>
          <a:lstStyle/>
          <a:p>
            <a:pPr algn="ctr">
              <a:lnSpc>
                <a:spcPct val="100000"/>
              </a:lnSpc>
            </a:pPr>
            <a:r>
              <a:rPr lang="en-US" sz="3600" b="1" dirty="0">
                <a:solidFill>
                  <a:srgbClr val="FFFFFF"/>
                </a:solidFill>
                <a:latin typeface="Source Han Sans SC" pitchFamily="34" charset="0"/>
                <a:ea typeface="Source Han Sans SC" pitchFamily="34" charset="-122"/>
                <a:cs typeface="Source Han Sans SC" pitchFamily="34" charset="-120"/>
              </a:rPr>
              <a:t>Hands-On Project</a:t>
            </a:r>
            <a:endParaRPr lang="en-US" sz="1600" dirty="0"/>
          </a:p>
        </p:txBody>
      </p:sp>
      <p:sp>
        <p:nvSpPr>
          <p:cNvPr id="6" name="Shape 3"/>
          <p:cNvSpPr/>
          <p:nvPr/>
        </p:nvSpPr>
        <p:spPr>
          <a:xfrm flipV="1">
            <a:off x="4774248" y="2984252"/>
            <a:ext cx="2199005" cy="1270"/>
          </a:xfrm>
          <a:prstGeom prst="straightConnector1">
            <a:avLst/>
          </a:prstGeom>
          <a:noFill/>
          <a:ln w="15875">
            <a:solidFill>
              <a:srgbClr val="FFFFFF"/>
            </a:solidFill>
            <a:prstDash val="solid"/>
            <a:headEnd type="none"/>
            <a:tailEnd type="triangle"/>
          </a:ln>
        </p:spPr>
      </p:sp>
      <p:sp>
        <p:nvSpPr>
          <p:cNvPr id="7" name="Text 4"/>
          <p:cNvSpPr/>
          <p:nvPr/>
        </p:nvSpPr>
        <p:spPr>
          <a:xfrm>
            <a:off x="2975610" y="2204720"/>
            <a:ext cx="5796280" cy="974725"/>
          </a:xfrm>
          <a:prstGeom prst="rect">
            <a:avLst/>
          </a:prstGeom>
          <a:noFill/>
          <a:ln/>
        </p:spPr>
        <p:txBody>
          <a:bodyPr wrap="square" lIns="91440" tIns="45720" rIns="91440" bIns="45720" rtlCol="0" anchor="t"/>
          <a:lstStyle/>
          <a:p>
            <a:pPr algn="ctr">
              <a:lnSpc>
                <a:spcPct val="100000"/>
              </a:lnSpc>
            </a:pPr>
            <a:r>
              <a:rPr lang="en-US" sz="2400" dirty="0">
                <a:solidFill>
                  <a:srgbClr val="FFFFFF"/>
                </a:solidFill>
                <a:latin typeface="Source Han Sans SC" pitchFamily="34" charset="0"/>
                <a:ea typeface="Source Han Sans SC" pitchFamily="34" charset="-122"/>
                <a:cs typeface="Source Han Sans SC" pitchFamily="34" charset="-120"/>
              </a:rPr>
              <a:t>Project Overview</a:t>
            </a:r>
            <a:endParaRPr lang="en-US" sz="1600" dirty="0"/>
          </a:p>
        </p:txBody>
      </p:sp>
      <p:sp>
        <p:nvSpPr>
          <p:cNvPr id="8" name="Text 5"/>
          <p:cNvSpPr/>
          <p:nvPr/>
        </p:nvSpPr>
        <p:spPr>
          <a:xfrm>
            <a:off x="1775460" y="3354705"/>
            <a:ext cx="8196580" cy="2035810"/>
          </a:xfrm>
          <a:prstGeom prst="rect">
            <a:avLst/>
          </a:prstGeom>
          <a:noFill/>
          <a:ln/>
        </p:spPr>
        <p:txBody>
          <a:bodyPr wrap="square" lIns="91440" tIns="45720" rIns="91440" bIns="45720" rtlCol="0" anchor="t"/>
          <a:lstStyle/>
          <a:p>
            <a:pPr>
              <a:lnSpc>
                <a:spcPct val="100000"/>
              </a:lnSpc>
            </a:pPr>
            <a:r>
              <a:rPr lang="en-US" sz="2000" dirty="0">
                <a:solidFill>
                  <a:srgbClr val="FFFFFF"/>
                </a:solidFill>
                <a:latin typeface="Source Han Sans SC Normal" pitchFamily="34" charset="0"/>
                <a:ea typeface="Source Han Sans SC Normal" pitchFamily="34" charset="-122"/>
                <a:cs typeface="Source Han Sans SC Normal" pitchFamily="34" charset="-120"/>
              </a:rPr>
              <a:t>Now it's time to apply what you've learned. Build a multi-section webpage with headings, paragraphs, links, lists, images, forms, and semantic layout. This hands-on project will solidify your understanding.</a:t>
            </a:r>
            <a:endParaRPr lang="en-US" sz="1600" dirty="0"/>
          </a:p>
        </p:txBody>
      </p:sp>
    </p:spTree>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https://kimi-img.moonshot.cn/pub/slides/slides_tmpl/image/25-08-27-20:09:10-d2nfaph8bjvh7rlj0igg.png"/>
          <p:cNvPicPr>
            <a:picLocks noChangeAspect="1"/>
          </p:cNvPicPr>
          <p:nvPr/>
        </p:nvPicPr>
        <p:blipFill>
          <a:blip r:embed="rId3"/>
          <a:srcRect r="51634"/>
          <a:stretch/>
        </p:blipFill>
        <p:spPr>
          <a:xfrm>
            <a:off x="637540" y="4911725"/>
            <a:ext cx="11061065" cy="2183765"/>
          </a:xfrm>
          <a:prstGeom prst="rect">
            <a:avLst/>
          </a:prstGeom>
        </p:spPr>
      </p:pic>
      <p:sp>
        <p:nvSpPr>
          <p:cNvPr id="3" name="Text 0"/>
          <p:cNvSpPr/>
          <p:nvPr/>
        </p:nvSpPr>
        <p:spPr>
          <a:xfrm>
            <a:off x="527685" y="617855"/>
            <a:ext cx="9599930" cy="922020"/>
          </a:xfrm>
          <a:prstGeom prst="rect">
            <a:avLst/>
          </a:prstGeom>
          <a:noFill/>
          <a:ln/>
        </p:spPr>
        <p:txBody>
          <a:bodyPr wrap="square" lIns="91440" tIns="45720" rIns="91440" bIns="45720" rtlCol="0" anchor="t">
            <a:spAutoFit/>
          </a:bodyPr>
          <a:lstStyle/>
          <a:p>
            <a:pPr>
              <a:lnSpc>
                <a:spcPct val="100000"/>
              </a:lnSpc>
            </a:pPr>
            <a:r>
              <a:rPr lang="en-US" sz="3600" b="1" dirty="0">
                <a:solidFill>
                  <a:srgbClr val="9DB4E1"/>
                </a:solidFill>
                <a:latin typeface="Source Han Sans SC" pitchFamily="34" charset="0"/>
                <a:ea typeface="Source Han Sans SC" pitchFamily="34" charset="-122"/>
                <a:cs typeface="Source Han Sans SC" pitchFamily="34" charset="-120"/>
              </a:rPr>
              <a:t>Best Practices</a:t>
            </a:r>
            <a:endParaRPr lang="en-US" sz="1600" dirty="0"/>
          </a:p>
        </p:txBody>
      </p:sp>
      <p:sp>
        <p:nvSpPr>
          <p:cNvPr id="4" name="Shape 1"/>
          <p:cNvSpPr/>
          <p:nvPr/>
        </p:nvSpPr>
        <p:spPr>
          <a:xfrm>
            <a:off x="629349" y="1499631"/>
            <a:ext cx="359844" cy="359864"/>
          </a:xfrm>
          <a:prstGeom prst="ellipse">
            <a:avLst/>
          </a:prstGeom>
          <a:solidFill>
            <a:srgbClr val="000000">
              <a:alpha val="0"/>
            </a:srgbClr>
          </a:solidFill>
          <a:ln w="107950">
            <a:solidFill>
              <a:srgbClr val="9DB4E1"/>
            </a:solidFill>
            <a:prstDash val="solid"/>
          </a:ln>
        </p:spPr>
      </p:sp>
      <p:sp>
        <p:nvSpPr>
          <p:cNvPr id="5" name="Text 2"/>
          <p:cNvSpPr/>
          <p:nvPr/>
        </p:nvSpPr>
        <p:spPr>
          <a:xfrm>
            <a:off x="629349" y="1499631"/>
            <a:ext cx="359844" cy="359864"/>
          </a:xfrm>
          <a:prstGeom prst="rect">
            <a:avLst/>
          </a:prstGeom>
          <a:noFill/>
          <a:ln/>
        </p:spPr>
        <p:txBody>
          <a:bodyPr wrap="square" lIns="0" tIns="0" rIns="0" bIns="0" rtlCol="0" anchor="ctr"/>
          <a:lstStyle/>
          <a:p>
            <a:pPr>
              <a:lnSpc>
                <a:spcPct val="100000"/>
              </a:lnSpc>
            </a:pPr>
            <a:endParaRPr lang="en-US" sz="1600" dirty="0"/>
          </a:p>
        </p:txBody>
      </p:sp>
      <p:pic>
        <p:nvPicPr>
          <p:cNvPr id="6" name="Image 1" descr="https://kimi-img.moonshot.cn/pub/slides/slides_tmpl/image/25-08-27-20:09:10-d2nfaph8bjvh7rlj0ih0.png"/>
          <p:cNvPicPr>
            <a:picLocks noChangeAspect="1"/>
          </p:cNvPicPr>
          <p:nvPr/>
        </p:nvPicPr>
        <p:blipFill>
          <a:blip r:embed="rId4"/>
          <a:stretch>
            <a:fillRect/>
          </a:stretch>
        </p:blipFill>
        <p:spPr>
          <a:xfrm>
            <a:off x="629350" y="4361149"/>
            <a:ext cx="2157390" cy="1957574"/>
          </a:xfrm>
          <a:prstGeom prst="rect">
            <a:avLst/>
          </a:prstGeom>
        </p:spPr>
      </p:pic>
      <p:sp>
        <p:nvSpPr>
          <p:cNvPr id="7" name="Shape 3"/>
          <p:cNvSpPr/>
          <p:nvPr/>
        </p:nvSpPr>
        <p:spPr>
          <a:xfrm>
            <a:off x="4367808" y="1499631"/>
            <a:ext cx="359844" cy="359864"/>
          </a:xfrm>
          <a:prstGeom prst="ellipse">
            <a:avLst/>
          </a:prstGeom>
          <a:solidFill>
            <a:srgbClr val="000000">
              <a:alpha val="0"/>
            </a:srgbClr>
          </a:solidFill>
          <a:ln w="107950">
            <a:solidFill>
              <a:srgbClr val="9DB4E1"/>
            </a:solidFill>
            <a:prstDash val="solid"/>
          </a:ln>
        </p:spPr>
      </p:sp>
      <p:sp>
        <p:nvSpPr>
          <p:cNvPr id="8" name="Text 4"/>
          <p:cNvSpPr/>
          <p:nvPr/>
        </p:nvSpPr>
        <p:spPr>
          <a:xfrm>
            <a:off x="4367808" y="1499631"/>
            <a:ext cx="359844" cy="359864"/>
          </a:xfrm>
          <a:prstGeom prst="rect">
            <a:avLst/>
          </a:prstGeom>
          <a:noFill/>
          <a:ln/>
        </p:spPr>
        <p:txBody>
          <a:bodyPr wrap="square" lIns="0" tIns="0" rIns="0" bIns="0" rtlCol="0" anchor="ctr"/>
          <a:lstStyle/>
          <a:p>
            <a:pPr>
              <a:lnSpc>
                <a:spcPct val="100000"/>
              </a:lnSpc>
            </a:pPr>
            <a:endParaRPr lang="en-US" sz="1600" dirty="0"/>
          </a:p>
        </p:txBody>
      </p:sp>
      <p:sp>
        <p:nvSpPr>
          <p:cNvPr id="9" name="Shape 5"/>
          <p:cNvSpPr/>
          <p:nvPr/>
        </p:nvSpPr>
        <p:spPr>
          <a:xfrm>
            <a:off x="8122968" y="1499631"/>
            <a:ext cx="359844" cy="359864"/>
          </a:xfrm>
          <a:prstGeom prst="ellipse">
            <a:avLst/>
          </a:prstGeom>
          <a:solidFill>
            <a:srgbClr val="000000">
              <a:alpha val="0"/>
            </a:srgbClr>
          </a:solidFill>
          <a:ln w="107950">
            <a:solidFill>
              <a:srgbClr val="9DB4E1"/>
            </a:solidFill>
            <a:prstDash val="solid"/>
          </a:ln>
        </p:spPr>
      </p:sp>
      <p:sp>
        <p:nvSpPr>
          <p:cNvPr id="10" name="Text 6"/>
          <p:cNvSpPr/>
          <p:nvPr/>
        </p:nvSpPr>
        <p:spPr>
          <a:xfrm>
            <a:off x="8122968" y="1499631"/>
            <a:ext cx="359844" cy="359864"/>
          </a:xfrm>
          <a:prstGeom prst="rect">
            <a:avLst/>
          </a:prstGeom>
          <a:noFill/>
          <a:ln/>
        </p:spPr>
        <p:txBody>
          <a:bodyPr wrap="square" lIns="0" tIns="0" rIns="0" bIns="0" rtlCol="0" anchor="ctr"/>
          <a:lstStyle/>
          <a:p>
            <a:pPr>
              <a:lnSpc>
                <a:spcPct val="100000"/>
              </a:lnSpc>
            </a:pPr>
            <a:endParaRPr lang="en-US" sz="1600" dirty="0"/>
          </a:p>
        </p:txBody>
      </p:sp>
      <p:sp>
        <p:nvSpPr>
          <p:cNvPr id="11" name="Text 7"/>
          <p:cNvSpPr/>
          <p:nvPr/>
        </p:nvSpPr>
        <p:spPr>
          <a:xfrm>
            <a:off x="623392" y="1609265"/>
            <a:ext cx="3542747" cy="829945"/>
          </a:xfrm>
          <a:prstGeom prst="rect">
            <a:avLst/>
          </a:prstGeom>
          <a:noFill/>
          <a:ln/>
        </p:spPr>
        <p:txBody>
          <a:bodyPr wrap="square" lIns="91440" tIns="45720" rIns="91440" bIns="45720" rtlCol="0" anchor="t">
            <a:spAutoFit/>
          </a:bodyPr>
          <a:lstStyle/>
          <a:p>
            <a:pPr>
              <a:lnSpc>
                <a:spcPct val="100000"/>
              </a:lnSpc>
            </a:pPr>
            <a:r>
              <a:rPr lang="en-US" sz="2400" dirty="0">
                <a:solidFill>
                  <a:srgbClr val="000000"/>
                </a:solidFill>
                <a:latin typeface="Source Han Sans SC" pitchFamily="34" charset="0"/>
                <a:ea typeface="Source Han Sans SC" pitchFamily="34" charset="-122"/>
                <a:cs typeface="Source Han Sans SC" pitchFamily="34" charset="-120"/>
              </a:rPr>
              <a:t>Use Semantic Tags</a:t>
            </a:r>
            <a:endParaRPr lang="en-US" sz="1600" dirty="0"/>
          </a:p>
        </p:txBody>
      </p:sp>
      <p:sp>
        <p:nvSpPr>
          <p:cNvPr id="12" name="Text 8"/>
          <p:cNvSpPr/>
          <p:nvPr/>
        </p:nvSpPr>
        <p:spPr>
          <a:xfrm>
            <a:off x="637750" y="2405563"/>
            <a:ext cx="3384373" cy="2061210"/>
          </a:xfrm>
          <a:prstGeom prst="rect">
            <a:avLst/>
          </a:prstGeom>
          <a:noFill/>
          <a:ln/>
        </p:spPr>
        <p:txBody>
          <a:bodyPr wrap="square" lIns="91440" tIns="45720" rIns="91440" bIns="45720" rtlCol="0" anchor="t">
            <a:spAutoFit/>
          </a:bodyPr>
          <a:lstStyle/>
          <a:p>
            <a:pPr>
              <a:lnSpc>
                <a:spcPct val="100000"/>
              </a:lnSpc>
            </a:pPr>
            <a:r>
              <a:rPr lang="en-US" sz="1600" dirty="0">
                <a:solidFill>
                  <a:srgbClr val="000000"/>
                </a:solidFill>
                <a:latin typeface="Source Han Sans SC Normal" pitchFamily="34" charset="0"/>
                <a:ea typeface="Source Han Sans SC Normal" pitchFamily="34" charset="-122"/>
                <a:cs typeface="Source Han Sans SC Normal" pitchFamily="34" charset="-120"/>
              </a:rPr>
              <a:t>Always use semantic HTML tags to improve the structure and accessibility of your webpage. This makes your code more readable and maintainable.</a:t>
            </a:r>
            <a:endParaRPr lang="en-US" sz="1600" dirty="0"/>
          </a:p>
        </p:txBody>
      </p:sp>
      <p:sp>
        <p:nvSpPr>
          <p:cNvPr id="13" name="Text 9"/>
          <p:cNvSpPr/>
          <p:nvPr/>
        </p:nvSpPr>
        <p:spPr>
          <a:xfrm>
            <a:off x="4411330" y="1609265"/>
            <a:ext cx="3542747" cy="829945"/>
          </a:xfrm>
          <a:prstGeom prst="rect">
            <a:avLst/>
          </a:prstGeom>
          <a:noFill/>
          <a:ln/>
        </p:spPr>
        <p:txBody>
          <a:bodyPr wrap="square" lIns="91440" tIns="45720" rIns="91440" bIns="45720" rtlCol="0" anchor="t">
            <a:spAutoFit/>
          </a:bodyPr>
          <a:lstStyle/>
          <a:p>
            <a:pPr>
              <a:lnSpc>
                <a:spcPct val="100000"/>
              </a:lnSpc>
            </a:pPr>
            <a:r>
              <a:rPr lang="en-US" sz="2400" dirty="0">
                <a:solidFill>
                  <a:srgbClr val="000000"/>
                </a:solidFill>
                <a:latin typeface="Source Han Sans SC" pitchFamily="34" charset="0"/>
                <a:ea typeface="Source Han Sans SC" pitchFamily="34" charset="-122"/>
                <a:cs typeface="Source Han Sans SC" pitchFamily="34" charset="-120"/>
              </a:rPr>
              <a:t>Meaningful Alt Text</a:t>
            </a:r>
            <a:endParaRPr lang="en-US" sz="1600" dirty="0"/>
          </a:p>
        </p:txBody>
      </p:sp>
      <p:sp>
        <p:nvSpPr>
          <p:cNvPr id="14" name="Text 10"/>
          <p:cNvSpPr/>
          <p:nvPr/>
        </p:nvSpPr>
        <p:spPr>
          <a:xfrm>
            <a:off x="4425688" y="2405563"/>
            <a:ext cx="3384373" cy="2061210"/>
          </a:xfrm>
          <a:prstGeom prst="rect">
            <a:avLst/>
          </a:prstGeom>
          <a:noFill/>
          <a:ln/>
        </p:spPr>
        <p:txBody>
          <a:bodyPr wrap="square" lIns="91440" tIns="45720" rIns="91440" bIns="45720" rtlCol="0" anchor="t">
            <a:spAutoFit/>
          </a:bodyPr>
          <a:lstStyle/>
          <a:p>
            <a:pPr>
              <a:lnSpc>
                <a:spcPct val="100000"/>
              </a:lnSpc>
            </a:pPr>
            <a:r>
              <a:rPr lang="en-US" sz="1600" dirty="0">
                <a:solidFill>
                  <a:srgbClr val="000000"/>
                </a:solidFill>
                <a:latin typeface="Source Han Sans SC Normal" pitchFamily="34" charset="0"/>
                <a:ea typeface="Source Han Sans SC Normal" pitchFamily="34" charset="-122"/>
                <a:cs typeface="Source Han Sans SC Normal" pitchFamily="34" charset="-120"/>
              </a:rPr>
              <a:t>Write descriptive alt text for images. This helps users who rely on screen readers and improves SEO by providing context for search engines.</a:t>
            </a:r>
            <a:endParaRPr lang="en-US" sz="1600" dirty="0"/>
          </a:p>
        </p:txBody>
      </p:sp>
      <p:sp>
        <p:nvSpPr>
          <p:cNvPr id="15" name="Text 11"/>
          <p:cNvSpPr/>
          <p:nvPr/>
        </p:nvSpPr>
        <p:spPr>
          <a:xfrm>
            <a:off x="8155340" y="1609265"/>
            <a:ext cx="3542747" cy="829945"/>
          </a:xfrm>
          <a:prstGeom prst="rect">
            <a:avLst/>
          </a:prstGeom>
          <a:noFill/>
          <a:ln/>
        </p:spPr>
        <p:txBody>
          <a:bodyPr wrap="square" lIns="91440" tIns="45720" rIns="91440" bIns="45720" rtlCol="0" anchor="t">
            <a:spAutoFit/>
          </a:bodyPr>
          <a:lstStyle/>
          <a:p>
            <a:pPr>
              <a:lnSpc>
                <a:spcPct val="100000"/>
              </a:lnSpc>
            </a:pPr>
            <a:r>
              <a:rPr lang="en-US" sz="2400" dirty="0">
                <a:solidFill>
                  <a:srgbClr val="000000"/>
                </a:solidFill>
                <a:latin typeface="Source Han Sans SC" pitchFamily="34" charset="0"/>
                <a:ea typeface="Source Han Sans SC" pitchFamily="34" charset="-122"/>
                <a:cs typeface="Source Han Sans SC" pitchFamily="34" charset="-120"/>
              </a:rPr>
              <a:t>Clean Code</a:t>
            </a:r>
            <a:endParaRPr lang="en-US" sz="1600" dirty="0"/>
          </a:p>
        </p:txBody>
      </p:sp>
      <p:sp>
        <p:nvSpPr>
          <p:cNvPr id="16" name="Text 12"/>
          <p:cNvSpPr/>
          <p:nvPr/>
        </p:nvSpPr>
        <p:spPr>
          <a:xfrm>
            <a:off x="8169698" y="2405563"/>
            <a:ext cx="3384373" cy="2061210"/>
          </a:xfrm>
          <a:prstGeom prst="rect">
            <a:avLst/>
          </a:prstGeom>
          <a:noFill/>
          <a:ln/>
        </p:spPr>
        <p:txBody>
          <a:bodyPr wrap="square" lIns="91440" tIns="45720" rIns="91440" bIns="45720" rtlCol="0" anchor="t">
            <a:spAutoFit/>
          </a:bodyPr>
          <a:lstStyle/>
          <a:p>
            <a:pPr>
              <a:lnSpc>
                <a:spcPct val="100000"/>
              </a:lnSpc>
            </a:pPr>
            <a:r>
              <a:rPr lang="en-US" sz="1600" dirty="0">
                <a:solidFill>
                  <a:srgbClr val="000000"/>
                </a:solidFill>
                <a:latin typeface="Source Han Sans SC Normal" pitchFamily="34" charset="0"/>
                <a:ea typeface="Source Han Sans SC Normal" pitchFamily="34" charset="-122"/>
                <a:cs typeface="Source Han Sans SC Normal" pitchFamily="34" charset="-120"/>
              </a:rPr>
              <a:t>Keep your code clean and well-indented. This makes it easier to read and debug. Test your webpage in multiple browsers to ensure compatibility.</a:t>
            </a:r>
            <a:endParaRPr lang="en-US" sz="1600" dirty="0"/>
          </a:p>
        </p:txBody>
      </p:sp>
    </p:spTree>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name="Slide 18">
    <p:bg>
      <p:bgPr>
        <a:solidFill>
          <a:srgbClr val="FFFFFF">
            <a:alpha val="40000"/>
          </a:srgbClr>
        </a:solidFill>
        <a:effectLst/>
      </p:bgPr>
    </p:bg>
    <p:spTree>
      <p:nvGrpSpPr>
        <p:cNvPr id="1" name=""/>
        <p:cNvGrpSpPr/>
        <p:nvPr/>
      </p:nvGrpSpPr>
      <p:grpSpPr>
        <a:xfrm>
          <a:off x="0" y="0"/>
          <a:ext cx="0" cy="0"/>
          <a:chOff x="0" y="0"/>
          <a:chExt cx="0" cy="0"/>
        </a:xfrm>
      </p:grpSpPr>
      <p:pic>
        <p:nvPicPr>
          <p:cNvPr id="2" name="Image 0" descr="https://kimi-img.moonshot.cn/pub/slides/slides_tmpl/image/25-08-27-20:09:09-d2nfap98bjvh7rlj0id0.png"/>
          <p:cNvPicPr>
            <a:picLocks noChangeAspect="1"/>
          </p:cNvPicPr>
          <p:nvPr/>
        </p:nvPicPr>
        <p:blipFill>
          <a:blip r:embed="rId3"/>
          <a:srcRect t="35461"/>
          <a:stretch/>
        </p:blipFill>
        <p:spPr>
          <a:xfrm>
            <a:off x="-957580" y="1616075"/>
            <a:ext cx="14110335" cy="5241925"/>
          </a:xfrm>
          <a:prstGeom prst="rect">
            <a:avLst/>
          </a:prstGeom>
        </p:spPr>
      </p:pic>
      <p:sp>
        <p:nvSpPr>
          <p:cNvPr id="3" name="Text 0"/>
          <p:cNvSpPr/>
          <p:nvPr/>
        </p:nvSpPr>
        <p:spPr>
          <a:xfrm>
            <a:off x="686435" y="620713"/>
            <a:ext cx="10944225" cy="645160"/>
          </a:xfrm>
          <a:prstGeom prst="rect">
            <a:avLst/>
          </a:prstGeom>
          <a:noFill/>
          <a:ln/>
        </p:spPr>
        <p:txBody>
          <a:bodyPr wrap="square" lIns="91440" tIns="45720" rIns="91440" bIns="45720" rtlCol="0" anchor="ctr">
            <a:spAutoFit/>
          </a:bodyPr>
          <a:lstStyle/>
          <a:p>
            <a:pPr algn="ctr">
              <a:lnSpc>
                <a:spcPct val="100000"/>
              </a:lnSpc>
            </a:pPr>
            <a:r>
              <a:rPr lang="en-US" sz="3600" dirty="0">
                <a:solidFill>
                  <a:srgbClr val="000000"/>
                </a:solidFill>
                <a:latin typeface="Source Han Sans SC Medium" pitchFamily="34" charset="0"/>
                <a:ea typeface="Source Han Sans SC Medium" pitchFamily="34" charset="-122"/>
                <a:cs typeface="Source Han Sans SC Medium" pitchFamily="34" charset="-120"/>
              </a:rPr>
              <a:t>Further Learning Resources</a:t>
            </a:r>
            <a:endParaRPr lang="en-US" sz="1600" dirty="0"/>
          </a:p>
        </p:txBody>
      </p:sp>
      <p:pic>
        <p:nvPicPr>
          <p:cNvPr id="4" name="Image 1" descr="https://kimi-img.moonshot.cn/pub/slides/slides_tmpl/image/25-08-27-20:09:09-d2nfap98bjvh7rlj0idg.jpg"/>
          <p:cNvPicPr>
            <a:picLocks noChangeAspect="1"/>
          </p:cNvPicPr>
          <p:nvPr/>
        </p:nvPicPr>
        <p:blipFill>
          <a:blip r:embed="rId4"/>
          <a:srcRect/>
          <a:stretch/>
        </p:blipFill>
        <p:spPr>
          <a:xfrm>
            <a:off x="2961045" y="2195814"/>
            <a:ext cx="2989665" cy="1549147"/>
          </a:xfrm>
          <a:prstGeom prst="rect">
            <a:avLst/>
          </a:prstGeom>
        </p:spPr>
      </p:pic>
      <p:sp>
        <p:nvSpPr>
          <p:cNvPr id="5" name="Shape 1"/>
          <p:cNvSpPr/>
          <p:nvPr/>
        </p:nvSpPr>
        <p:spPr>
          <a:xfrm>
            <a:off x="728892" y="4079855"/>
            <a:ext cx="270304" cy="270319"/>
          </a:xfrm>
          <a:prstGeom prst="ellipse">
            <a:avLst/>
          </a:prstGeom>
          <a:solidFill>
            <a:srgbClr val="000000">
              <a:alpha val="0"/>
            </a:srgbClr>
          </a:solidFill>
          <a:ln w="92075">
            <a:solidFill>
              <a:srgbClr val="9DB4E1"/>
            </a:solidFill>
            <a:prstDash val="solid"/>
          </a:ln>
        </p:spPr>
      </p:sp>
      <p:sp>
        <p:nvSpPr>
          <p:cNvPr id="6" name="Text 2"/>
          <p:cNvSpPr/>
          <p:nvPr/>
        </p:nvSpPr>
        <p:spPr>
          <a:xfrm>
            <a:off x="728892" y="4079855"/>
            <a:ext cx="270304" cy="270319"/>
          </a:xfrm>
          <a:prstGeom prst="rect">
            <a:avLst/>
          </a:prstGeom>
          <a:noFill/>
          <a:ln/>
        </p:spPr>
        <p:txBody>
          <a:bodyPr wrap="square" lIns="0" tIns="0" rIns="0" bIns="0" rtlCol="0" anchor="ctr"/>
          <a:lstStyle/>
          <a:p>
            <a:pPr>
              <a:lnSpc>
                <a:spcPct val="100000"/>
              </a:lnSpc>
            </a:pPr>
            <a:endParaRPr lang="en-US" sz="1600" dirty="0"/>
          </a:p>
        </p:txBody>
      </p:sp>
      <p:sp>
        <p:nvSpPr>
          <p:cNvPr id="7" name="Shape 3"/>
          <p:cNvSpPr/>
          <p:nvPr/>
        </p:nvSpPr>
        <p:spPr>
          <a:xfrm>
            <a:off x="6474237" y="4079855"/>
            <a:ext cx="270304" cy="270319"/>
          </a:xfrm>
          <a:prstGeom prst="ellipse">
            <a:avLst/>
          </a:prstGeom>
          <a:solidFill>
            <a:srgbClr val="000000">
              <a:alpha val="0"/>
            </a:srgbClr>
          </a:solidFill>
          <a:ln w="92075">
            <a:solidFill>
              <a:srgbClr val="9DB4E1"/>
            </a:solidFill>
            <a:prstDash val="solid"/>
          </a:ln>
        </p:spPr>
      </p:sp>
      <p:sp>
        <p:nvSpPr>
          <p:cNvPr id="8" name="Text 4"/>
          <p:cNvSpPr/>
          <p:nvPr/>
        </p:nvSpPr>
        <p:spPr>
          <a:xfrm>
            <a:off x="6474237" y="4079855"/>
            <a:ext cx="270304" cy="270319"/>
          </a:xfrm>
          <a:prstGeom prst="rect">
            <a:avLst/>
          </a:prstGeom>
          <a:noFill/>
          <a:ln/>
        </p:spPr>
        <p:txBody>
          <a:bodyPr wrap="square" lIns="0" tIns="0" rIns="0" bIns="0" rtlCol="0" anchor="ctr"/>
          <a:lstStyle/>
          <a:p>
            <a:pPr>
              <a:lnSpc>
                <a:spcPct val="100000"/>
              </a:lnSpc>
            </a:pPr>
            <a:endParaRPr lang="en-US" sz="1600" dirty="0"/>
          </a:p>
        </p:txBody>
      </p:sp>
      <p:pic>
        <p:nvPicPr>
          <p:cNvPr id="9" name="Image 2" descr="https://kimi-img.moonshot.cn/pub/slides/slides_tmpl/image/25-08-27-20:09:09-d2nfap98bjvh7rlj0ie0.jpg"/>
          <p:cNvPicPr>
            <a:picLocks noChangeAspect="1"/>
          </p:cNvPicPr>
          <p:nvPr/>
        </p:nvPicPr>
        <p:blipFill>
          <a:blip r:embed="rId5"/>
          <a:srcRect/>
          <a:stretch/>
        </p:blipFill>
        <p:spPr>
          <a:xfrm>
            <a:off x="8986337" y="2188285"/>
            <a:ext cx="2613513" cy="1530702"/>
          </a:xfrm>
          <a:prstGeom prst="rect">
            <a:avLst/>
          </a:prstGeom>
        </p:spPr>
      </p:pic>
      <p:pic>
        <p:nvPicPr>
          <p:cNvPr id="10" name="Image 3" descr="https://kimi-img.moonshot.cn/pub/slides/slides_tmpl/image/25-08-27-20:09:09-d2nfap98bjvh7rlj0ifg.jpg"/>
          <p:cNvPicPr>
            <a:picLocks noChangeAspect="1"/>
          </p:cNvPicPr>
          <p:nvPr/>
        </p:nvPicPr>
        <p:blipFill>
          <a:blip r:embed="rId6"/>
          <a:srcRect/>
          <a:stretch/>
        </p:blipFill>
        <p:spPr>
          <a:xfrm>
            <a:off x="6159291" y="2182214"/>
            <a:ext cx="2599731" cy="1522629"/>
          </a:xfrm>
          <a:prstGeom prst="rect">
            <a:avLst/>
          </a:prstGeom>
        </p:spPr>
      </p:pic>
      <p:pic>
        <p:nvPicPr>
          <p:cNvPr id="11" name="Image 4" descr="https://kimi-img.moonshot.cn/pub/slides/slides_tmpl/image/25-08-27-20:09:09-d2nfap98bjvh7rlj0if0.jpg"/>
          <p:cNvPicPr>
            <a:picLocks noChangeAspect="1"/>
          </p:cNvPicPr>
          <p:nvPr/>
        </p:nvPicPr>
        <p:blipFill>
          <a:blip r:embed="rId7"/>
          <a:srcRect/>
          <a:stretch/>
        </p:blipFill>
        <p:spPr>
          <a:xfrm>
            <a:off x="478102" y="2199944"/>
            <a:ext cx="2274362" cy="1556154"/>
          </a:xfrm>
          <a:prstGeom prst="rect">
            <a:avLst/>
          </a:prstGeom>
        </p:spPr>
      </p:pic>
      <p:sp>
        <p:nvSpPr>
          <p:cNvPr id="12" name="Text 5"/>
          <p:cNvSpPr/>
          <p:nvPr/>
        </p:nvSpPr>
        <p:spPr>
          <a:xfrm>
            <a:off x="-96688" y="4140646"/>
            <a:ext cx="6482735" cy="521970"/>
          </a:xfrm>
          <a:prstGeom prst="rect">
            <a:avLst/>
          </a:prstGeom>
          <a:noFill/>
          <a:ln/>
        </p:spPr>
        <p:txBody>
          <a:bodyPr wrap="square" lIns="91440" tIns="45720" rIns="91440" bIns="45720" rtlCol="0" anchor="t">
            <a:spAutoFit/>
          </a:bodyPr>
          <a:lstStyle/>
          <a:p>
            <a:pPr algn="ctr">
              <a:lnSpc>
                <a:spcPct val="100000"/>
              </a:lnSpc>
            </a:pPr>
            <a:r>
              <a:rPr lang="en-US" sz="2800" dirty="0">
                <a:solidFill>
                  <a:srgbClr val="000000"/>
                </a:solidFill>
                <a:latin typeface="Source Han Sans SC" pitchFamily="34" charset="0"/>
                <a:ea typeface="Source Han Sans SC" pitchFamily="34" charset="-122"/>
                <a:cs typeface="Source Han Sans SC" pitchFamily="34" charset="-120"/>
              </a:rPr>
              <a:t>MDN Web Docs</a:t>
            </a:r>
            <a:endParaRPr lang="en-US" sz="1600" dirty="0"/>
          </a:p>
        </p:txBody>
      </p:sp>
      <p:sp>
        <p:nvSpPr>
          <p:cNvPr id="13" name="Text 6"/>
          <p:cNvSpPr/>
          <p:nvPr/>
        </p:nvSpPr>
        <p:spPr>
          <a:xfrm>
            <a:off x="388566" y="4737408"/>
            <a:ext cx="5512227" cy="1476375"/>
          </a:xfrm>
          <a:prstGeom prst="rect">
            <a:avLst/>
          </a:prstGeom>
          <a:noFill/>
          <a:ln/>
        </p:spPr>
        <p:txBody>
          <a:bodyPr wrap="square" lIns="91440" tIns="45720" rIns="91440" bIns="45720" rtlCol="0" anchor="t">
            <a:spAutoFit/>
          </a:bodyPr>
          <a:lstStyle/>
          <a:p>
            <a:pPr>
              <a:lnSpc>
                <a:spcPct val="100000"/>
              </a:lnSpc>
            </a:pPr>
            <a:r>
              <a:rPr lang="en-US" sz="1800" dirty="0">
                <a:solidFill>
                  <a:srgbClr val="000000"/>
                </a:solidFill>
                <a:latin typeface="Source Han Sans SC Normal" pitchFamily="34" charset="0"/>
                <a:ea typeface="Source Han Sans SC Normal" pitchFamily="34" charset="-122"/>
                <a:cs typeface="Source Han Sans SC Normal" pitchFamily="34" charset="-120"/>
              </a:rPr>
              <a:t>For comprehensive HTML documentation, visit MDN Web Docs. It provides detailed guides, examples, and best practices for web development.</a:t>
            </a:r>
            <a:endParaRPr lang="en-US" sz="1600" dirty="0"/>
          </a:p>
        </p:txBody>
      </p:sp>
      <p:sp>
        <p:nvSpPr>
          <p:cNvPr id="14" name="Text 7"/>
          <p:cNvSpPr/>
          <p:nvPr/>
        </p:nvSpPr>
        <p:spPr>
          <a:xfrm>
            <a:off x="5640084" y="4140646"/>
            <a:ext cx="6482735" cy="521970"/>
          </a:xfrm>
          <a:prstGeom prst="rect">
            <a:avLst/>
          </a:prstGeom>
          <a:noFill/>
          <a:ln/>
        </p:spPr>
        <p:txBody>
          <a:bodyPr wrap="square" lIns="91440" tIns="45720" rIns="91440" bIns="45720" rtlCol="0" anchor="t">
            <a:spAutoFit/>
          </a:bodyPr>
          <a:lstStyle/>
          <a:p>
            <a:pPr algn="ctr">
              <a:lnSpc>
                <a:spcPct val="100000"/>
              </a:lnSpc>
            </a:pPr>
            <a:r>
              <a:rPr lang="en-US" sz="2800" dirty="0">
                <a:solidFill>
                  <a:srgbClr val="000000"/>
                </a:solidFill>
                <a:latin typeface="Source Han Sans SC" pitchFamily="34" charset="0"/>
                <a:ea typeface="Source Han Sans SC" pitchFamily="34" charset="-122"/>
                <a:cs typeface="Source Han Sans SC" pitchFamily="34" charset="-120"/>
              </a:rPr>
              <a:t>Practice Platforms</a:t>
            </a:r>
            <a:endParaRPr lang="en-US" sz="1600" dirty="0"/>
          </a:p>
        </p:txBody>
      </p:sp>
      <p:sp>
        <p:nvSpPr>
          <p:cNvPr id="15" name="Text 8"/>
          <p:cNvSpPr/>
          <p:nvPr/>
        </p:nvSpPr>
        <p:spPr>
          <a:xfrm>
            <a:off x="6125338" y="4737408"/>
            <a:ext cx="5512227" cy="1476375"/>
          </a:xfrm>
          <a:prstGeom prst="rect">
            <a:avLst/>
          </a:prstGeom>
          <a:noFill/>
          <a:ln/>
        </p:spPr>
        <p:txBody>
          <a:bodyPr wrap="square" lIns="91440" tIns="45720" rIns="91440" bIns="45720" rtlCol="0" anchor="t">
            <a:spAutoFit/>
          </a:bodyPr>
          <a:lstStyle/>
          <a:p>
            <a:pPr>
              <a:lnSpc>
                <a:spcPct val="100000"/>
              </a:lnSpc>
            </a:pPr>
            <a:r>
              <a:rPr lang="en-US" sz="1800" dirty="0">
                <a:solidFill>
                  <a:srgbClr val="000000"/>
                </a:solidFill>
                <a:latin typeface="Source Han Sans SC Normal" pitchFamily="34" charset="0"/>
                <a:ea typeface="Source Han Sans SC Normal" pitchFamily="34" charset="-122"/>
                <a:cs typeface="Source Han Sans SC Normal" pitchFamily="34" charset="-120"/>
              </a:rPr>
              <a:t>Practice your HTML skills on CodePen and JSFiddle. These platforms allow you to experiment with code and see the results in real-time.</a:t>
            </a:r>
            <a:endParaRPr lang="en-US" sz="1600" dirty="0"/>
          </a:p>
        </p:txBody>
      </p:sp>
    </p:spTree>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6941127"/>
          </a:xfrm>
          <a:prstGeom prst="rect">
            <a:avLst/>
          </a:prstGeom>
          <a:solidFill>
            <a:srgbClr val="161616"/>
          </a:solidFill>
          <a:ln/>
        </p:spPr>
      </p:sp>
      <p:sp>
        <p:nvSpPr>
          <p:cNvPr id="3" name="Text 1"/>
          <p:cNvSpPr/>
          <p:nvPr/>
        </p:nvSpPr>
        <p:spPr>
          <a:xfrm>
            <a:off x="0" y="0"/>
            <a:ext cx="12192000" cy="6941127"/>
          </a:xfrm>
          <a:prstGeom prst="rect">
            <a:avLst/>
          </a:prstGeom>
          <a:noFill/>
          <a:ln/>
        </p:spPr>
        <p:txBody>
          <a:bodyPr wrap="square" lIns="45720" tIns="91440" rIns="91440" bIns="45720" rtlCol="0" anchor="ctr"/>
          <a:lstStyle/>
          <a:p>
            <a:pPr>
              <a:lnSpc>
                <a:spcPct val="100000"/>
              </a:lnSpc>
            </a:pPr>
            <a:endParaRPr lang="en-US" sz="1600" dirty="0"/>
          </a:p>
        </p:txBody>
      </p:sp>
      <p:pic>
        <p:nvPicPr>
          <p:cNvPr id="4" name="Image 0" descr="https://kimi-img.moonshot.cn/pub/slides/slides_tmpl/image/25-08-27-20:09:12-d2nfaq18bjvh7rlj0is0.jpeg"/>
          <p:cNvPicPr>
            <a:picLocks noChangeAspect="1"/>
          </p:cNvPicPr>
          <p:nvPr/>
        </p:nvPicPr>
        <p:blipFill>
          <a:blip r:embed="rId3"/>
          <a:stretch>
            <a:fillRect/>
          </a:stretch>
        </p:blipFill>
        <p:spPr>
          <a:xfrm>
            <a:off x="4388617" y="1561401"/>
            <a:ext cx="4553512" cy="3552547"/>
          </a:xfrm>
          <a:prstGeom prst="rect">
            <a:avLst/>
          </a:prstGeom>
        </p:spPr>
      </p:pic>
      <p:pic>
        <p:nvPicPr>
          <p:cNvPr id="5" name="Image 1" descr="https://kimi-img.moonshot.cn/pub/slides/slides_tmpl/image/25-08-27-20:09:12-d2nfaq18bjvh7rlj0isg.jpeg"/>
          <p:cNvPicPr>
            <a:picLocks noChangeAspect="1"/>
          </p:cNvPicPr>
          <p:nvPr/>
        </p:nvPicPr>
        <p:blipFill>
          <a:blip r:embed="rId4"/>
          <a:srcRect/>
          <a:stretch/>
        </p:blipFill>
        <p:spPr>
          <a:xfrm>
            <a:off x="9103121" y="1561401"/>
            <a:ext cx="2434092" cy="2408626"/>
          </a:xfrm>
          <a:prstGeom prst="rect">
            <a:avLst/>
          </a:prstGeom>
        </p:spPr>
      </p:pic>
      <p:sp>
        <p:nvSpPr>
          <p:cNvPr id="6" name="Shape 2"/>
          <p:cNvSpPr/>
          <p:nvPr/>
        </p:nvSpPr>
        <p:spPr>
          <a:xfrm>
            <a:off x="1884213" y="3119957"/>
            <a:ext cx="363255" cy="363255"/>
          </a:xfrm>
          <a:prstGeom prst="ellipse">
            <a:avLst/>
          </a:prstGeom>
          <a:solidFill>
            <a:srgbClr val="000000">
              <a:alpha val="0"/>
            </a:srgbClr>
          </a:solidFill>
          <a:ln w="19050">
            <a:solidFill>
              <a:srgbClr val="FFFFFF"/>
            </a:solidFill>
            <a:prstDash val="solid"/>
          </a:ln>
        </p:spPr>
      </p:sp>
      <p:sp>
        <p:nvSpPr>
          <p:cNvPr id="7" name="Text 3"/>
          <p:cNvSpPr/>
          <p:nvPr/>
        </p:nvSpPr>
        <p:spPr>
          <a:xfrm>
            <a:off x="1884213" y="3119957"/>
            <a:ext cx="363255" cy="363255"/>
          </a:xfrm>
          <a:prstGeom prst="rect">
            <a:avLst/>
          </a:prstGeom>
          <a:noFill/>
          <a:ln/>
        </p:spPr>
        <p:txBody>
          <a:bodyPr wrap="square" lIns="45720" tIns="91440" rIns="91440" bIns="45720" rtlCol="0" anchor="ctr"/>
          <a:lstStyle/>
          <a:p>
            <a:pPr>
              <a:lnSpc>
                <a:spcPct val="100000"/>
              </a:lnSpc>
            </a:pPr>
            <a:endParaRPr lang="en-US" sz="1600" dirty="0"/>
          </a:p>
        </p:txBody>
      </p:sp>
      <p:sp>
        <p:nvSpPr>
          <p:cNvPr id="8" name="Shape 4"/>
          <p:cNvSpPr/>
          <p:nvPr/>
        </p:nvSpPr>
        <p:spPr>
          <a:xfrm>
            <a:off x="2147610" y="3138745"/>
            <a:ext cx="325677" cy="325677"/>
          </a:xfrm>
          <a:prstGeom prst="ellipse">
            <a:avLst/>
          </a:prstGeom>
          <a:solidFill>
            <a:srgbClr val="C2F4E0"/>
          </a:solidFill>
          <a:ln/>
        </p:spPr>
      </p:sp>
      <p:sp>
        <p:nvSpPr>
          <p:cNvPr id="9" name="Text 5"/>
          <p:cNvSpPr/>
          <p:nvPr/>
        </p:nvSpPr>
        <p:spPr>
          <a:xfrm>
            <a:off x="2147610" y="3138745"/>
            <a:ext cx="325677" cy="325677"/>
          </a:xfrm>
          <a:prstGeom prst="rect">
            <a:avLst/>
          </a:prstGeom>
          <a:noFill/>
          <a:ln/>
        </p:spPr>
        <p:txBody>
          <a:bodyPr wrap="square" lIns="45720" tIns="91440" rIns="91440" bIns="45720" rtlCol="0" anchor="ctr"/>
          <a:lstStyle/>
          <a:p>
            <a:pPr>
              <a:lnSpc>
                <a:spcPct val="100000"/>
              </a:lnSpc>
            </a:pPr>
            <a:endParaRPr lang="en-US" sz="1600" dirty="0"/>
          </a:p>
        </p:txBody>
      </p:sp>
      <p:sp>
        <p:nvSpPr>
          <p:cNvPr id="10" name="Shape 6"/>
          <p:cNvSpPr/>
          <p:nvPr/>
        </p:nvSpPr>
        <p:spPr>
          <a:xfrm>
            <a:off x="2209989" y="3287890"/>
            <a:ext cx="225819" cy="1819"/>
          </a:xfrm>
          <a:prstGeom prst="straightConnector1">
            <a:avLst/>
          </a:prstGeom>
          <a:noFill/>
          <a:ln w="12700">
            <a:solidFill>
              <a:srgbClr val="262626"/>
            </a:solidFill>
            <a:prstDash val="solid"/>
            <a:headEnd type="none"/>
            <a:tailEnd type="triangle"/>
          </a:ln>
        </p:spPr>
      </p:sp>
      <p:pic>
        <p:nvPicPr>
          <p:cNvPr id="11" name="Image 2" descr="https://kimi-img.moonshot.cn/pub/slides/slides_tmpl/image/25-08-27-20:09:13-d2nfaq98bjvh7rlj0it0.png"/>
          <p:cNvPicPr>
            <a:picLocks noChangeAspect="1"/>
          </p:cNvPicPr>
          <p:nvPr/>
        </p:nvPicPr>
        <p:blipFill>
          <a:blip r:embed="rId5"/>
          <a:srcRect r="29701" b="29746"/>
          <a:stretch/>
        </p:blipFill>
        <p:spPr>
          <a:xfrm>
            <a:off x="654685" y="1670685"/>
            <a:ext cx="8178063" cy="3702743"/>
          </a:xfrm>
          <a:prstGeom prst="rect">
            <a:avLst/>
          </a:prstGeom>
        </p:spPr>
      </p:pic>
      <p:sp>
        <p:nvSpPr>
          <p:cNvPr id="12" name="Text 7"/>
          <p:cNvSpPr/>
          <p:nvPr/>
        </p:nvSpPr>
        <p:spPr>
          <a:xfrm>
            <a:off x="524237" y="5373975"/>
            <a:ext cx="2254685" cy="398780"/>
          </a:xfrm>
          <a:prstGeom prst="rect">
            <a:avLst/>
          </a:prstGeom>
          <a:noFill/>
          <a:ln/>
        </p:spPr>
        <p:txBody>
          <a:bodyPr wrap="square" lIns="91440" tIns="45720" rIns="91440" bIns="45720" rtlCol="0" anchor="t">
            <a:spAutoFit/>
          </a:bodyPr>
          <a:lstStyle/>
          <a:p>
            <a:pPr>
              <a:lnSpc>
                <a:spcPct val="100000"/>
              </a:lnSpc>
            </a:pPr>
            <a:r>
              <a:rPr lang="en-US" sz="2000">
                <a:solidFill>
                  <a:srgbClr val="FFFFFF"/>
                </a:solidFill>
                <a:latin typeface="Source Han Sans SC" pitchFamily="34" charset="0"/>
                <a:ea typeface="Source Han Sans SC" pitchFamily="34" charset="-122"/>
                <a:cs typeface="Source Han Sans SC" pitchFamily="34" charset="-120"/>
              </a:rPr>
              <a:t>Sean Wong</a:t>
            </a:r>
            <a:endParaRPr lang="en-US" sz="1600" dirty="0"/>
          </a:p>
        </p:txBody>
      </p:sp>
      <p:sp>
        <p:nvSpPr>
          <p:cNvPr id="13" name="Text 8"/>
          <p:cNvSpPr/>
          <p:nvPr/>
        </p:nvSpPr>
        <p:spPr>
          <a:xfrm>
            <a:off x="548274" y="5750335"/>
            <a:ext cx="4323764" cy="398780"/>
          </a:xfrm>
          <a:prstGeom prst="rect">
            <a:avLst/>
          </a:prstGeom>
          <a:noFill/>
          <a:ln/>
        </p:spPr>
        <p:txBody>
          <a:bodyPr wrap="square" lIns="91440" tIns="45720" rIns="91440" bIns="45720" rtlCol="0" anchor="t">
            <a:spAutoFit/>
          </a:bodyPr>
          <a:lstStyle/>
          <a:p>
            <a:pPr>
              <a:lnSpc>
                <a:spcPct val="100000"/>
              </a:lnSpc>
            </a:pPr>
            <a:r>
              <a:rPr lang="en-US" sz="2000" dirty="0">
                <a:solidFill>
                  <a:srgbClr val="FFFFFF"/>
                </a:solidFill>
                <a:latin typeface="Source Han Sans SC" pitchFamily="34" charset="0"/>
                <a:ea typeface="Source Han Sans SC" pitchFamily="34" charset="-122"/>
                <a:cs typeface="Source Han Sans SC" pitchFamily="34" charset="-120"/>
              </a:rPr>
              <a:t>2025/08/04</a:t>
            </a:r>
            <a:endParaRPr lang="en-US" sz="1600" dirty="0"/>
          </a:p>
        </p:txBody>
      </p:sp>
    </p:spTree>
  </p:cSld>
  <p:clrMapOvr>
    <a:masterClrMapping/>
  </p:clrMapOvr>
  <p:transition>
    <p:fade/>
  </p:transition>
</p:sld>
</file>

<file path=ppt/theme/theme1.xml><?xml version="1.0" encoding="utf-8"?>
<a:theme xmlns:a="http://schemas.openxmlformats.org/drawingml/2006/main" name="Custom Theme">
  <a:themeElements>
    <a:clrScheme name="Custom">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TotalTime>
  <Words>3816</Words>
  <Application>Microsoft Office PowerPoint</Application>
  <PresentationFormat>Widescreen</PresentationFormat>
  <Paragraphs>382</Paragraphs>
  <Slides>64</Slides>
  <Notes>19</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64</vt:i4>
      </vt:variant>
    </vt:vector>
  </HeadingPairs>
  <TitlesOfParts>
    <vt:vector size="77" baseType="lpstr">
      <vt:lpstr>Source Han Sans SC</vt:lpstr>
      <vt:lpstr>Source Han Sans SC Bold</vt:lpstr>
      <vt:lpstr>Source Han Sans SC Light</vt:lpstr>
      <vt:lpstr>Source Han Sans SC Medium</vt:lpstr>
      <vt:lpstr>Source Han Sans SC Normal</vt:lpstr>
      <vt:lpstr>Arial</vt:lpstr>
      <vt:lpstr>Arial Narrow</vt:lpstr>
      <vt:lpstr>Courier</vt:lpstr>
      <vt:lpstr>Geneva</vt:lpstr>
      <vt:lpstr>Times</vt:lpstr>
      <vt:lpstr>Times New Roman</vt:lpstr>
      <vt:lpstr>Wingdings 3</vt:lpstr>
      <vt:lpstr>Custom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HTML Crash Course – 1 Day</dc:title>
  <dc:subject>HTML Crash Course – 1 Day</dc:subject>
  <dc:creator>Kimi</dc:creator>
  <cp:lastModifiedBy>Sean</cp:lastModifiedBy>
  <cp:revision>8</cp:revision>
  <dcterms:created xsi:type="dcterms:W3CDTF">2025-12-04T23:40:30Z</dcterms:created>
  <dcterms:modified xsi:type="dcterms:W3CDTF">2025-12-05T01:29:43Z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{"Label":"HTML Crash Course – 1 Day","ContentProducer":"001191110108MACG2KBH8F10000","ProduceID":"d4p1mtd3v89vc8jv1o4g","ReservedCode1":"","ContentPropagator":"001191110108MACG2KBH8F20000","PropagateID":"d4p1mtd3v89vc8jv1o4g","ReservedCode2":""}</vt:lpwstr>
  </property>
</Properties>
</file>